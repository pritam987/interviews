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3" r:id="rId3"/>
    <p:sldId id="262" r:id="rId4"/>
    <p:sldId id="258"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col"/>
        <c:grouping val="clustered"/>
        <c:varyColors val="0"/>
        <c:ser>
          <c:idx val="1"/>
          <c:order val="0"/>
          <c:tx>
            <c:strRef>
              <c:f>Sheet1!$B$1</c:f>
              <c:strCache>
                <c:ptCount val="1"/>
                <c:pt idx="0">
                  <c:v>Revenue</c:v>
                </c:pt>
              </c:strCache>
            </c:strRef>
          </c:tx>
          <c:spPr>
            <a:solidFill>
              <a:schemeClr val="accent1">
                <a:lumMod val="40000"/>
                <a:lumOff val="60000"/>
              </a:schemeClr>
            </a:solidFill>
            <a:ln>
              <a:noFill/>
            </a:ln>
            <a:effectLst/>
          </c:spPr>
          <c:invertIfNegative val="0"/>
          <c:dLbls>
            <c:numFmt formatCode="_(* #,##0.00_);_(* \(#,##0.00\);_(* &quot;-&quot;??_);_(@_)"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Powder TV</c:v>
                </c:pt>
                <c:pt idx="1">
                  <c:v>Liquids TV</c:v>
                </c:pt>
                <c:pt idx="2">
                  <c:v>YouTube </c:v>
                </c:pt>
                <c:pt idx="3">
                  <c:v>Digital Search </c:v>
                </c:pt>
                <c:pt idx="4">
                  <c:v>Facebook </c:v>
                </c:pt>
                <c:pt idx="5">
                  <c:v>Digital Display </c:v>
                </c:pt>
              </c:strCache>
            </c:strRef>
          </c:cat>
          <c:val>
            <c:numRef>
              <c:f>Sheet1!$B$2:$B$7</c:f>
              <c:numCache>
                <c:formatCode>_ * #,##0_ ;_ * \-#,##0_ ;_ * "-"??_ ;_ @_ </c:formatCode>
                <c:ptCount val="6"/>
                <c:pt idx="0">
                  <c:v>34.234999999999999</c:v>
                </c:pt>
                <c:pt idx="1">
                  <c:v>15.635</c:v>
                </c:pt>
                <c:pt idx="2">
                  <c:v>68.825000000000003</c:v>
                </c:pt>
                <c:pt idx="3">
                  <c:v>38.24</c:v>
                </c:pt>
                <c:pt idx="4">
                  <c:v>33.734999999999999</c:v>
                </c:pt>
                <c:pt idx="5">
                  <c:v>12.73</c:v>
                </c:pt>
              </c:numCache>
            </c:numRef>
          </c:val>
          <c:extLst>
            <c:ext xmlns:c16="http://schemas.microsoft.com/office/drawing/2014/chart" uri="{C3380CC4-5D6E-409C-BE32-E72D297353CC}">
              <c16:uniqueId val="{00000001-5FD6-42A0-B254-05143DBBC667}"/>
            </c:ext>
          </c:extLst>
        </c:ser>
        <c:dLbls>
          <c:dLblPos val="outEnd"/>
          <c:showLegendKey val="0"/>
          <c:showVal val="1"/>
          <c:showCatName val="0"/>
          <c:showSerName val="0"/>
          <c:showPercent val="0"/>
          <c:showBubbleSize val="0"/>
        </c:dLbls>
        <c:gapWidth val="219"/>
        <c:overlap val="-27"/>
        <c:axId val="692336639"/>
        <c:axId val="692325119"/>
      </c:barChart>
      <c:catAx>
        <c:axId val="692336639"/>
        <c:scaling>
          <c:orientation val="minMax"/>
        </c:scaling>
        <c:delete val="1"/>
        <c:axPos val="b"/>
        <c:numFmt formatCode="General" sourceLinked="1"/>
        <c:majorTickMark val="none"/>
        <c:minorTickMark val="none"/>
        <c:tickLblPos val="nextTo"/>
        <c:crossAx val="692325119"/>
        <c:crosses val="autoZero"/>
        <c:auto val="1"/>
        <c:lblAlgn val="ctr"/>
        <c:lblOffset val="100"/>
        <c:noMultiLvlLbl val="0"/>
      </c:catAx>
      <c:valAx>
        <c:axId val="692325119"/>
        <c:scaling>
          <c:orientation val="minMax"/>
          <c:max val="12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Sales(Millions)</a:t>
                </a:r>
                <a:endParaRPr lang="en-IN" dirty="0"/>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2336639"/>
        <c:crosses val="autoZero"/>
        <c:crossBetween val="between"/>
      </c:valAx>
      <c:spPr>
        <a:noFill/>
        <a:ln w="12700">
          <a:solidFill>
            <a:schemeClr val="tx1"/>
          </a:solidFill>
        </a:ln>
        <a:effectLst>
          <a:softEdge rad="0"/>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ubbleChart>
        <c:varyColors val="0"/>
        <c:ser>
          <c:idx val="0"/>
          <c:order val="0"/>
          <c:tx>
            <c:strRef>
              <c:f>Sheet1!$B$1</c:f>
              <c:strCache>
                <c:ptCount val="1"/>
                <c:pt idx="0">
                  <c:v>SPEND</c:v>
                </c:pt>
              </c:strCache>
            </c:strRef>
          </c:tx>
          <c:spPr>
            <a:solidFill>
              <a:schemeClr val="accent1">
                <a:lumMod val="40000"/>
                <a:lumOff val="60000"/>
              </a:schemeClr>
            </a:solidFill>
            <a:ln>
              <a:noFill/>
            </a:ln>
            <a:effectLst/>
          </c:spPr>
          <c:invertIfNegative val="0"/>
          <c:dLbls>
            <c:dLbl>
              <c:idx val="0"/>
              <c:tx>
                <c:rich>
                  <a:bodyPr/>
                  <a:lstStyle/>
                  <a:p>
                    <a:fld id="{D1E78D82-778B-452D-9FD0-DA5363D59022}"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0-BC7A-4DFD-967D-0F9F3DF050F0}"/>
                </c:ext>
              </c:extLst>
            </c:dLbl>
            <c:dLbl>
              <c:idx val="1"/>
              <c:tx>
                <c:rich>
                  <a:bodyPr/>
                  <a:lstStyle/>
                  <a:p>
                    <a:fld id="{3C8E90C2-A304-424B-BD35-73F628D172FB}" type="CELLRANGE">
                      <a:rPr lang="en-IN"/>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BC7A-4DFD-967D-0F9F3DF050F0}"/>
                </c:ext>
              </c:extLst>
            </c:dLbl>
            <c:dLbl>
              <c:idx val="2"/>
              <c:layout>
                <c:manualLayout>
                  <c:x val="-0.17883098547052603"/>
                  <c:y val="2.4799268638749736E-3"/>
                </c:manualLayout>
              </c:layout>
              <c:tx>
                <c:rich>
                  <a:bodyPr/>
                  <a:lstStyle/>
                  <a:p>
                    <a:fld id="{3F4B6D44-AF7B-4A3E-BC19-0BAE1951DFDB}" type="CELLRANGE">
                      <a:rPr lang="en-US" dirty="0"/>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2-BC7A-4DFD-967D-0F9F3DF050F0}"/>
                </c:ext>
              </c:extLst>
            </c:dLbl>
            <c:dLbl>
              <c:idx val="3"/>
              <c:layout>
                <c:manualLayout>
                  <c:x val="-0.15155603155674968"/>
                  <c:y val="6.5812400691465364E-2"/>
                </c:manualLayout>
              </c:layout>
              <c:tx>
                <c:rich>
                  <a:bodyPr/>
                  <a:lstStyle/>
                  <a:p>
                    <a:fld id="{5E4D7079-5C01-4644-8CBA-4DF4E0E3235D}"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3-BC7A-4DFD-967D-0F9F3DF050F0}"/>
                </c:ext>
              </c:extLst>
            </c:dLbl>
            <c:dLbl>
              <c:idx val="4"/>
              <c:layout>
                <c:manualLayout>
                  <c:x val="-0.10511342870895737"/>
                  <c:y val="-0.10915309268091791"/>
                </c:manualLayout>
              </c:layout>
              <c:tx>
                <c:rich>
                  <a:bodyPr/>
                  <a:lstStyle/>
                  <a:p>
                    <a:fld id="{7CC264C1-FDB7-4237-A371-F71442E1E28F}"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4-BC7A-4DFD-967D-0F9F3DF050F0}"/>
                </c:ext>
              </c:extLst>
            </c:dLbl>
            <c:dLbl>
              <c:idx val="5"/>
              <c:layout>
                <c:manualLayout>
                  <c:x val="1.2861183619429506E-2"/>
                  <c:y val="4.3871563183554114E-4"/>
                </c:manualLayout>
              </c:layout>
              <c:tx>
                <c:rich>
                  <a:bodyPr rot="0" spcFirstLastPara="1" vertOverflow="ellipsis" vert="horz" wrap="square" lIns="38100" tIns="19050" rIns="38100" bIns="19050" anchor="ctr" anchorCtr="1">
                    <a:noAutofit/>
                  </a:bodyPr>
                  <a:lstStyle/>
                  <a:p>
                    <a:pPr>
                      <a:defRPr sz="1000" b="1" i="0" u="none" strike="noStrike" kern="1200" baseline="0">
                        <a:solidFill>
                          <a:schemeClr val="tx1">
                            <a:lumMod val="75000"/>
                            <a:lumOff val="25000"/>
                          </a:schemeClr>
                        </a:solidFill>
                        <a:latin typeface="+mn-lt"/>
                        <a:ea typeface="+mn-ea"/>
                        <a:cs typeface="+mn-cs"/>
                      </a:defRPr>
                    </a:pPr>
                    <a:fld id="{1AAA4E5C-535F-47F9-A187-E329BAC0C948}" type="CELLRANGE">
                      <a:rPr lang="en-US"/>
                      <a:pPr>
                        <a:defRPr sz="1000" b="1"/>
                      </a:pPr>
                      <a:t>[CELLRANGE]</a:t>
                    </a:fld>
                    <a:endParaRPr lang="en-IN"/>
                  </a:p>
                </c:rich>
              </c:tx>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tx1">
                          <a:lumMod val="75000"/>
                          <a:lumOff val="25000"/>
                        </a:schemeClr>
                      </a:solidFill>
                      <a:latin typeface="+mn-lt"/>
                      <a:ea typeface="+mn-ea"/>
                      <a:cs typeface="+mn-cs"/>
                    </a:defRPr>
                  </a:pPr>
                  <a:endParaRPr lang="en-IN"/>
                </a:p>
              </c:txPr>
              <c:showLegendKey val="0"/>
              <c:showVal val="0"/>
              <c:showCatName val="0"/>
              <c:showSerName val="0"/>
              <c:showPercent val="0"/>
              <c:showBubbleSize val="0"/>
              <c:extLst>
                <c:ext xmlns:c15="http://schemas.microsoft.com/office/drawing/2012/chart" uri="{CE6537A1-D6FC-4f65-9D91-7224C49458BB}">
                  <c15:layout>
                    <c:manualLayout>
                      <c:w val="8.1940947338100284E-2"/>
                      <c:h val="4.0309905869548281E-2"/>
                    </c:manualLayout>
                  </c15:layout>
                  <c15:dlblFieldTable/>
                  <c15:showDataLabelsRange val="1"/>
                </c:ext>
                <c:ext xmlns:c16="http://schemas.microsoft.com/office/drawing/2014/chart" uri="{C3380CC4-5D6E-409C-BE32-E72D297353CC}">
                  <c16:uniqueId val="{00000005-BC7A-4DFD-967D-0F9F3DF050F0}"/>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xVal>
            <c:numRef>
              <c:f>Sheet1!$A$2:$A$7</c:f>
              <c:numCache>
                <c:formatCode>_(* #,##0.00_);_(* \(#,##0.00\);_(* "-"??_);_(@_)</c:formatCode>
                <c:ptCount val="6"/>
                <c:pt idx="0">
                  <c:v>2.1650528532816375</c:v>
                </c:pt>
                <c:pt idx="1">
                  <c:v>1.2735387802129461</c:v>
                </c:pt>
                <c:pt idx="2">
                  <c:v>8.1522295995737526</c:v>
                </c:pt>
                <c:pt idx="3">
                  <c:v>13.826533665263042</c:v>
                </c:pt>
                <c:pt idx="4">
                  <c:v>10.734158624702768</c:v>
                </c:pt>
                <c:pt idx="5">
                  <c:v>15.753807980937491</c:v>
                </c:pt>
              </c:numCache>
            </c:numRef>
          </c:xVal>
          <c:yVal>
            <c:numRef>
              <c:f>Sheet1!$B$2:$B$7</c:f>
              <c:numCache>
                <c:formatCode>_(* #,##0_);_(* \(#,##0\);_(* "-"??_);_(@_)</c:formatCode>
                <c:ptCount val="6"/>
                <c:pt idx="0">
                  <c:v>15812547</c:v>
                </c:pt>
                <c:pt idx="1">
                  <c:v>12276815</c:v>
                </c:pt>
                <c:pt idx="2">
                  <c:v>1561536</c:v>
                </c:pt>
                <c:pt idx="3">
                  <c:v>2439874</c:v>
                </c:pt>
                <c:pt idx="4">
                  <c:v>3562459</c:v>
                </c:pt>
                <c:pt idx="5">
                  <c:v>4368785</c:v>
                </c:pt>
              </c:numCache>
            </c:numRef>
          </c:yVal>
          <c:bubbleSize>
            <c:numRef>
              <c:f>Sheet1!$C$2:$C$7</c:f>
              <c:numCache>
                <c:formatCode>_(* #,##0_);_(* \(#,##0\);_(* "-"??_);_(@_)</c:formatCode>
                <c:ptCount val="6"/>
                <c:pt idx="0">
                  <c:v>34235000</c:v>
                </c:pt>
                <c:pt idx="1">
                  <c:v>15635000</c:v>
                </c:pt>
                <c:pt idx="2">
                  <c:v>12730000</c:v>
                </c:pt>
                <c:pt idx="3">
                  <c:v>33735000</c:v>
                </c:pt>
                <c:pt idx="4">
                  <c:v>38240000</c:v>
                </c:pt>
                <c:pt idx="5">
                  <c:v>68825000</c:v>
                </c:pt>
              </c:numCache>
            </c:numRef>
          </c:bubbleSize>
          <c:bubble3D val="0"/>
          <c:extLst>
            <c:ext xmlns:c15="http://schemas.microsoft.com/office/drawing/2012/chart" uri="{02D57815-91ED-43cb-92C2-25804820EDAC}">
              <c15:datalabelsRange>
                <c15:f>Sheet1!$D$2:$D$7</c15:f>
                <c15:dlblRangeCache>
                  <c:ptCount val="6"/>
                  <c:pt idx="0">
                    <c:v>Powder TV </c:v>
                  </c:pt>
                  <c:pt idx="1">
                    <c:v>Liquids TV </c:v>
                  </c:pt>
                  <c:pt idx="2">
                    <c:v>Digital Display </c:v>
                  </c:pt>
                  <c:pt idx="3">
                    <c:v>Facebook </c:v>
                  </c:pt>
                  <c:pt idx="4">
                    <c:v>Digital Search </c:v>
                  </c:pt>
                  <c:pt idx="5">
                    <c:v>YouTube </c:v>
                  </c:pt>
                </c15:dlblRangeCache>
              </c15:datalabelsRange>
            </c:ext>
            <c:ext xmlns:c16="http://schemas.microsoft.com/office/drawing/2014/chart" uri="{C3380CC4-5D6E-409C-BE32-E72D297353CC}">
              <c16:uniqueId val="{00000006-BC7A-4DFD-967D-0F9F3DF050F0}"/>
            </c:ext>
          </c:extLst>
        </c:ser>
        <c:ser>
          <c:idx val="1"/>
          <c:order val="1"/>
          <c:tx>
            <c:strRef>
              <c:f>Sheet1!$D$1</c:f>
              <c:strCache>
                <c:ptCount val="1"/>
                <c:pt idx="0">
                  <c:v>Tactics</c:v>
                </c:pt>
              </c:strCache>
            </c:strRef>
          </c:tx>
          <c:spPr>
            <a:solidFill>
              <a:schemeClr val="accent5">
                <a:shade val="76000"/>
                <a:alpha val="75000"/>
              </a:schemeClr>
            </a:solidFill>
            <a:ln>
              <a:noFill/>
            </a:ln>
            <a:effectLst/>
          </c:spPr>
          <c:invertIfNegative val="0"/>
          <c:xVal>
            <c:numRef>
              <c:f>Sheet1!$A$2:$A$7</c:f>
              <c:numCache>
                <c:formatCode>_(* #,##0.00_);_(* \(#,##0.00\);_(* "-"??_);_(@_)</c:formatCode>
                <c:ptCount val="6"/>
                <c:pt idx="0">
                  <c:v>2.1650528532816375</c:v>
                </c:pt>
                <c:pt idx="1">
                  <c:v>1.2735387802129461</c:v>
                </c:pt>
                <c:pt idx="2">
                  <c:v>8.1522295995737526</c:v>
                </c:pt>
                <c:pt idx="3">
                  <c:v>13.826533665263042</c:v>
                </c:pt>
                <c:pt idx="4">
                  <c:v>10.734158624702768</c:v>
                </c:pt>
                <c:pt idx="5">
                  <c:v>15.753807980937491</c:v>
                </c:pt>
              </c:numCache>
            </c:numRef>
          </c:xVal>
          <c:yVal>
            <c:numRef>
              <c:f>Sheet1!$D$2:$D$7</c:f>
              <c:numCache>
                <c:formatCode>General</c:formatCode>
                <c:ptCount val="6"/>
                <c:pt idx="0">
                  <c:v>0</c:v>
                </c:pt>
                <c:pt idx="1">
                  <c:v>0</c:v>
                </c:pt>
                <c:pt idx="2">
                  <c:v>0</c:v>
                </c:pt>
                <c:pt idx="3">
                  <c:v>0</c:v>
                </c:pt>
                <c:pt idx="4">
                  <c:v>0</c:v>
                </c:pt>
                <c:pt idx="5">
                  <c:v>0</c:v>
                </c:pt>
              </c:numCache>
            </c:numRef>
          </c:yVal>
          <c:bubbleSize>
            <c:numLit>
              <c:formatCode>General</c:formatCode>
              <c:ptCount val="6"/>
              <c:pt idx="0">
                <c:v>1</c:v>
              </c:pt>
              <c:pt idx="1">
                <c:v>1</c:v>
              </c:pt>
              <c:pt idx="2">
                <c:v>1</c:v>
              </c:pt>
              <c:pt idx="3">
                <c:v>1</c:v>
              </c:pt>
              <c:pt idx="4">
                <c:v>1</c:v>
              </c:pt>
              <c:pt idx="5">
                <c:v>1</c:v>
              </c:pt>
            </c:numLit>
          </c:bubbleSize>
          <c:bubble3D val="0"/>
          <c:extLst>
            <c:ext xmlns:c16="http://schemas.microsoft.com/office/drawing/2014/chart" uri="{C3380CC4-5D6E-409C-BE32-E72D297353CC}">
              <c16:uniqueId val="{00000007-BC7A-4DFD-967D-0F9F3DF050F0}"/>
            </c:ext>
          </c:extLst>
        </c:ser>
        <c:dLbls>
          <c:showLegendKey val="0"/>
          <c:showVal val="0"/>
          <c:showCatName val="0"/>
          <c:showSerName val="0"/>
          <c:showPercent val="0"/>
          <c:showBubbleSize val="0"/>
        </c:dLbls>
        <c:bubbleScale val="100"/>
        <c:showNegBubbles val="0"/>
        <c:axId val="618321871"/>
        <c:axId val="618327631"/>
      </c:bubbleChart>
      <c:valAx>
        <c:axId val="618321871"/>
        <c:scaling>
          <c:orientation val="minMax"/>
          <c:min val="0"/>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ROAS</a:t>
                </a:r>
                <a:endParaRPr lang="en-IN" dirty="0"/>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IN"/>
            </a:p>
          </c:txPr>
        </c:title>
        <c:numFmt formatCode="_(* #,##0_);_(* \(#,##0\);_(* &quot;-&quot;_);_(@_)"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18327631"/>
        <c:crosses val="autoZero"/>
        <c:crossBetween val="midCat"/>
      </c:valAx>
      <c:valAx>
        <c:axId val="618327631"/>
        <c:scaling>
          <c:orientation val="minMax"/>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IN" dirty="0"/>
                  <a:t>Spend(Millions)</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_(* #,##0_);_(* \(#,##0\);_(* &quot;-&quot;??_);_(@_)"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18321871"/>
        <c:crosses val="autoZero"/>
        <c:crossBetween val="midCat"/>
        <c:dispUnits>
          <c:builtInUnit val="millions"/>
        </c:dispUnits>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withinLinear" id="18">
  <a:schemeClr val="accent5"/>
</cs:colorStyle>
</file>

<file path=ppt/charts/colors2.xml><?xml version="1.0" encoding="utf-8"?>
<cs:colorStyle xmlns:cs="http://schemas.microsoft.com/office/drawing/2012/chartStyle" xmlns:a="http://schemas.openxmlformats.org/drawingml/2006/main" meth="withinLinearReversed" id="25">
  <a:schemeClr val="accent5"/>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0.4647</cdr:x>
      <cdr:y>0</cdr:y>
    </cdr:from>
    <cdr:to>
      <cdr:x>0.4647</cdr:x>
      <cdr:y>0.86201</cdr:y>
    </cdr:to>
    <cdr:cxnSp macro="">
      <cdr:nvCxnSpPr>
        <cdr:cNvPr id="5" name="Straight Connector 4">
          <a:extLst xmlns:a="http://schemas.openxmlformats.org/drawingml/2006/main">
            <a:ext uri="{FF2B5EF4-FFF2-40B4-BE49-F238E27FC236}">
              <a16:creationId xmlns:a16="http://schemas.microsoft.com/office/drawing/2014/main" id="{CBCCD80B-C5DA-8E9A-B0E9-28771A216DE2}"/>
            </a:ext>
          </a:extLst>
        </cdr:cNvPr>
        <cdr:cNvCxnSpPr/>
      </cdr:nvCxnSpPr>
      <cdr:spPr>
        <a:xfrm xmlns:a="http://schemas.openxmlformats.org/drawingml/2006/main">
          <a:off x="3986189" y="-1253331"/>
          <a:ext cx="0" cy="3750906"/>
        </a:xfrm>
        <a:prstGeom xmlns:a="http://schemas.openxmlformats.org/drawingml/2006/main" prst="line">
          <a:avLst/>
        </a:prstGeom>
        <a:ln xmlns:a="http://schemas.openxmlformats.org/drawingml/2006/main" w="9525" cap="flat" cmpd="sng" algn="ctr">
          <a:solidFill>
            <a:schemeClr val="dk1"/>
          </a:solidFill>
          <a:prstDash val="dash"/>
          <a:round/>
          <a:headEnd type="none" w="med" len="med"/>
          <a:tailEnd type="none"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cxnSp>
  </cdr:relSizeAnchor>
  <cdr:relSizeAnchor xmlns:cdr="http://schemas.openxmlformats.org/drawingml/2006/chartDrawing">
    <cdr:from>
      <cdr:x>0.09041</cdr:x>
      <cdr:y>0.55704</cdr:y>
    </cdr:from>
    <cdr:to>
      <cdr:x>1</cdr:x>
      <cdr:y>0.55704</cdr:y>
    </cdr:to>
    <cdr:cxnSp macro="">
      <cdr:nvCxnSpPr>
        <cdr:cNvPr id="6" name="Straight Connector 5">
          <a:extLst xmlns:a="http://schemas.openxmlformats.org/drawingml/2006/main">
            <a:ext uri="{FF2B5EF4-FFF2-40B4-BE49-F238E27FC236}">
              <a16:creationId xmlns:a16="http://schemas.microsoft.com/office/drawing/2014/main" id="{BAE26A46-1105-CD52-8ED7-59424991F131}"/>
            </a:ext>
          </a:extLst>
        </cdr:cNvPr>
        <cdr:cNvCxnSpPr/>
      </cdr:nvCxnSpPr>
      <cdr:spPr>
        <a:xfrm xmlns:a="http://schemas.openxmlformats.org/drawingml/2006/main">
          <a:off x="775557" y="2423885"/>
          <a:ext cx="7802386" cy="0"/>
        </a:xfrm>
        <a:prstGeom xmlns:a="http://schemas.openxmlformats.org/drawingml/2006/main" prst="line">
          <a:avLst/>
        </a:prstGeom>
        <a:ln xmlns:a="http://schemas.openxmlformats.org/drawingml/2006/main" w="9525" cap="flat" cmpd="sng" algn="ctr">
          <a:solidFill>
            <a:schemeClr val="dk1"/>
          </a:solidFill>
          <a:prstDash val="dash"/>
          <a:round/>
          <a:headEnd type="none" w="med" len="med"/>
          <a:tailEnd type="none"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cxnSp>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6448D-1791-6581-525A-96F5893A9B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2059AE0-38F9-CA39-6AD1-D14CAC3FB2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5A874D6-CF1E-C62C-33D3-68EBE72F7F8A}"/>
              </a:ext>
            </a:extLst>
          </p:cNvPr>
          <p:cNvSpPr>
            <a:spLocks noGrp="1"/>
          </p:cNvSpPr>
          <p:nvPr>
            <p:ph type="dt" sz="half" idx="10"/>
          </p:nvPr>
        </p:nvSpPr>
        <p:spPr/>
        <p:txBody>
          <a:bodyPr/>
          <a:lstStyle/>
          <a:p>
            <a:fld id="{8DC776A4-8683-45DC-8288-531897EDE721}" type="datetimeFigureOut">
              <a:rPr lang="en-IN" smtClean="0"/>
              <a:t>07-09-2025</a:t>
            </a:fld>
            <a:endParaRPr lang="en-IN"/>
          </a:p>
        </p:txBody>
      </p:sp>
      <p:sp>
        <p:nvSpPr>
          <p:cNvPr id="5" name="Footer Placeholder 4">
            <a:extLst>
              <a:ext uri="{FF2B5EF4-FFF2-40B4-BE49-F238E27FC236}">
                <a16:creationId xmlns:a16="http://schemas.microsoft.com/office/drawing/2014/main" id="{F77D3353-EF80-359D-E288-821B074458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339099-EE93-89BF-50B1-2715BC57A301}"/>
              </a:ext>
            </a:extLst>
          </p:cNvPr>
          <p:cNvSpPr>
            <a:spLocks noGrp="1"/>
          </p:cNvSpPr>
          <p:nvPr>
            <p:ph type="sldNum" sz="quarter" idx="12"/>
          </p:nvPr>
        </p:nvSpPr>
        <p:spPr/>
        <p:txBody>
          <a:bodyPr/>
          <a:lstStyle/>
          <a:p>
            <a:fld id="{EBEF7DBE-8B2C-469D-AD95-7178D08E958B}" type="slidenum">
              <a:rPr lang="en-IN" smtClean="0"/>
              <a:t>‹#›</a:t>
            </a:fld>
            <a:endParaRPr lang="en-IN"/>
          </a:p>
        </p:txBody>
      </p:sp>
    </p:spTree>
    <p:extLst>
      <p:ext uri="{BB962C8B-B14F-4D97-AF65-F5344CB8AC3E}">
        <p14:creationId xmlns:p14="http://schemas.microsoft.com/office/powerpoint/2010/main" val="1256407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AACFC-9390-47AF-E83F-9CF413733A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815A43-00BB-E811-EA5B-E59A4A6D22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267221-33A2-2CF4-F1DC-AD5C938D3E85}"/>
              </a:ext>
            </a:extLst>
          </p:cNvPr>
          <p:cNvSpPr>
            <a:spLocks noGrp="1"/>
          </p:cNvSpPr>
          <p:nvPr>
            <p:ph type="dt" sz="half" idx="10"/>
          </p:nvPr>
        </p:nvSpPr>
        <p:spPr/>
        <p:txBody>
          <a:bodyPr/>
          <a:lstStyle/>
          <a:p>
            <a:fld id="{8DC776A4-8683-45DC-8288-531897EDE721}" type="datetimeFigureOut">
              <a:rPr lang="en-IN" smtClean="0"/>
              <a:t>07-09-2025</a:t>
            </a:fld>
            <a:endParaRPr lang="en-IN"/>
          </a:p>
        </p:txBody>
      </p:sp>
      <p:sp>
        <p:nvSpPr>
          <p:cNvPr id="5" name="Footer Placeholder 4">
            <a:extLst>
              <a:ext uri="{FF2B5EF4-FFF2-40B4-BE49-F238E27FC236}">
                <a16:creationId xmlns:a16="http://schemas.microsoft.com/office/drawing/2014/main" id="{C5CDEAEB-8F6F-6AAC-1279-431E1C2B0A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2AFCEB-2C73-B87E-E820-1CBC26116FB7}"/>
              </a:ext>
            </a:extLst>
          </p:cNvPr>
          <p:cNvSpPr>
            <a:spLocks noGrp="1"/>
          </p:cNvSpPr>
          <p:nvPr>
            <p:ph type="sldNum" sz="quarter" idx="12"/>
          </p:nvPr>
        </p:nvSpPr>
        <p:spPr/>
        <p:txBody>
          <a:bodyPr/>
          <a:lstStyle/>
          <a:p>
            <a:fld id="{EBEF7DBE-8B2C-469D-AD95-7178D08E958B}" type="slidenum">
              <a:rPr lang="en-IN" smtClean="0"/>
              <a:t>‹#›</a:t>
            </a:fld>
            <a:endParaRPr lang="en-IN"/>
          </a:p>
        </p:txBody>
      </p:sp>
    </p:spTree>
    <p:extLst>
      <p:ext uri="{BB962C8B-B14F-4D97-AF65-F5344CB8AC3E}">
        <p14:creationId xmlns:p14="http://schemas.microsoft.com/office/powerpoint/2010/main" val="3267463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A6346-D250-4F51-1CF2-710B8F81B2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B711366-B484-A638-1F87-CA32BCECEC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4D022A-6004-B28B-C447-D94445DD99D6}"/>
              </a:ext>
            </a:extLst>
          </p:cNvPr>
          <p:cNvSpPr>
            <a:spLocks noGrp="1"/>
          </p:cNvSpPr>
          <p:nvPr>
            <p:ph type="dt" sz="half" idx="10"/>
          </p:nvPr>
        </p:nvSpPr>
        <p:spPr/>
        <p:txBody>
          <a:bodyPr/>
          <a:lstStyle/>
          <a:p>
            <a:fld id="{8DC776A4-8683-45DC-8288-531897EDE721}" type="datetimeFigureOut">
              <a:rPr lang="en-IN" smtClean="0"/>
              <a:t>07-09-2025</a:t>
            </a:fld>
            <a:endParaRPr lang="en-IN"/>
          </a:p>
        </p:txBody>
      </p:sp>
      <p:sp>
        <p:nvSpPr>
          <p:cNvPr id="5" name="Footer Placeholder 4">
            <a:extLst>
              <a:ext uri="{FF2B5EF4-FFF2-40B4-BE49-F238E27FC236}">
                <a16:creationId xmlns:a16="http://schemas.microsoft.com/office/drawing/2014/main" id="{73E60589-6969-3287-0486-8BA72CF57E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CA7AD8-9B1F-B757-2762-9B96E7A3C8D8}"/>
              </a:ext>
            </a:extLst>
          </p:cNvPr>
          <p:cNvSpPr>
            <a:spLocks noGrp="1"/>
          </p:cNvSpPr>
          <p:nvPr>
            <p:ph type="sldNum" sz="quarter" idx="12"/>
          </p:nvPr>
        </p:nvSpPr>
        <p:spPr/>
        <p:txBody>
          <a:bodyPr/>
          <a:lstStyle/>
          <a:p>
            <a:fld id="{EBEF7DBE-8B2C-469D-AD95-7178D08E958B}" type="slidenum">
              <a:rPr lang="en-IN" smtClean="0"/>
              <a:t>‹#›</a:t>
            </a:fld>
            <a:endParaRPr lang="en-IN"/>
          </a:p>
        </p:txBody>
      </p:sp>
    </p:spTree>
    <p:extLst>
      <p:ext uri="{BB962C8B-B14F-4D97-AF65-F5344CB8AC3E}">
        <p14:creationId xmlns:p14="http://schemas.microsoft.com/office/powerpoint/2010/main" val="3666984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FBCBD-086F-1C0B-55B7-9BBC1517660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B14F8F5-697A-26A2-4B25-4CE9D9DF91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EC1B7C8-D5AC-0AB6-424E-DFF148A9BB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C7D8476-1885-A547-2B83-59A52B1B5DAD}"/>
              </a:ext>
            </a:extLst>
          </p:cNvPr>
          <p:cNvSpPr>
            <a:spLocks noGrp="1"/>
          </p:cNvSpPr>
          <p:nvPr>
            <p:ph type="dt" sz="half" idx="10"/>
          </p:nvPr>
        </p:nvSpPr>
        <p:spPr/>
        <p:txBody>
          <a:bodyPr/>
          <a:lstStyle/>
          <a:p>
            <a:fld id="{8DC776A4-8683-45DC-8288-531897EDE721}" type="datetimeFigureOut">
              <a:rPr lang="en-IN" smtClean="0"/>
              <a:t>07-09-2025</a:t>
            </a:fld>
            <a:endParaRPr lang="en-IN"/>
          </a:p>
        </p:txBody>
      </p:sp>
      <p:sp>
        <p:nvSpPr>
          <p:cNvPr id="6" name="Footer Placeholder 5">
            <a:extLst>
              <a:ext uri="{FF2B5EF4-FFF2-40B4-BE49-F238E27FC236}">
                <a16:creationId xmlns:a16="http://schemas.microsoft.com/office/drawing/2014/main" id="{B1042D11-AD83-BC8E-BB07-07B2631260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31814E-5E81-6E2F-4501-3DDF81E1CABE}"/>
              </a:ext>
            </a:extLst>
          </p:cNvPr>
          <p:cNvSpPr>
            <a:spLocks noGrp="1"/>
          </p:cNvSpPr>
          <p:nvPr>
            <p:ph type="sldNum" sz="quarter" idx="12"/>
          </p:nvPr>
        </p:nvSpPr>
        <p:spPr/>
        <p:txBody>
          <a:bodyPr/>
          <a:lstStyle/>
          <a:p>
            <a:fld id="{EBEF7DBE-8B2C-469D-AD95-7178D08E958B}" type="slidenum">
              <a:rPr lang="en-IN" smtClean="0"/>
              <a:t>‹#›</a:t>
            </a:fld>
            <a:endParaRPr lang="en-IN"/>
          </a:p>
        </p:txBody>
      </p:sp>
    </p:spTree>
    <p:extLst>
      <p:ext uri="{BB962C8B-B14F-4D97-AF65-F5344CB8AC3E}">
        <p14:creationId xmlns:p14="http://schemas.microsoft.com/office/powerpoint/2010/main" val="2189021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271E9-781E-D986-0D3A-2B2C60516CC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B3FEF7-818E-6F22-A9FB-5473DD1ACA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5C55E9-3BC6-C7B5-94C7-A2931E30DA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6105526-FA6F-B83D-1999-863D29A6D3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F9ED84-617E-A306-5A70-C2A1E5047F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A386B3E-07C9-D47C-F0CF-4B840B5F3BE3}"/>
              </a:ext>
            </a:extLst>
          </p:cNvPr>
          <p:cNvSpPr>
            <a:spLocks noGrp="1"/>
          </p:cNvSpPr>
          <p:nvPr>
            <p:ph type="dt" sz="half" idx="10"/>
          </p:nvPr>
        </p:nvSpPr>
        <p:spPr/>
        <p:txBody>
          <a:bodyPr/>
          <a:lstStyle/>
          <a:p>
            <a:fld id="{8DC776A4-8683-45DC-8288-531897EDE721}" type="datetimeFigureOut">
              <a:rPr lang="en-IN" smtClean="0"/>
              <a:t>07-09-2025</a:t>
            </a:fld>
            <a:endParaRPr lang="en-IN"/>
          </a:p>
        </p:txBody>
      </p:sp>
      <p:sp>
        <p:nvSpPr>
          <p:cNvPr id="8" name="Footer Placeholder 7">
            <a:extLst>
              <a:ext uri="{FF2B5EF4-FFF2-40B4-BE49-F238E27FC236}">
                <a16:creationId xmlns:a16="http://schemas.microsoft.com/office/drawing/2014/main" id="{743F6D30-FB7C-5628-613E-6DD8BEF3111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31016EC-8C46-97E6-534F-47BFE6606F69}"/>
              </a:ext>
            </a:extLst>
          </p:cNvPr>
          <p:cNvSpPr>
            <a:spLocks noGrp="1"/>
          </p:cNvSpPr>
          <p:nvPr>
            <p:ph type="sldNum" sz="quarter" idx="12"/>
          </p:nvPr>
        </p:nvSpPr>
        <p:spPr/>
        <p:txBody>
          <a:bodyPr/>
          <a:lstStyle/>
          <a:p>
            <a:fld id="{EBEF7DBE-8B2C-469D-AD95-7178D08E958B}" type="slidenum">
              <a:rPr lang="en-IN" smtClean="0"/>
              <a:t>‹#›</a:t>
            </a:fld>
            <a:endParaRPr lang="en-IN"/>
          </a:p>
        </p:txBody>
      </p:sp>
    </p:spTree>
    <p:extLst>
      <p:ext uri="{BB962C8B-B14F-4D97-AF65-F5344CB8AC3E}">
        <p14:creationId xmlns:p14="http://schemas.microsoft.com/office/powerpoint/2010/main" val="409344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9EF4-6276-797E-F304-737BCB713D4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2F20BAB-6EDE-D8CA-20D6-B4D6F13D7EE6}"/>
              </a:ext>
            </a:extLst>
          </p:cNvPr>
          <p:cNvSpPr>
            <a:spLocks noGrp="1"/>
          </p:cNvSpPr>
          <p:nvPr>
            <p:ph type="dt" sz="half" idx="10"/>
          </p:nvPr>
        </p:nvSpPr>
        <p:spPr/>
        <p:txBody>
          <a:bodyPr/>
          <a:lstStyle/>
          <a:p>
            <a:fld id="{8DC776A4-8683-45DC-8288-531897EDE721}" type="datetimeFigureOut">
              <a:rPr lang="en-IN" smtClean="0"/>
              <a:t>07-09-2025</a:t>
            </a:fld>
            <a:endParaRPr lang="en-IN"/>
          </a:p>
        </p:txBody>
      </p:sp>
      <p:sp>
        <p:nvSpPr>
          <p:cNvPr id="4" name="Footer Placeholder 3">
            <a:extLst>
              <a:ext uri="{FF2B5EF4-FFF2-40B4-BE49-F238E27FC236}">
                <a16:creationId xmlns:a16="http://schemas.microsoft.com/office/drawing/2014/main" id="{BD81C388-90CB-6A5C-BA0D-D3C2308C224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71505DD-C328-3491-CF90-07D376D503E5}"/>
              </a:ext>
            </a:extLst>
          </p:cNvPr>
          <p:cNvSpPr>
            <a:spLocks noGrp="1"/>
          </p:cNvSpPr>
          <p:nvPr>
            <p:ph type="sldNum" sz="quarter" idx="12"/>
          </p:nvPr>
        </p:nvSpPr>
        <p:spPr/>
        <p:txBody>
          <a:bodyPr/>
          <a:lstStyle/>
          <a:p>
            <a:fld id="{EBEF7DBE-8B2C-469D-AD95-7178D08E958B}" type="slidenum">
              <a:rPr lang="en-IN" smtClean="0"/>
              <a:t>‹#›</a:t>
            </a:fld>
            <a:endParaRPr lang="en-IN"/>
          </a:p>
        </p:txBody>
      </p:sp>
    </p:spTree>
    <p:extLst>
      <p:ext uri="{BB962C8B-B14F-4D97-AF65-F5344CB8AC3E}">
        <p14:creationId xmlns:p14="http://schemas.microsoft.com/office/powerpoint/2010/main" val="1570410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EDE5EF-4BE2-695C-F144-C0367CF47D94}"/>
              </a:ext>
            </a:extLst>
          </p:cNvPr>
          <p:cNvSpPr>
            <a:spLocks noGrp="1"/>
          </p:cNvSpPr>
          <p:nvPr>
            <p:ph type="dt" sz="half" idx="10"/>
          </p:nvPr>
        </p:nvSpPr>
        <p:spPr/>
        <p:txBody>
          <a:bodyPr/>
          <a:lstStyle/>
          <a:p>
            <a:fld id="{8DC776A4-8683-45DC-8288-531897EDE721}" type="datetimeFigureOut">
              <a:rPr lang="en-IN" smtClean="0"/>
              <a:t>07-09-2025</a:t>
            </a:fld>
            <a:endParaRPr lang="en-IN"/>
          </a:p>
        </p:txBody>
      </p:sp>
      <p:sp>
        <p:nvSpPr>
          <p:cNvPr id="3" name="Footer Placeholder 2">
            <a:extLst>
              <a:ext uri="{FF2B5EF4-FFF2-40B4-BE49-F238E27FC236}">
                <a16:creationId xmlns:a16="http://schemas.microsoft.com/office/drawing/2014/main" id="{7F83B8A0-FA3E-57FA-7337-C59EC4F823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B851438-AB97-CD5C-2135-E83003C06B35}"/>
              </a:ext>
            </a:extLst>
          </p:cNvPr>
          <p:cNvSpPr>
            <a:spLocks noGrp="1"/>
          </p:cNvSpPr>
          <p:nvPr>
            <p:ph type="sldNum" sz="quarter" idx="12"/>
          </p:nvPr>
        </p:nvSpPr>
        <p:spPr/>
        <p:txBody>
          <a:bodyPr/>
          <a:lstStyle/>
          <a:p>
            <a:fld id="{EBEF7DBE-8B2C-469D-AD95-7178D08E958B}" type="slidenum">
              <a:rPr lang="en-IN" smtClean="0"/>
              <a:t>‹#›</a:t>
            </a:fld>
            <a:endParaRPr lang="en-IN"/>
          </a:p>
        </p:txBody>
      </p:sp>
    </p:spTree>
    <p:extLst>
      <p:ext uri="{BB962C8B-B14F-4D97-AF65-F5344CB8AC3E}">
        <p14:creationId xmlns:p14="http://schemas.microsoft.com/office/powerpoint/2010/main" val="24750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BD6AC-166B-C168-144C-43937B4793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3063347-42C4-AE9E-E134-B08A49412E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174B07C-779E-5143-6734-D7BC611C92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4E906B-B22E-B050-C52A-6A8248F4ADA3}"/>
              </a:ext>
            </a:extLst>
          </p:cNvPr>
          <p:cNvSpPr>
            <a:spLocks noGrp="1"/>
          </p:cNvSpPr>
          <p:nvPr>
            <p:ph type="dt" sz="half" idx="10"/>
          </p:nvPr>
        </p:nvSpPr>
        <p:spPr/>
        <p:txBody>
          <a:bodyPr/>
          <a:lstStyle/>
          <a:p>
            <a:fld id="{8DC776A4-8683-45DC-8288-531897EDE721}" type="datetimeFigureOut">
              <a:rPr lang="en-IN" smtClean="0"/>
              <a:t>07-09-2025</a:t>
            </a:fld>
            <a:endParaRPr lang="en-IN"/>
          </a:p>
        </p:txBody>
      </p:sp>
      <p:sp>
        <p:nvSpPr>
          <p:cNvPr id="6" name="Footer Placeholder 5">
            <a:extLst>
              <a:ext uri="{FF2B5EF4-FFF2-40B4-BE49-F238E27FC236}">
                <a16:creationId xmlns:a16="http://schemas.microsoft.com/office/drawing/2014/main" id="{8B59C83E-8B40-0ACB-12BD-0467D00E5B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A197BB-6504-98A2-FC50-9A8BE65DF525}"/>
              </a:ext>
            </a:extLst>
          </p:cNvPr>
          <p:cNvSpPr>
            <a:spLocks noGrp="1"/>
          </p:cNvSpPr>
          <p:nvPr>
            <p:ph type="sldNum" sz="quarter" idx="12"/>
          </p:nvPr>
        </p:nvSpPr>
        <p:spPr/>
        <p:txBody>
          <a:bodyPr/>
          <a:lstStyle/>
          <a:p>
            <a:fld id="{EBEF7DBE-8B2C-469D-AD95-7178D08E958B}" type="slidenum">
              <a:rPr lang="en-IN" smtClean="0"/>
              <a:t>‹#›</a:t>
            </a:fld>
            <a:endParaRPr lang="en-IN"/>
          </a:p>
        </p:txBody>
      </p:sp>
    </p:spTree>
    <p:extLst>
      <p:ext uri="{BB962C8B-B14F-4D97-AF65-F5344CB8AC3E}">
        <p14:creationId xmlns:p14="http://schemas.microsoft.com/office/powerpoint/2010/main" val="1763231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B2010-8FBF-0EC5-39CD-B725BFE834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6C9581B-2226-FEEF-1BFB-E8417F8A90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B680072-4860-CEC6-3E2E-DBAAEB4940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E9D6B4-A45D-2D0A-A59C-C21668F4A3DA}"/>
              </a:ext>
            </a:extLst>
          </p:cNvPr>
          <p:cNvSpPr>
            <a:spLocks noGrp="1"/>
          </p:cNvSpPr>
          <p:nvPr>
            <p:ph type="dt" sz="half" idx="10"/>
          </p:nvPr>
        </p:nvSpPr>
        <p:spPr/>
        <p:txBody>
          <a:bodyPr/>
          <a:lstStyle/>
          <a:p>
            <a:fld id="{8DC776A4-8683-45DC-8288-531897EDE721}" type="datetimeFigureOut">
              <a:rPr lang="en-IN" smtClean="0"/>
              <a:t>07-09-2025</a:t>
            </a:fld>
            <a:endParaRPr lang="en-IN"/>
          </a:p>
        </p:txBody>
      </p:sp>
      <p:sp>
        <p:nvSpPr>
          <p:cNvPr id="6" name="Footer Placeholder 5">
            <a:extLst>
              <a:ext uri="{FF2B5EF4-FFF2-40B4-BE49-F238E27FC236}">
                <a16:creationId xmlns:a16="http://schemas.microsoft.com/office/drawing/2014/main" id="{9191688A-4863-6614-98A4-724A8ACDDB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13EB4A-95C3-1737-4D0A-11F3E3D34B33}"/>
              </a:ext>
            </a:extLst>
          </p:cNvPr>
          <p:cNvSpPr>
            <a:spLocks noGrp="1"/>
          </p:cNvSpPr>
          <p:nvPr>
            <p:ph type="sldNum" sz="quarter" idx="12"/>
          </p:nvPr>
        </p:nvSpPr>
        <p:spPr/>
        <p:txBody>
          <a:bodyPr/>
          <a:lstStyle/>
          <a:p>
            <a:fld id="{EBEF7DBE-8B2C-469D-AD95-7178D08E958B}" type="slidenum">
              <a:rPr lang="en-IN" smtClean="0"/>
              <a:t>‹#›</a:t>
            </a:fld>
            <a:endParaRPr lang="en-IN"/>
          </a:p>
        </p:txBody>
      </p:sp>
    </p:spTree>
    <p:extLst>
      <p:ext uri="{BB962C8B-B14F-4D97-AF65-F5344CB8AC3E}">
        <p14:creationId xmlns:p14="http://schemas.microsoft.com/office/powerpoint/2010/main" val="1936121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42A05-705B-C73D-E52F-3DB1B421925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75B900-7D38-AA64-AEE8-FD96B26B6D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D90618-A4A7-C6E7-ACB1-49F9C170180F}"/>
              </a:ext>
            </a:extLst>
          </p:cNvPr>
          <p:cNvSpPr>
            <a:spLocks noGrp="1"/>
          </p:cNvSpPr>
          <p:nvPr>
            <p:ph type="dt" sz="half" idx="10"/>
          </p:nvPr>
        </p:nvSpPr>
        <p:spPr/>
        <p:txBody>
          <a:bodyPr/>
          <a:lstStyle/>
          <a:p>
            <a:fld id="{8DC776A4-8683-45DC-8288-531897EDE721}" type="datetimeFigureOut">
              <a:rPr lang="en-IN" smtClean="0"/>
              <a:t>07-09-2025</a:t>
            </a:fld>
            <a:endParaRPr lang="en-IN"/>
          </a:p>
        </p:txBody>
      </p:sp>
      <p:sp>
        <p:nvSpPr>
          <p:cNvPr id="5" name="Footer Placeholder 4">
            <a:extLst>
              <a:ext uri="{FF2B5EF4-FFF2-40B4-BE49-F238E27FC236}">
                <a16:creationId xmlns:a16="http://schemas.microsoft.com/office/drawing/2014/main" id="{ABFC8112-9E47-68D0-9317-3BB63EFF25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8973CF-6494-D44B-7635-668006F3D0A4}"/>
              </a:ext>
            </a:extLst>
          </p:cNvPr>
          <p:cNvSpPr>
            <a:spLocks noGrp="1"/>
          </p:cNvSpPr>
          <p:nvPr>
            <p:ph type="sldNum" sz="quarter" idx="12"/>
          </p:nvPr>
        </p:nvSpPr>
        <p:spPr/>
        <p:txBody>
          <a:bodyPr/>
          <a:lstStyle/>
          <a:p>
            <a:fld id="{EBEF7DBE-8B2C-469D-AD95-7178D08E958B}" type="slidenum">
              <a:rPr lang="en-IN" smtClean="0"/>
              <a:t>‹#›</a:t>
            </a:fld>
            <a:endParaRPr lang="en-IN"/>
          </a:p>
        </p:txBody>
      </p:sp>
    </p:spTree>
    <p:extLst>
      <p:ext uri="{BB962C8B-B14F-4D97-AF65-F5344CB8AC3E}">
        <p14:creationId xmlns:p14="http://schemas.microsoft.com/office/powerpoint/2010/main" val="2574374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A6EE94-5ABD-507E-217E-B23D9C6B03B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7BF3218-3D57-7F83-18F5-3D90242EF7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64936B-8B72-E509-82C0-75E89C5C1861}"/>
              </a:ext>
            </a:extLst>
          </p:cNvPr>
          <p:cNvSpPr>
            <a:spLocks noGrp="1"/>
          </p:cNvSpPr>
          <p:nvPr>
            <p:ph type="dt" sz="half" idx="10"/>
          </p:nvPr>
        </p:nvSpPr>
        <p:spPr/>
        <p:txBody>
          <a:bodyPr/>
          <a:lstStyle/>
          <a:p>
            <a:fld id="{8DC776A4-8683-45DC-8288-531897EDE721}" type="datetimeFigureOut">
              <a:rPr lang="en-IN" smtClean="0"/>
              <a:t>07-09-2025</a:t>
            </a:fld>
            <a:endParaRPr lang="en-IN"/>
          </a:p>
        </p:txBody>
      </p:sp>
      <p:sp>
        <p:nvSpPr>
          <p:cNvPr id="5" name="Footer Placeholder 4">
            <a:extLst>
              <a:ext uri="{FF2B5EF4-FFF2-40B4-BE49-F238E27FC236}">
                <a16:creationId xmlns:a16="http://schemas.microsoft.com/office/drawing/2014/main" id="{5D60F57E-CCD2-5B26-EFF6-2FD7D0338F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C861B9-2C15-2C50-FB4A-C3170E230B23}"/>
              </a:ext>
            </a:extLst>
          </p:cNvPr>
          <p:cNvSpPr>
            <a:spLocks noGrp="1"/>
          </p:cNvSpPr>
          <p:nvPr>
            <p:ph type="sldNum" sz="quarter" idx="12"/>
          </p:nvPr>
        </p:nvSpPr>
        <p:spPr/>
        <p:txBody>
          <a:bodyPr/>
          <a:lstStyle/>
          <a:p>
            <a:fld id="{EBEF7DBE-8B2C-469D-AD95-7178D08E958B}" type="slidenum">
              <a:rPr lang="en-IN" smtClean="0"/>
              <a:t>‹#›</a:t>
            </a:fld>
            <a:endParaRPr lang="en-IN"/>
          </a:p>
        </p:txBody>
      </p:sp>
    </p:spTree>
    <p:extLst>
      <p:ext uri="{BB962C8B-B14F-4D97-AF65-F5344CB8AC3E}">
        <p14:creationId xmlns:p14="http://schemas.microsoft.com/office/powerpoint/2010/main" val="25875628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01BFAB-9A81-01DE-E73E-EDF7C35120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5F2AD92-724C-AAC2-2FF4-B63DDA6862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C1CA2F-0367-7B33-5026-8C7B930750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C776A4-8683-45DC-8288-531897EDE721}" type="datetimeFigureOut">
              <a:rPr lang="en-IN" smtClean="0"/>
              <a:t>07-09-2025</a:t>
            </a:fld>
            <a:endParaRPr lang="en-IN"/>
          </a:p>
        </p:txBody>
      </p:sp>
      <p:sp>
        <p:nvSpPr>
          <p:cNvPr id="5" name="Footer Placeholder 4">
            <a:extLst>
              <a:ext uri="{FF2B5EF4-FFF2-40B4-BE49-F238E27FC236}">
                <a16:creationId xmlns:a16="http://schemas.microsoft.com/office/drawing/2014/main" id="{6851C1FF-C0A1-C10A-CDB6-4AF6AF06B4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B2B906A-6394-734F-F107-FD15A21EF0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EF7DBE-8B2C-469D-AD95-7178D08E958B}" type="slidenum">
              <a:rPr lang="en-IN" smtClean="0"/>
              <a:t>‹#›</a:t>
            </a:fld>
            <a:endParaRPr lang="en-IN"/>
          </a:p>
        </p:txBody>
      </p:sp>
    </p:spTree>
    <p:extLst>
      <p:ext uri="{BB962C8B-B14F-4D97-AF65-F5344CB8AC3E}">
        <p14:creationId xmlns:p14="http://schemas.microsoft.com/office/powerpoint/2010/main" val="3040200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851C7-8340-8045-C605-B3CBD0F278A3}"/>
              </a:ext>
            </a:extLst>
          </p:cNvPr>
          <p:cNvSpPr>
            <a:spLocks noGrp="1"/>
          </p:cNvSpPr>
          <p:nvPr>
            <p:ph type="title"/>
          </p:nvPr>
        </p:nvSpPr>
        <p:spPr>
          <a:xfrm>
            <a:off x="838200" y="-206828"/>
            <a:ext cx="10515600" cy="1325563"/>
          </a:xfrm>
        </p:spPr>
        <p:txBody>
          <a:bodyPr/>
          <a:lstStyle/>
          <a:p>
            <a:pPr algn="ctr"/>
            <a:r>
              <a:rPr lang="en-US" b="1" u="sng" dirty="0"/>
              <a:t>The Business and Market Context</a:t>
            </a:r>
            <a:endParaRPr lang="en-IN" dirty="0"/>
          </a:p>
        </p:txBody>
      </p:sp>
      <p:sp>
        <p:nvSpPr>
          <p:cNvPr id="3" name="Content Placeholder 2">
            <a:extLst>
              <a:ext uri="{FF2B5EF4-FFF2-40B4-BE49-F238E27FC236}">
                <a16:creationId xmlns:a16="http://schemas.microsoft.com/office/drawing/2014/main" id="{6E6F49AB-BC43-5084-1749-24146F3CD649}"/>
              </a:ext>
            </a:extLst>
          </p:cNvPr>
          <p:cNvSpPr>
            <a:spLocks noGrp="1"/>
          </p:cNvSpPr>
          <p:nvPr>
            <p:ph idx="1"/>
          </p:nvPr>
        </p:nvSpPr>
        <p:spPr>
          <a:xfrm>
            <a:off x="838200" y="774361"/>
            <a:ext cx="10515600" cy="4351338"/>
          </a:xfrm>
        </p:spPr>
        <p:txBody>
          <a:bodyPr>
            <a:noAutofit/>
          </a:bodyPr>
          <a:lstStyle/>
          <a:p>
            <a:r>
              <a:rPr lang="en-US" sz="2000" dirty="0"/>
              <a:t>Most of the countries of South-East Asia are </a:t>
            </a:r>
            <a:r>
              <a:rPr lang="en-US" sz="2000" b="1" dirty="0"/>
              <a:t>developing</a:t>
            </a:r>
            <a:r>
              <a:rPr lang="en-US" sz="2000" dirty="0"/>
              <a:t> in nature where </a:t>
            </a:r>
            <a:r>
              <a:rPr lang="en-US" sz="2000" b="1" dirty="0"/>
              <a:t>urbanization</a:t>
            </a:r>
            <a:r>
              <a:rPr lang="en-US" sz="2000" dirty="0"/>
              <a:t> is a theme because of which there is </a:t>
            </a:r>
            <a:r>
              <a:rPr lang="en-US" sz="2000" b="1" dirty="0"/>
              <a:t>a huge demand for cleaning stuffs like detergents</a:t>
            </a:r>
            <a:r>
              <a:rPr lang="en-US" sz="2000" dirty="0"/>
              <a:t>.</a:t>
            </a:r>
          </a:p>
          <a:p>
            <a:r>
              <a:rPr lang="en-US" sz="2000" dirty="0"/>
              <a:t>Brand X is a dominant FMCG brand with a market share exceeding 45% over Brand Y which has a 15% market share, </a:t>
            </a:r>
            <a:r>
              <a:rPr lang="en-US" sz="2000" b="1" dirty="0"/>
              <a:t>indicating Brand X is a market leader.</a:t>
            </a:r>
            <a:endParaRPr lang="en-US" sz="2000" dirty="0"/>
          </a:p>
          <a:p>
            <a:r>
              <a:rPr lang="en-US" sz="2000" dirty="0"/>
              <a:t>The brand’s product portfolio includes two main formats, Powders and Liquids, which are distributed through Modern Trade (MT) and Traditional Trade (TT).The brand maintains a larger presence in the TT channel over MT, </a:t>
            </a:r>
            <a:r>
              <a:rPr lang="en-US" sz="2000" b="1" dirty="0"/>
              <a:t>indicating it’s sales mainly comes from TT over MT</a:t>
            </a:r>
            <a:r>
              <a:rPr lang="en-US" sz="2000" dirty="0"/>
              <a:t>. This also indicates </a:t>
            </a:r>
            <a:r>
              <a:rPr lang="en-US" sz="2000" b="1" dirty="0"/>
              <a:t>more price-sensitive customers or customers going for TT more as compared to MT.</a:t>
            </a:r>
            <a:endParaRPr lang="en-US" sz="2000" b="1" baseline="30000" dirty="0"/>
          </a:p>
          <a:p>
            <a:r>
              <a:rPr lang="en-US" sz="2000" dirty="0"/>
              <a:t>An increase in TV investments for promoting its Liquids format and increased promotional activities for it in MT </a:t>
            </a:r>
            <a:r>
              <a:rPr lang="en-US" sz="2000" b="1" dirty="0"/>
              <a:t>to drive more profitability as it is a premium product</a:t>
            </a:r>
            <a:r>
              <a:rPr lang="en-US" sz="2000" dirty="0"/>
              <a:t>. Promotions for powders in TT along with higher sales from TT indicates </a:t>
            </a:r>
            <a:r>
              <a:rPr lang="en-US" sz="2000" b="1" dirty="0"/>
              <a:t>sales increase from powders in TT</a:t>
            </a:r>
            <a:r>
              <a:rPr lang="en-US" sz="2000" dirty="0"/>
              <a:t>.</a:t>
            </a:r>
          </a:p>
          <a:p>
            <a:r>
              <a:rPr lang="en-US" sz="2000" dirty="0"/>
              <a:t>Concurrently, the key competitor, Brand Y, has reduced its own TV investments </a:t>
            </a:r>
            <a:r>
              <a:rPr lang="en-US" sz="2000" b="1" dirty="0"/>
              <a:t>helped in sales increase for Brand Y</a:t>
            </a:r>
            <a:r>
              <a:rPr lang="en-US" sz="2000" dirty="0"/>
              <a:t>.</a:t>
            </a:r>
          </a:p>
          <a:p>
            <a:r>
              <a:rPr lang="en-US" sz="2000" dirty="0"/>
              <a:t>The objective of this analysis is to quantify the impact of these marketing drivers—Price, Distribution, Promotions, and Media—on Brand X’s sales volume, thereby providing a clear roadmap for future investment decisions. The next slides will provide a detailed breakdown of the findings and the strategic implications of the data.</a:t>
            </a:r>
            <a:endParaRPr lang="en-IN" sz="2000" dirty="0"/>
          </a:p>
        </p:txBody>
      </p:sp>
    </p:spTree>
    <p:extLst>
      <p:ext uri="{BB962C8B-B14F-4D97-AF65-F5344CB8AC3E}">
        <p14:creationId xmlns:p14="http://schemas.microsoft.com/office/powerpoint/2010/main" val="752150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4B17E-078D-98EF-9FCA-85B1A3E1244A}"/>
            </a:ext>
          </a:extLst>
        </p:cNvPr>
        <p:cNvGrpSpPr/>
        <p:nvPr/>
      </p:nvGrpSpPr>
      <p:grpSpPr>
        <a:xfrm>
          <a:off x="0" y="0"/>
          <a:ext cx="0" cy="0"/>
          <a:chOff x="0" y="0"/>
          <a:chExt cx="0" cy="0"/>
        </a:xfrm>
      </p:grpSpPr>
      <p:graphicFrame>
        <p:nvGraphicFramePr>
          <p:cNvPr id="8" name="Chart 7">
            <a:extLst>
              <a:ext uri="{FF2B5EF4-FFF2-40B4-BE49-F238E27FC236}">
                <a16:creationId xmlns:a16="http://schemas.microsoft.com/office/drawing/2014/main" id="{7280DE41-A229-6196-146F-5182C7780901}"/>
              </a:ext>
            </a:extLst>
          </p:cNvPr>
          <p:cNvGraphicFramePr/>
          <p:nvPr>
            <p:extLst>
              <p:ext uri="{D42A27DB-BD31-4B8C-83A1-F6EECF244321}">
                <p14:modId xmlns:p14="http://schemas.microsoft.com/office/powerpoint/2010/main" val="3898936671"/>
              </p:ext>
            </p:extLst>
          </p:nvPr>
        </p:nvGraphicFramePr>
        <p:xfrm>
          <a:off x="655441" y="828389"/>
          <a:ext cx="8608302" cy="400731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Table 9">
            <a:extLst>
              <a:ext uri="{FF2B5EF4-FFF2-40B4-BE49-F238E27FC236}">
                <a16:creationId xmlns:a16="http://schemas.microsoft.com/office/drawing/2014/main" id="{A992D958-BE9F-272C-AD30-226DF15A1349}"/>
              </a:ext>
            </a:extLst>
          </p:cNvPr>
          <p:cNvGraphicFramePr>
            <a:graphicFrameLocks noGrp="1"/>
          </p:cNvGraphicFramePr>
          <p:nvPr>
            <p:custDataLst>
              <p:tags r:id="rId1"/>
            </p:custDataLst>
            <p:extLst>
              <p:ext uri="{D42A27DB-BD31-4B8C-83A1-F6EECF244321}">
                <p14:modId xmlns:p14="http://schemas.microsoft.com/office/powerpoint/2010/main" val="273770253"/>
              </p:ext>
            </p:extLst>
          </p:nvPr>
        </p:nvGraphicFramePr>
        <p:xfrm>
          <a:off x="533399" y="1529540"/>
          <a:ext cx="8632372" cy="3306164"/>
        </p:xfrm>
        <a:graphic>
          <a:graphicData uri="http://schemas.openxmlformats.org/drawingml/2006/table">
            <a:tbl>
              <a:tblPr/>
              <a:tblGrid>
                <a:gridCol w="925287">
                  <a:extLst>
                    <a:ext uri="{9D8B030D-6E8A-4147-A177-3AD203B41FA5}">
                      <a16:colId xmlns:a16="http://schemas.microsoft.com/office/drawing/2014/main" val="4189197098"/>
                    </a:ext>
                  </a:extLst>
                </a:gridCol>
                <a:gridCol w="1382485">
                  <a:extLst>
                    <a:ext uri="{9D8B030D-6E8A-4147-A177-3AD203B41FA5}">
                      <a16:colId xmlns:a16="http://schemas.microsoft.com/office/drawing/2014/main" val="1844399846"/>
                    </a:ext>
                  </a:extLst>
                </a:gridCol>
                <a:gridCol w="1164772">
                  <a:extLst>
                    <a:ext uri="{9D8B030D-6E8A-4147-A177-3AD203B41FA5}">
                      <a16:colId xmlns:a16="http://schemas.microsoft.com/office/drawing/2014/main" val="3008239442"/>
                    </a:ext>
                  </a:extLst>
                </a:gridCol>
                <a:gridCol w="1382486">
                  <a:extLst>
                    <a:ext uri="{9D8B030D-6E8A-4147-A177-3AD203B41FA5}">
                      <a16:colId xmlns:a16="http://schemas.microsoft.com/office/drawing/2014/main" val="3996291009"/>
                    </a:ext>
                  </a:extLst>
                </a:gridCol>
                <a:gridCol w="1240971">
                  <a:extLst>
                    <a:ext uri="{9D8B030D-6E8A-4147-A177-3AD203B41FA5}">
                      <a16:colId xmlns:a16="http://schemas.microsoft.com/office/drawing/2014/main" val="1113742609"/>
                    </a:ext>
                  </a:extLst>
                </a:gridCol>
                <a:gridCol w="1251857">
                  <a:extLst>
                    <a:ext uri="{9D8B030D-6E8A-4147-A177-3AD203B41FA5}">
                      <a16:colId xmlns:a16="http://schemas.microsoft.com/office/drawing/2014/main" val="3426064612"/>
                    </a:ext>
                  </a:extLst>
                </a:gridCol>
                <a:gridCol w="1284514">
                  <a:extLst>
                    <a:ext uri="{9D8B030D-6E8A-4147-A177-3AD203B41FA5}">
                      <a16:colId xmlns:a16="http://schemas.microsoft.com/office/drawing/2014/main" val="343464891"/>
                    </a:ext>
                  </a:extLst>
                </a:gridCol>
              </a:tblGrid>
              <a:tr h="1101182">
                <a:tc>
                  <a:txBody>
                    <a:bodyPr/>
                    <a:lstStyle/>
                    <a:p>
                      <a:pPr algn="ctr" fontAlgn="ctr"/>
                      <a:r>
                        <a:rPr lang="en-US" sz="1100" b="1" i="0" u="none" strike="noStrike" dirty="0">
                          <a:solidFill>
                            <a:schemeClr val="tx1"/>
                          </a:solidFill>
                          <a:effectLst/>
                          <a:latin typeface="Arial" panose="020B0604020202020204" pitchFamily="34" charset="0"/>
                        </a:rPr>
                        <a:t> </a:t>
                      </a:r>
                    </a:p>
                  </a:txBody>
                  <a:tcPr marL="3895" marR="3895" marT="3895" marB="0" vert="vert270" anchor="ctr">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IN" sz="1100" b="1" i="0" u="none" strike="noStrike" dirty="0">
                          <a:solidFill>
                            <a:srgbClr val="000000"/>
                          </a:solidFill>
                          <a:effectLst/>
                          <a:latin typeface="Calibri" panose="020F0502020204030204" pitchFamily="34" charset="0"/>
                        </a:rPr>
                        <a:t>Powder TV</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IN" sz="1100" b="1" i="0" u="none" strike="noStrike" dirty="0">
                          <a:solidFill>
                            <a:srgbClr val="000000"/>
                          </a:solidFill>
                          <a:effectLst/>
                          <a:latin typeface="Calibri" panose="020F0502020204030204" pitchFamily="34" charset="0"/>
                        </a:rPr>
                        <a:t>Liquids TV</a:t>
                      </a:r>
                    </a:p>
                  </a:txBody>
                  <a:tcPr marL="6350" marR="6350" marT="6350" marB="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IN" sz="1100" b="1" i="0" u="none" strike="noStrike" dirty="0">
                          <a:solidFill>
                            <a:srgbClr val="000000"/>
                          </a:solidFill>
                          <a:effectLst/>
                          <a:latin typeface="Calibri" panose="020F0502020204030204" pitchFamily="34" charset="0"/>
                        </a:rPr>
                        <a:t>YouTube </a:t>
                      </a:r>
                    </a:p>
                  </a:txBody>
                  <a:tcPr marL="6350" marR="6350" marT="6350" marB="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IN" sz="1100" b="1" i="0" u="none" strike="noStrike">
                          <a:solidFill>
                            <a:srgbClr val="000000"/>
                          </a:solidFill>
                          <a:effectLst/>
                          <a:latin typeface="Calibri" panose="020F0502020204030204" pitchFamily="34" charset="0"/>
                        </a:rPr>
                        <a:t>Digital Search </a:t>
                      </a:r>
                    </a:p>
                  </a:txBody>
                  <a:tcPr marL="6350" marR="6350" marT="6350" marB="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IN" sz="1100" b="1" i="0" u="none" strike="noStrike" dirty="0">
                          <a:solidFill>
                            <a:srgbClr val="000000"/>
                          </a:solidFill>
                          <a:effectLst/>
                          <a:latin typeface="Calibri" panose="020F0502020204030204" pitchFamily="34" charset="0"/>
                        </a:rPr>
                        <a:t>Facebook </a:t>
                      </a:r>
                    </a:p>
                  </a:txBody>
                  <a:tcPr marL="6350" marR="6350" marT="6350" marB="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IN" sz="1100" b="1" i="0" u="none" strike="noStrike" dirty="0">
                          <a:solidFill>
                            <a:srgbClr val="000000"/>
                          </a:solidFill>
                          <a:effectLst/>
                          <a:latin typeface="Calibri" panose="020F0502020204030204" pitchFamily="34" charset="0"/>
                        </a:rPr>
                        <a:t>Digital Display </a:t>
                      </a:r>
                    </a:p>
                  </a:txBody>
                  <a:tcPr marL="6350" marR="6350" marT="6350" marB="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711108942"/>
                  </a:ext>
                </a:extLst>
              </a:tr>
              <a:tr h="1990040">
                <a:tc>
                  <a:txBody>
                    <a:bodyPr/>
                    <a:lstStyle/>
                    <a:p>
                      <a:pPr algn="l" fontAlgn="ctr"/>
                      <a:endParaRPr lang="en-US" sz="1100" b="1" i="0" u="none" strike="noStrike" dirty="0">
                        <a:solidFill>
                          <a:schemeClr val="tx1"/>
                        </a:solidFill>
                        <a:effectLst/>
                        <a:latin typeface="Arial" panose="020B0604020202020204" pitchFamily="34" charset="0"/>
                      </a:endParaRPr>
                    </a:p>
                  </a:txBody>
                  <a:tcPr marL="3895" marR="3895" marT="3895" marB="0">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algn="l" rtl="0" fontAlgn="ctr"/>
                      <a:endParaRPr lang="en-US" sz="1100" b="1" i="0" u="none" strike="noStrike" dirty="0">
                        <a:solidFill>
                          <a:schemeClr val="tx1"/>
                        </a:solidFill>
                        <a:effectLst/>
                        <a:latin typeface="Arial" panose="020B0604020202020204" pitchFamily="34" charset="0"/>
                      </a:endParaRPr>
                    </a:p>
                  </a:txBody>
                  <a:tcPr marL="0" marR="3895" marT="0" marB="91440" vert="vert270" anchor="ctr">
                    <a:lnL w="12700" cap="flat" cmpd="sng" algn="ctr">
                      <a:solidFill>
                        <a:srgbClr val="FFFFFF"/>
                      </a:solidFill>
                      <a:prstDash val="solid"/>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no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algn="l" rtl="0" fontAlgn="ctr"/>
                      <a:endParaRPr lang="en-US" sz="1100" b="1" i="0" u="none" strike="noStrike" dirty="0">
                        <a:solidFill>
                          <a:schemeClr val="tx1"/>
                        </a:solidFill>
                        <a:effectLst/>
                        <a:latin typeface="Arial" panose="020B0604020202020204" pitchFamily="34" charset="0"/>
                      </a:endParaRPr>
                    </a:p>
                  </a:txBody>
                  <a:tcPr marL="0" marR="3895" marT="0" marB="9144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no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algn="l" rtl="0" fontAlgn="ctr"/>
                      <a:endParaRPr lang="en-US" sz="1100" b="1" i="0" u="none" strike="noStrike" dirty="0">
                        <a:solidFill>
                          <a:schemeClr val="tx1"/>
                        </a:solidFill>
                        <a:effectLst/>
                        <a:latin typeface="Arial" panose="020B0604020202020204" pitchFamily="34" charset="0"/>
                      </a:endParaRPr>
                    </a:p>
                  </a:txBody>
                  <a:tcPr marL="0" marR="3895" marT="0" marB="9144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no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algn="l" rtl="0" fontAlgn="ctr"/>
                      <a:endParaRPr lang="en-US" sz="1100" b="1" i="0" u="none" strike="noStrike" dirty="0">
                        <a:solidFill>
                          <a:schemeClr val="tx1"/>
                        </a:solidFill>
                        <a:effectLst/>
                        <a:latin typeface="Arial" panose="020B0604020202020204" pitchFamily="34" charset="0"/>
                      </a:endParaRPr>
                    </a:p>
                  </a:txBody>
                  <a:tcPr marL="0" marR="3895" marT="0" marB="9144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no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algn="l" rtl="0" fontAlgn="ctr"/>
                      <a:endParaRPr lang="en-US" sz="1100" b="1" i="0" u="none" strike="noStrike" dirty="0">
                        <a:solidFill>
                          <a:schemeClr val="tx1"/>
                        </a:solidFill>
                        <a:effectLst/>
                        <a:latin typeface="Arial" panose="020B0604020202020204" pitchFamily="34" charset="0"/>
                      </a:endParaRPr>
                    </a:p>
                  </a:txBody>
                  <a:tcPr marL="0" marR="3895" marT="0" marB="9144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no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algn="l" rtl="0" fontAlgn="ctr"/>
                      <a:endParaRPr lang="en-US" sz="1100" b="1" i="0" u="none" strike="noStrike" dirty="0">
                        <a:solidFill>
                          <a:schemeClr val="tx1"/>
                        </a:solidFill>
                        <a:effectLst/>
                        <a:latin typeface="Arial" panose="020B0604020202020204" pitchFamily="34" charset="0"/>
                      </a:endParaRPr>
                    </a:p>
                  </a:txBody>
                  <a:tcPr marL="0" marR="3895" marT="0" marB="9144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no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764976685"/>
                  </a:ext>
                </a:extLst>
              </a:tr>
              <a:tr h="214942">
                <a:tc>
                  <a:txBody>
                    <a:bodyPr/>
                    <a:lstStyle/>
                    <a:p>
                      <a:pPr algn="ctr" rtl="0" fontAlgn="ctr"/>
                      <a:r>
                        <a:rPr lang="en-US" sz="1100" b="1" i="0" u="none" strike="noStrike" dirty="0">
                          <a:solidFill>
                            <a:schemeClr val="bg1"/>
                          </a:solidFill>
                          <a:effectLst/>
                          <a:latin typeface="Arial" panose="020B0604020202020204" pitchFamily="34" charset="0"/>
                        </a:rPr>
                        <a:t>Spend (M)</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75000"/>
                      </a:schemeClr>
                    </a:solidFill>
                  </a:tcPr>
                </a:tc>
                <a:tc>
                  <a:txBody>
                    <a:bodyPr/>
                    <a:lstStyle/>
                    <a:p>
                      <a:pPr algn="ctr" rtl="0" fontAlgn="b"/>
                      <a:r>
                        <a:rPr lang="en-IN" sz="1000" b="0" i="0" u="none" strike="noStrike" dirty="0">
                          <a:solidFill>
                            <a:schemeClr val="bg1"/>
                          </a:solidFill>
                          <a:effectLst/>
                          <a:latin typeface="Arial" panose="020B0604020202020204" pitchFamily="34" charset="0"/>
                        </a:rPr>
                        <a:t>15.81</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75000"/>
                      </a:schemeClr>
                    </a:solidFill>
                  </a:tcPr>
                </a:tc>
                <a:tc>
                  <a:txBody>
                    <a:bodyPr/>
                    <a:lstStyle/>
                    <a:p>
                      <a:pPr algn="ctr" rtl="0" fontAlgn="b"/>
                      <a:r>
                        <a:rPr lang="en-IN" sz="1000" b="0" i="0" u="none" strike="noStrike" dirty="0">
                          <a:solidFill>
                            <a:schemeClr val="bg1"/>
                          </a:solidFill>
                          <a:effectLst/>
                          <a:latin typeface="Arial" panose="020B0604020202020204" pitchFamily="34" charset="0"/>
                        </a:rPr>
                        <a:t>12.28</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75000"/>
                      </a:schemeClr>
                    </a:solidFill>
                  </a:tcPr>
                </a:tc>
                <a:tc>
                  <a:txBody>
                    <a:bodyPr/>
                    <a:lstStyle/>
                    <a:p>
                      <a:pPr algn="ctr" rtl="0" fontAlgn="b"/>
                      <a:r>
                        <a:rPr lang="en-IN" sz="1000" b="0" i="0" u="none" strike="noStrike" dirty="0">
                          <a:solidFill>
                            <a:schemeClr val="bg1"/>
                          </a:solidFill>
                          <a:effectLst/>
                          <a:latin typeface="Arial" panose="020B0604020202020204" pitchFamily="34" charset="0"/>
                        </a:rPr>
                        <a:t>4.37</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75000"/>
                      </a:schemeClr>
                    </a:solidFill>
                  </a:tcPr>
                </a:tc>
                <a:tc>
                  <a:txBody>
                    <a:bodyPr/>
                    <a:lstStyle/>
                    <a:p>
                      <a:pPr algn="ctr" rtl="0" fontAlgn="b"/>
                      <a:r>
                        <a:rPr lang="en-IN" sz="1000" b="0" i="0" u="none" strike="noStrike" dirty="0">
                          <a:solidFill>
                            <a:schemeClr val="bg1"/>
                          </a:solidFill>
                          <a:effectLst/>
                          <a:latin typeface="Arial" panose="020B0604020202020204" pitchFamily="34" charset="0"/>
                        </a:rPr>
                        <a:t>3.56</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75000"/>
                      </a:schemeClr>
                    </a:solidFill>
                  </a:tcPr>
                </a:tc>
                <a:tc>
                  <a:txBody>
                    <a:bodyPr/>
                    <a:lstStyle/>
                    <a:p>
                      <a:pPr algn="ctr" rtl="0" fontAlgn="b"/>
                      <a:r>
                        <a:rPr lang="en-IN" sz="1000" b="0" i="0" u="none" strike="noStrike" dirty="0">
                          <a:solidFill>
                            <a:schemeClr val="bg1"/>
                          </a:solidFill>
                          <a:effectLst/>
                          <a:latin typeface="Arial" panose="020B0604020202020204" pitchFamily="34" charset="0"/>
                        </a:rPr>
                        <a:t>2.44</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75000"/>
                      </a:schemeClr>
                    </a:solidFill>
                  </a:tcPr>
                </a:tc>
                <a:tc>
                  <a:txBody>
                    <a:bodyPr/>
                    <a:lstStyle/>
                    <a:p>
                      <a:pPr algn="ctr" rtl="0" fontAlgn="b"/>
                      <a:r>
                        <a:rPr lang="en-IN" sz="1000" b="0" i="0" u="none" strike="noStrike" dirty="0">
                          <a:solidFill>
                            <a:schemeClr val="bg1"/>
                          </a:solidFill>
                          <a:effectLst/>
                          <a:latin typeface="Arial" panose="020B0604020202020204" pitchFamily="34" charset="0"/>
                        </a:rPr>
                        <a:t>1.56</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10382416"/>
                  </a:ext>
                </a:extLst>
              </a:tr>
            </a:tbl>
          </a:graphicData>
        </a:graphic>
      </p:graphicFrame>
      <p:sp>
        <p:nvSpPr>
          <p:cNvPr id="2" name="Title 1">
            <a:extLst>
              <a:ext uri="{FF2B5EF4-FFF2-40B4-BE49-F238E27FC236}">
                <a16:creationId xmlns:a16="http://schemas.microsoft.com/office/drawing/2014/main" id="{5200E680-DB64-4C99-D01D-A29B024D3845}"/>
              </a:ext>
            </a:extLst>
          </p:cNvPr>
          <p:cNvSpPr>
            <a:spLocks noGrp="1"/>
          </p:cNvSpPr>
          <p:nvPr>
            <p:ph type="title"/>
          </p:nvPr>
        </p:nvSpPr>
        <p:spPr>
          <a:xfrm>
            <a:off x="838200" y="-233589"/>
            <a:ext cx="10515600" cy="1325563"/>
          </a:xfrm>
        </p:spPr>
        <p:txBody>
          <a:bodyPr/>
          <a:lstStyle/>
          <a:p>
            <a:pPr algn="ctr"/>
            <a:r>
              <a:rPr lang="en-US" u="sng" dirty="0"/>
              <a:t>Value Sales Story</a:t>
            </a:r>
            <a:endParaRPr lang="en-IN" u="sng" dirty="0"/>
          </a:p>
        </p:txBody>
      </p:sp>
      <p:graphicFrame>
        <p:nvGraphicFramePr>
          <p:cNvPr id="11" name="Table 10">
            <a:extLst>
              <a:ext uri="{FF2B5EF4-FFF2-40B4-BE49-F238E27FC236}">
                <a16:creationId xmlns:a16="http://schemas.microsoft.com/office/drawing/2014/main" id="{7459DA96-6D48-3F50-6877-EC265238AF4D}"/>
              </a:ext>
            </a:extLst>
          </p:cNvPr>
          <p:cNvGraphicFramePr>
            <a:graphicFrameLocks noGrp="1"/>
          </p:cNvGraphicFramePr>
          <p:nvPr>
            <p:extLst>
              <p:ext uri="{D42A27DB-BD31-4B8C-83A1-F6EECF244321}">
                <p14:modId xmlns:p14="http://schemas.microsoft.com/office/powerpoint/2010/main" val="2701446503"/>
              </p:ext>
            </p:extLst>
          </p:nvPr>
        </p:nvGraphicFramePr>
        <p:xfrm>
          <a:off x="9165772" y="1002441"/>
          <a:ext cx="2917371" cy="3496220"/>
        </p:xfrm>
        <a:graphic>
          <a:graphicData uri="http://schemas.openxmlformats.org/drawingml/2006/table">
            <a:tbl>
              <a:tblPr firstRow="1" bandRow="1">
                <a:tableStyleId>{5C22544A-7EE6-4342-B048-85BDC9FD1C3A}</a:tableStyleId>
              </a:tblPr>
              <a:tblGrid>
                <a:gridCol w="972457">
                  <a:extLst>
                    <a:ext uri="{9D8B030D-6E8A-4147-A177-3AD203B41FA5}">
                      <a16:colId xmlns:a16="http://schemas.microsoft.com/office/drawing/2014/main" val="1404020698"/>
                    </a:ext>
                  </a:extLst>
                </a:gridCol>
                <a:gridCol w="972457">
                  <a:extLst>
                    <a:ext uri="{9D8B030D-6E8A-4147-A177-3AD203B41FA5}">
                      <a16:colId xmlns:a16="http://schemas.microsoft.com/office/drawing/2014/main" val="3750037176"/>
                    </a:ext>
                  </a:extLst>
                </a:gridCol>
                <a:gridCol w="972457">
                  <a:extLst>
                    <a:ext uri="{9D8B030D-6E8A-4147-A177-3AD203B41FA5}">
                      <a16:colId xmlns:a16="http://schemas.microsoft.com/office/drawing/2014/main" val="2431138727"/>
                    </a:ext>
                  </a:extLst>
                </a:gridCol>
              </a:tblGrid>
              <a:tr h="499460">
                <a:tc>
                  <a:txBody>
                    <a:bodyPr/>
                    <a:lstStyle/>
                    <a:p>
                      <a:pPr algn="ctr" fontAlgn="ctr">
                        <a:buNone/>
                      </a:pPr>
                      <a:r>
                        <a:rPr lang="en-US" sz="1100" b="1" i="0" u="none" strike="noStrike" dirty="0">
                          <a:solidFill>
                            <a:schemeClr val="bg1"/>
                          </a:solidFill>
                          <a:effectLst/>
                          <a:latin typeface="Google Sans Text"/>
                        </a:rPr>
                        <a:t>T</a:t>
                      </a:r>
                      <a:r>
                        <a:rPr lang="en-IN" sz="1100" b="1" i="0" u="none" strike="noStrike" dirty="0" err="1">
                          <a:solidFill>
                            <a:schemeClr val="bg1"/>
                          </a:solidFill>
                          <a:effectLst/>
                          <a:latin typeface="Google Sans Text"/>
                        </a:rPr>
                        <a:t>actics</a:t>
                      </a:r>
                      <a:endParaRPr lang="en-IN" sz="1100" b="1" i="0" u="none" strike="noStrike" dirty="0">
                        <a:solidFill>
                          <a:schemeClr val="bg1"/>
                        </a:solidFill>
                        <a:effectLst/>
                        <a:latin typeface="Google Sans Text"/>
                      </a:endParaRPr>
                    </a:p>
                  </a:txBody>
                  <a:tcPr marL="95250" marR="6350" marT="6350" marB="0" anchor="ctr"/>
                </a:tc>
                <a:tc>
                  <a:txBody>
                    <a:bodyPr/>
                    <a:lstStyle/>
                    <a:p>
                      <a:pPr algn="ctr" fontAlgn="ctr">
                        <a:buNone/>
                      </a:pPr>
                      <a:r>
                        <a:rPr lang="en-IN" sz="1100" b="1" i="0" u="none" strike="noStrike" dirty="0">
                          <a:solidFill>
                            <a:schemeClr val="bg1"/>
                          </a:solidFill>
                          <a:effectLst/>
                          <a:latin typeface="Google Sans Text"/>
                        </a:rPr>
                        <a:t>CPM</a:t>
                      </a:r>
                    </a:p>
                  </a:txBody>
                  <a:tcPr marL="95250" marR="6350" marT="6350" marB="0" anchor="ctr"/>
                </a:tc>
                <a:tc>
                  <a:txBody>
                    <a:bodyPr/>
                    <a:lstStyle/>
                    <a:p>
                      <a:pPr algn="ctr" fontAlgn="ctr">
                        <a:buNone/>
                      </a:pPr>
                      <a:r>
                        <a:rPr lang="en-IN" sz="1100" b="1" i="0" u="none" strike="noStrike" dirty="0">
                          <a:solidFill>
                            <a:schemeClr val="bg1"/>
                          </a:solidFill>
                          <a:effectLst/>
                          <a:latin typeface="Google Sans Text"/>
                        </a:rPr>
                        <a:t>Effectiveness</a:t>
                      </a:r>
                    </a:p>
                  </a:txBody>
                  <a:tcPr marL="95250" marR="6350" marT="6350" marB="0" anchor="ctr"/>
                </a:tc>
                <a:extLst>
                  <a:ext uri="{0D108BD9-81ED-4DB2-BD59-A6C34878D82A}">
                    <a16:rowId xmlns:a16="http://schemas.microsoft.com/office/drawing/2014/main" val="1019191754"/>
                  </a:ext>
                </a:extLst>
              </a:tr>
              <a:tr h="499460">
                <a:tc>
                  <a:txBody>
                    <a:bodyPr/>
                    <a:lstStyle/>
                    <a:p>
                      <a:pPr algn="ctr" fontAlgn="ctr">
                        <a:buNone/>
                      </a:pPr>
                      <a:r>
                        <a:rPr lang="en-IN" sz="1100" b="1" i="0" u="none" strike="noStrike" dirty="0">
                          <a:solidFill>
                            <a:srgbClr val="1B1C1D"/>
                          </a:solidFill>
                          <a:effectLst/>
                          <a:latin typeface="Google Sans Text"/>
                        </a:rPr>
                        <a:t>Powder TV</a:t>
                      </a:r>
                    </a:p>
                  </a:txBody>
                  <a:tcPr marL="95250" marR="6350" marT="6350" marB="0" anchor="ctr"/>
                </a:tc>
                <a:tc>
                  <a:txBody>
                    <a:bodyPr/>
                    <a:lstStyle/>
                    <a:p>
                      <a:pPr algn="ctr" fontAlgn="ctr">
                        <a:buNone/>
                      </a:pPr>
                      <a:r>
                        <a:rPr lang="en-IN" sz="1100" b="1" i="0" u="none" strike="noStrike" dirty="0">
                          <a:solidFill>
                            <a:srgbClr val="1B1C1D"/>
                          </a:solidFill>
                          <a:effectLst/>
                          <a:latin typeface="Google Sans Text"/>
                        </a:rPr>
                        <a:t>               303.05 </a:t>
                      </a:r>
                    </a:p>
                  </a:txBody>
                  <a:tcPr marL="95250" marR="6350" marT="6350" marB="0" anchor="ctr"/>
                </a:tc>
                <a:tc>
                  <a:txBody>
                    <a:bodyPr/>
                    <a:lstStyle/>
                    <a:p>
                      <a:pPr algn="ctr" fontAlgn="ctr">
                        <a:buNone/>
                      </a:pPr>
                      <a:r>
                        <a:rPr lang="en-US" sz="1100" b="1" i="0" u="none" strike="noStrike" dirty="0">
                          <a:solidFill>
                            <a:srgbClr val="1B1C1D"/>
                          </a:solidFill>
                          <a:effectLst/>
                          <a:latin typeface="Google Sans Text"/>
                        </a:rPr>
                        <a:t>656.11</a:t>
                      </a:r>
                      <a:endParaRPr lang="en-IN" sz="1100" b="1" i="0" u="none" strike="noStrike" dirty="0">
                        <a:solidFill>
                          <a:srgbClr val="1B1C1D"/>
                        </a:solidFill>
                        <a:effectLst/>
                        <a:latin typeface="Google Sans Text"/>
                      </a:endParaRPr>
                    </a:p>
                  </a:txBody>
                  <a:tcPr marL="95250" marR="6350" marT="6350" marB="0" anchor="ctr"/>
                </a:tc>
                <a:extLst>
                  <a:ext uri="{0D108BD9-81ED-4DB2-BD59-A6C34878D82A}">
                    <a16:rowId xmlns:a16="http://schemas.microsoft.com/office/drawing/2014/main" val="3710815317"/>
                  </a:ext>
                </a:extLst>
              </a:tr>
              <a:tr h="499460">
                <a:tc>
                  <a:txBody>
                    <a:bodyPr/>
                    <a:lstStyle/>
                    <a:p>
                      <a:pPr algn="ctr" fontAlgn="ctr">
                        <a:buNone/>
                      </a:pPr>
                      <a:r>
                        <a:rPr lang="en-IN" sz="1100" b="1" i="0" u="none" strike="noStrike" dirty="0">
                          <a:solidFill>
                            <a:srgbClr val="1B1C1D"/>
                          </a:solidFill>
                          <a:effectLst/>
                          <a:latin typeface="Google Sans Text"/>
                        </a:rPr>
                        <a:t>Liquids TV</a:t>
                      </a:r>
                    </a:p>
                  </a:txBody>
                  <a:tcPr marL="95250" marR="6350" marT="6350" marB="0" anchor="ctr"/>
                </a:tc>
                <a:tc>
                  <a:txBody>
                    <a:bodyPr/>
                    <a:lstStyle/>
                    <a:p>
                      <a:pPr algn="ctr" fontAlgn="ctr">
                        <a:buNone/>
                      </a:pPr>
                      <a:r>
                        <a:rPr lang="en-IN" sz="1100" b="1" i="0" u="none" strike="noStrike" dirty="0">
                          <a:solidFill>
                            <a:srgbClr val="1B1C1D"/>
                          </a:solidFill>
                          <a:effectLst/>
                          <a:latin typeface="Google Sans Text"/>
                        </a:rPr>
                        <a:t>               390.87</a:t>
                      </a:r>
                    </a:p>
                  </a:txBody>
                  <a:tcPr marL="95250" marR="6350" marT="6350" marB="0" anchor="ctr"/>
                </a:tc>
                <a:tc>
                  <a:txBody>
                    <a:bodyPr/>
                    <a:lstStyle/>
                    <a:p>
                      <a:pPr algn="ctr" fontAlgn="ctr">
                        <a:buNone/>
                      </a:pPr>
                      <a:r>
                        <a:rPr lang="en-US" sz="1100" b="1" i="0" u="none" strike="noStrike" dirty="0">
                          <a:solidFill>
                            <a:srgbClr val="1B1C1D"/>
                          </a:solidFill>
                          <a:effectLst/>
                          <a:latin typeface="Google Sans Text"/>
                        </a:rPr>
                        <a:t>497.79</a:t>
                      </a:r>
                      <a:endParaRPr lang="en-IN" sz="1100" b="1" i="0" u="none" strike="noStrike" dirty="0">
                        <a:solidFill>
                          <a:srgbClr val="1B1C1D"/>
                        </a:solidFill>
                        <a:effectLst/>
                        <a:latin typeface="Google Sans Text"/>
                      </a:endParaRPr>
                    </a:p>
                  </a:txBody>
                  <a:tcPr marL="95250" marR="6350" marT="6350" marB="0" anchor="ctr"/>
                </a:tc>
                <a:extLst>
                  <a:ext uri="{0D108BD9-81ED-4DB2-BD59-A6C34878D82A}">
                    <a16:rowId xmlns:a16="http://schemas.microsoft.com/office/drawing/2014/main" val="3277031533"/>
                  </a:ext>
                </a:extLst>
              </a:tr>
              <a:tr h="499460">
                <a:tc>
                  <a:txBody>
                    <a:bodyPr/>
                    <a:lstStyle/>
                    <a:p>
                      <a:pPr algn="ctr" fontAlgn="ctr">
                        <a:buNone/>
                      </a:pPr>
                      <a:r>
                        <a:rPr lang="en-IN" sz="1100" b="1" i="0" u="none" strike="noStrike" dirty="0">
                          <a:solidFill>
                            <a:srgbClr val="1B1C1D"/>
                          </a:solidFill>
                          <a:effectLst/>
                          <a:latin typeface="Google Sans Text"/>
                        </a:rPr>
                        <a:t>Digital Display</a:t>
                      </a:r>
                    </a:p>
                  </a:txBody>
                  <a:tcPr marL="95250" marR="6350" marT="6350" marB="0" anchor="ctr"/>
                </a:tc>
                <a:tc>
                  <a:txBody>
                    <a:bodyPr/>
                    <a:lstStyle/>
                    <a:p>
                      <a:pPr algn="l" fontAlgn="ctr">
                        <a:buNone/>
                      </a:pPr>
                      <a:r>
                        <a:rPr lang="en-IN" sz="1100" b="1" i="0" u="none" strike="noStrike" dirty="0">
                          <a:solidFill>
                            <a:srgbClr val="1B1C1D"/>
                          </a:solidFill>
                          <a:effectLst/>
                          <a:latin typeface="Google Sans Text"/>
                        </a:rPr>
                        <a:t>        48.15 </a:t>
                      </a:r>
                    </a:p>
                  </a:txBody>
                  <a:tcPr marL="95250" marR="6350" marT="6350" marB="0" anchor="ctr"/>
                </a:tc>
                <a:tc>
                  <a:txBody>
                    <a:bodyPr/>
                    <a:lstStyle/>
                    <a:p>
                      <a:pPr algn="ctr" fontAlgn="ctr">
                        <a:buNone/>
                      </a:pPr>
                      <a:r>
                        <a:rPr lang="en-US" sz="1100" b="1" i="0" u="none" strike="noStrike" dirty="0">
                          <a:solidFill>
                            <a:srgbClr val="1B1C1D"/>
                          </a:solidFill>
                          <a:effectLst/>
                          <a:latin typeface="Google Sans Text"/>
                        </a:rPr>
                        <a:t>392.55</a:t>
                      </a:r>
                      <a:endParaRPr lang="en-IN" sz="1100" b="1" i="0" u="none" strike="noStrike" dirty="0">
                        <a:solidFill>
                          <a:srgbClr val="1B1C1D"/>
                        </a:solidFill>
                        <a:effectLst/>
                        <a:latin typeface="Google Sans Text"/>
                      </a:endParaRPr>
                    </a:p>
                  </a:txBody>
                  <a:tcPr marL="95250" marR="6350" marT="6350" marB="0" anchor="ctr"/>
                </a:tc>
                <a:extLst>
                  <a:ext uri="{0D108BD9-81ED-4DB2-BD59-A6C34878D82A}">
                    <a16:rowId xmlns:a16="http://schemas.microsoft.com/office/drawing/2014/main" val="313475844"/>
                  </a:ext>
                </a:extLst>
              </a:tr>
              <a:tr h="499460">
                <a:tc>
                  <a:txBody>
                    <a:bodyPr/>
                    <a:lstStyle/>
                    <a:p>
                      <a:pPr algn="ctr" fontAlgn="ctr">
                        <a:buNone/>
                      </a:pPr>
                      <a:r>
                        <a:rPr lang="en-IN" sz="1100" b="1" i="0" u="none" strike="noStrike" dirty="0">
                          <a:solidFill>
                            <a:srgbClr val="1B1C1D"/>
                          </a:solidFill>
                          <a:effectLst/>
                          <a:latin typeface="Google Sans Text"/>
                        </a:rPr>
                        <a:t>Facebook</a:t>
                      </a:r>
                    </a:p>
                  </a:txBody>
                  <a:tcPr marL="95250" marR="6350" marT="6350" marB="0" anchor="ctr"/>
                </a:tc>
                <a:tc>
                  <a:txBody>
                    <a:bodyPr/>
                    <a:lstStyle/>
                    <a:p>
                      <a:pPr algn="l" fontAlgn="ctr">
                        <a:buNone/>
                      </a:pPr>
                      <a:r>
                        <a:rPr lang="en-IN" sz="1100" b="1" i="0" u="none" strike="noStrike" dirty="0">
                          <a:solidFill>
                            <a:srgbClr val="1B1C1D"/>
                          </a:solidFill>
                          <a:effectLst/>
                          <a:latin typeface="Google Sans Text"/>
                        </a:rPr>
                        <a:t>         53.18 </a:t>
                      </a:r>
                    </a:p>
                  </a:txBody>
                  <a:tcPr marL="95250" marR="6350" marT="6350" marB="0" anchor="ctr"/>
                </a:tc>
                <a:tc>
                  <a:txBody>
                    <a:bodyPr/>
                    <a:lstStyle/>
                    <a:p>
                      <a:pPr algn="ctr" fontAlgn="ctr">
                        <a:buNone/>
                      </a:pPr>
                      <a:r>
                        <a:rPr lang="en-US" sz="1100" b="1" i="0" u="none" strike="noStrike" dirty="0">
                          <a:solidFill>
                            <a:srgbClr val="1B1C1D"/>
                          </a:solidFill>
                          <a:effectLst/>
                          <a:latin typeface="Google Sans Text"/>
                        </a:rPr>
                        <a:t>735.24</a:t>
                      </a:r>
                      <a:endParaRPr lang="en-IN" sz="1100" b="1" i="0" u="none" strike="noStrike" dirty="0">
                        <a:solidFill>
                          <a:srgbClr val="1B1C1D"/>
                        </a:solidFill>
                        <a:effectLst/>
                        <a:latin typeface="Google Sans Text"/>
                      </a:endParaRPr>
                    </a:p>
                  </a:txBody>
                  <a:tcPr marL="95250" marR="6350" marT="6350" marB="0" anchor="ctr"/>
                </a:tc>
                <a:extLst>
                  <a:ext uri="{0D108BD9-81ED-4DB2-BD59-A6C34878D82A}">
                    <a16:rowId xmlns:a16="http://schemas.microsoft.com/office/drawing/2014/main" val="3393000765"/>
                  </a:ext>
                </a:extLst>
              </a:tr>
              <a:tr h="499460">
                <a:tc>
                  <a:txBody>
                    <a:bodyPr/>
                    <a:lstStyle/>
                    <a:p>
                      <a:pPr algn="ctr" fontAlgn="ctr">
                        <a:buNone/>
                      </a:pPr>
                      <a:r>
                        <a:rPr lang="en-IN" sz="1100" b="1" i="0" u="none" strike="noStrike" dirty="0">
                          <a:solidFill>
                            <a:srgbClr val="1B1C1D"/>
                          </a:solidFill>
                          <a:effectLst/>
                          <a:latin typeface="Google Sans Text"/>
                        </a:rPr>
                        <a:t>Digital Search</a:t>
                      </a:r>
                    </a:p>
                  </a:txBody>
                  <a:tcPr marL="95250" marR="6350" marT="6350" marB="0" anchor="ctr"/>
                </a:tc>
                <a:tc>
                  <a:txBody>
                    <a:bodyPr/>
                    <a:lstStyle/>
                    <a:p>
                      <a:pPr algn="l" fontAlgn="ctr">
                        <a:buNone/>
                      </a:pPr>
                      <a:r>
                        <a:rPr lang="en-IN" sz="1100" b="1" i="0" u="none" strike="noStrike" dirty="0">
                          <a:solidFill>
                            <a:srgbClr val="1B1C1D"/>
                          </a:solidFill>
                          <a:effectLst/>
                          <a:latin typeface="Google Sans Text"/>
                        </a:rPr>
                        <a:t>         60.39 </a:t>
                      </a:r>
                    </a:p>
                  </a:txBody>
                  <a:tcPr marL="95250" marR="6350" marT="6350" marB="0" anchor="ctr"/>
                </a:tc>
                <a:tc>
                  <a:txBody>
                    <a:bodyPr/>
                    <a:lstStyle/>
                    <a:p>
                      <a:pPr algn="ctr" fontAlgn="ctr">
                        <a:buNone/>
                      </a:pPr>
                      <a:r>
                        <a:rPr lang="en-US" sz="1100" b="1" i="0" u="none" strike="noStrike" dirty="0">
                          <a:solidFill>
                            <a:srgbClr val="1B1C1D"/>
                          </a:solidFill>
                          <a:effectLst/>
                          <a:latin typeface="Google Sans Text"/>
                        </a:rPr>
                        <a:t>648.27</a:t>
                      </a:r>
                      <a:endParaRPr lang="en-IN" sz="1100" b="1" i="0" u="none" strike="noStrike" dirty="0">
                        <a:solidFill>
                          <a:srgbClr val="1B1C1D"/>
                        </a:solidFill>
                        <a:effectLst/>
                        <a:latin typeface="Google Sans Text"/>
                      </a:endParaRPr>
                    </a:p>
                  </a:txBody>
                  <a:tcPr marL="95250" marR="6350" marT="6350" marB="0" anchor="ctr"/>
                </a:tc>
                <a:extLst>
                  <a:ext uri="{0D108BD9-81ED-4DB2-BD59-A6C34878D82A}">
                    <a16:rowId xmlns:a16="http://schemas.microsoft.com/office/drawing/2014/main" val="1724713929"/>
                  </a:ext>
                </a:extLst>
              </a:tr>
              <a:tr h="499460">
                <a:tc>
                  <a:txBody>
                    <a:bodyPr/>
                    <a:lstStyle/>
                    <a:p>
                      <a:pPr algn="ctr" fontAlgn="ctr">
                        <a:buNone/>
                      </a:pPr>
                      <a:r>
                        <a:rPr lang="en-IN" sz="1100" b="1" i="0" u="none" strike="noStrike" dirty="0">
                          <a:solidFill>
                            <a:srgbClr val="1B1C1D"/>
                          </a:solidFill>
                          <a:effectLst/>
                          <a:latin typeface="Google Sans Text"/>
                        </a:rPr>
                        <a:t>YouTube</a:t>
                      </a:r>
                    </a:p>
                  </a:txBody>
                  <a:tcPr marL="95250" marR="6350" marT="6350" marB="0" anchor="ctr"/>
                </a:tc>
                <a:tc>
                  <a:txBody>
                    <a:bodyPr/>
                    <a:lstStyle/>
                    <a:p>
                      <a:pPr algn="l" fontAlgn="ctr">
                        <a:buNone/>
                      </a:pPr>
                      <a:r>
                        <a:rPr lang="en-IN" sz="1100" b="1" i="0" u="none" strike="noStrike" dirty="0">
                          <a:solidFill>
                            <a:srgbClr val="1B1C1D"/>
                          </a:solidFill>
                          <a:effectLst/>
                          <a:latin typeface="Google Sans Text"/>
                        </a:rPr>
                        <a:t>         59.95 </a:t>
                      </a:r>
                    </a:p>
                  </a:txBody>
                  <a:tcPr marL="95250" marR="6350" marT="6350" marB="0" anchor="ctr"/>
                </a:tc>
                <a:tc>
                  <a:txBody>
                    <a:bodyPr/>
                    <a:lstStyle/>
                    <a:p>
                      <a:pPr algn="ctr" fontAlgn="ctr">
                        <a:buNone/>
                      </a:pPr>
                      <a:r>
                        <a:rPr lang="en-US" sz="1100" b="1" i="0" u="none" strike="noStrike" dirty="0">
                          <a:solidFill>
                            <a:srgbClr val="1B1C1D"/>
                          </a:solidFill>
                          <a:effectLst/>
                          <a:latin typeface="Google Sans Text"/>
                        </a:rPr>
                        <a:t>944.45</a:t>
                      </a:r>
                      <a:endParaRPr lang="en-IN" sz="1100" b="1" i="0" u="none" strike="noStrike" dirty="0">
                        <a:solidFill>
                          <a:srgbClr val="1B1C1D"/>
                        </a:solidFill>
                        <a:effectLst/>
                        <a:latin typeface="Google Sans Text"/>
                      </a:endParaRPr>
                    </a:p>
                  </a:txBody>
                  <a:tcPr marL="95250" marR="6350" marT="6350" marB="0" anchor="ctr"/>
                </a:tc>
                <a:extLst>
                  <a:ext uri="{0D108BD9-81ED-4DB2-BD59-A6C34878D82A}">
                    <a16:rowId xmlns:a16="http://schemas.microsoft.com/office/drawing/2014/main" val="3748912491"/>
                  </a:ext>
                </a:extLst>
              </a:tr>
            </a:tbl>
          </a:graphicData>
        </a:graphic>
      </p:graphicFrame>
      <p:sp>
        <p:nvSpPr>
          <p:cNvPr id="12" name="TextBox 11">
            <a:extLst>
              <a:ext uri="{FF2B5EF4-FFF2-40B4-BE49-F238E27FC236}">
                <a16:creationId xmlns:a16="http://schemas.microsoft.com/office/drawing/2014/main" id="{4B04B148-AD39-376D-39C1-CAAA746F1D81}"/>
              </a:ext>
            </a:extLst>
          </p:cNvPr>
          <p:cNvSpPr txBox="1"/>
          <p:nvPr/>
        </p:nvSpPr>
        <p:spPr>
          <a:xfrm>
            <a:off x="239486" y="4931229"/>
            <a:ext cx="11843657" cy="1754326"/>
          </a:xfrm>
          <a:prstGeom prst="rect">
            <a:avLst/>
          </a:prstGeom>
          <a:noFill/>
        </p:spPr>
        <p:txBody>
          <a:bodyPr wrap="square" rtlCol="0">
            <a:spAutoFit/>
          </a:bodyPr>
          <a:lstStyle/>
          <a:p>
            <a:endParaRPr lang="en-IN" sz="1200" dirty="0"/>
          </a:p>
          <a:p>
            <a:pPr marL="171450" indent="-171450">
              <a:buFont typeface="Arial" panose="020B0604020202020204" pitchFamily="34" charset="0"/>
              <a:buChar char="•"/>
            </a:pPr>
            <a:r>
              <a:rPr lang="en-IN" sz="1200" dirty="0"/>
              <a:t>YouTube generates the highest sales with low spend indicating highest impact. Digital Display displays the lowest sales with lowest spend indicating lowest impact.</a:t>
            </a:r>
          </a:p>
          <a:p>
            <a:pPr marL="171450" indent="-171450">
              <a:buFont typeface="Arial" panose="020B0604020202020204" pitchFamily="34" charset="0"/>
              <a:buChar char="•"/>
            </a:pPr>
            <a:r>
              <a:rPr lang="en-IN" sz="1200" dirty="0"/>
              <a:t>The CPM for all digital channels is exceptionally low, ranging from 48 to 60, which is a lot lower than the CPM for TV(303 to 391). This indicates that digital platforms are far more cost-efficient in reaching a target audience. The high Effectiveness metrics for channels like YouTube (944) and Facebook (735) suggest that not only is it cheaper to reach an audience through these channels, but that audience is also more receptive to the advertising message and more likely to convert to a sale. </a:t>
            </a:r>
            <a:r>
              <a:rPr lang="en-IN" sz="1200" b="1" dirty="0"/>
              <a:t>The combination of low cost and high effectiveness is the dual engine driving the exceptional returns of digital media.</a:t>
            </a:r>
            <a:r>
              <a:rPr lang="en-IN" sz="1200" dirty="0"/>
              <a:t> </a:t>
            </a:r>
            <a:r>
              <a:rPr lang="en-IN" sz="1200" b="1" dirty="0"/>
              <a:t>While Digital Display has a high ROI, its lower effectiveness(392) suggests its primary value may lie in awareness and reach, rather than direct conversion. Higher costs and lower effectiveness in TV results in driving more awareness and reach compared to sales conversion.</a:t>
            </a:r>
          </a:p>
          <a:p>
            <a:endParaRPr lang="en-IN" sz="1200" dirty="0"/>
          </a:p>
        </p:txBody>
      </p:sp>
    </p:spTree>
    <p:extLst>
      <p:ext uri="{BB962C8B-B14F-4D97-AF65-F5344CB8AC3E}">
        <p14:creationId xmlns:p14="http://schemas.microsoft.com/office/powerpoint/2010/main" val="2234147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FFFF2-312E-C9CB-FA7B-66318530171A}"/>
              </a:ext>
            </a:extLst>
          </p:cNvPr>
          <p:cNvSpPr>
            <a:spLocks noGrp="1"/>
          </p:cNvSpPr>
          <p:nvPr>
            <p:ph type="title"/>
          </p:nvPr>
        </p:nvSpPr>
        <p:spPr>
          <a:xfrm>
            <a:off x="838200" y="-233589"/>
            <a:ext cx="10515600" cy="1325563"/>
          </a:xfrm>
        </p:spPr>
        <p:txBody>
          <a:bodyPr/>
          <a:lstStyle/>
          <a:p>
            <a:pPr algn="ctr"/>
            <a:r>
              <a:rPr lang="en-US" u="sng" dirty="0"/>
              <a:t>ROAS Story</a:t>
            </a:r>
            <a:endParaRPr lang="en-IN" u="sng" dirty="0"/>
          </a:p>
        </p:txBody>
      </p:sp>
      <p:graphicFrame>
        <p:nvGraphicFramePr>
          <p:cNvPr id="4" name="Content Placeholder 3">
            <a:extLst>
              <a:ext uri="{FF2B5EF4-FFF2-40B4-BE49-F238E27FC236}">
                <a16:creationId xmlns:a16="http://schemas.microsoft.com/office/drawing/2014/main" id="{9056828C-B0F8-1D20-47D5-88A9840BBEE9}"/>
              </a:ext>
            </a:extLst>
          </p:cNvPr>
          <p:cNvGraphicFramePr>
            <a:graphicFrameLocks noGrp="1"/>
          </p:cNvGraphicFramePr>
          <p:nvPr>
            <p:ph idx="1"/>
            <p:extLst>
              <p:ext uri="{D42A27DB-BD31-4B8C-83A1-F6EECF244321}">
                <p14:modId xmlns:p14="http://schemas.microsoft.com/office/powerpoint/2010/main" val="2439805245"/>
              </p:ext>
            </p:extLst>
          </p:nvPr>
        </p:nvGraphicFramePr>
        <p:xfrm>
          <a:off x="119743" y="828788"/>
          <a:ext cx="8577943" cy="4091555"/>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CE001D3F-6092-EB09-8057-E5AC2A184B28}"/>
              </a:ext>
            </a:extLst>
          </p:cNvPr>
          <p:cNvSpPr txBox="1"/>
          <p:nvPr/>
        </p:nvSpPr>
        <p:spPr>
          <a:xfrm>
            <a:off x="228599" y="4920343"/>
            <a:ext cx="11005457" cy="2308324"/>
          </a:xfrm>
          <a:prstGeom prst="rect">
            <a:avLst/>
          </a:prstGeom>
          <a:noFill/>
        </p:spPr>
        <p:txBody>
          <a:bodyPr wrap="square" rtlCol="0">
            <a:spAutoFit/>
          </a:bodyPr>
          <a:lstStyle/>
          <a:p>
            <a:pPr marL="285750" indent="-285750">
              <a:buFont typeface="Arial" panose="020B0604020202020204" pitchFamily="34" charset="0"/>
              <a:buChar char="•"/>
            </a:pPr>
            <a:r>
              <a:rPr lang="en-IN" dirty="0"/>
              <a:t> The most striking finding is that </a:t>
            </a:r>
            <a:r>
              <a:rPr lang="en-IN" b="1" dirty="0"/>
              <a:t>higher ROAS of digital media compared to traditional media as overall spend is less in digital media</a:t>
            </a:r>
            <a:r>
              <a:rPr lang="en-IN" dirty="0"/>
              <a:t>. </a:t>
            </a:r>
          </a:p>
          <a:p>
            <a:pPr marL="285750" indent="-285750">
              <a:buFont typeface="Arial" panose="020B0604020202020204" pitchFamily="34" charset="0"/>
              <a:buChar char="•"/>
            </a:pPr>
            <a:r>
              <a:rPr lang="en-IN" dirty="0"/>
              <a:t>YouTube investments generated highest ROAS of 15.75, followed closely by Facebook at 13.83 and Digital Search at 10.73.</a:t>
            </a:r>
          </a:p>
          <a:p>
            <a:pPr marL="285750" indent="-285750">
              <a:buFont typeface="Arial" panose="020B0604020202020204" pitchFamily="34" charset="0"/>
              <a:buChar char="•"/>
            </a:pPr>
            <a:r>
              <a:rPr lang="en-IN" dirty="0"/>
              <a:t> In contrast, </a:t>
            </a:r>
            <a:r>
              <a:rPr lang="en-IN" b="1" dirty="0"/>
              <a:t>television investments yielded significantly lower ROAS</a:t>
            </a:r>
            <a:r>
              <a:rPr lang="en-IN" dirty="0"/>
              <a:t>, with </a:t>
            </a:r>
            <a:r>
              <a:rPr lang="en-IN" b="1" dirty="0"/>
              <a:t>Powder TV at 2.17 which is higher than Liquids TV at 1.27 as </a:t>
            </a:r>
            <a:r>
              <a:rPr lang="en-US" b="1" dirty="0"/>
              <a:t>TV investments towards promoting Liquids have been increased in the last year</a:t>
            </a:r>
            <a:r>
              <a:rPr lang="en-IN" b="1" dirty="0"/>
              <a:t>. </a:t>
            </a:r>
          </a:p>
          <a:p>
            <a:endParaRPr lang="en-IN" dirty="0"/>
          </a:p>
        </p:txBody>
      </p:sp>
      <p:sp>
        <p:nvSpPr>
          <p:cNvPr id="7" name="TextBox 6">
            <a:extLst>
              <a:ext uri="{FF2B5EF4-FFF2-40B4-BE49-F238E27FC236}">
                <a16:creationId xmlns:a16="http://schemas.microsoft.com/office/drawing/2014/main" id="{9C1B50E4-9ED4-9AA5-F0DB-0AAFCD7B5FB0}"/>
              </a:ext>
            </a:extLst>
          </p:cNvPr>
          <p:cNvSpPr txBox="1"/>
          <p:nvPr/>
        </p:nvSpPr>
        <p:spPr>
          <a:xfrm>
            <a:off x="193172" y="4704899"/>
            <a:ext cx="6515133" cy="261610"/>
          </a:xfrm>
          <a:prstGeom prst="rect">
            <a:avLst/>
          </a:prstGeom>
          <a:noFill/>
        </p:spPr>
        <p:txBody>
          <a:bodyPr wrap="square" rtlCol="0">
            <a:spAutoFit/>
          </a:bodyPr>
          <a:lstStyle/>
          <a:p>
            <a:r>
              <a:rPr lang="en-US" sz="1100" dirty="0"/>
              <a:t>Note that the Size of the bubble depicts value sales generated by the respective media tactics </a:t>
            </a:r>
          </a:p>
        </p:txBody>
      </p:sp>
    </p:spTree>
    <p:extLst>
      <p:ext uri="{BB962C8B-B14F-4D97-AF65-F5344CB8AC3E}">
        <p14:creationId xmlns:p14="http://schemas.microsoft.com/office/powerpoint/2010/main" val="843552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B1441-F7AF-158D-6C39-AFE571730F11}"/>
              </a:ext>
            </a:extLst>
          </p:cNvPr>
          <p:cNvSpPr>
            <a:spLocks noGrp="1"/>
          </p:cNvSpPr>
          <p:nvPr>
            <p:ph type="title"/>
          </p:nvPr>
        </p:nvSpPr>
        <p:spPr/>
        <p:txBody>
          <a:bodyPr>
            <a:normAutofit/>
          </a:bodyPr>
          <a:lstStyle/>
          <a:p>
            <a:pPr algn="ctr"/>
            <a:r>
              <a:rPr lang="en-US" sz="4000" b="1" u="sng" dirty="0"/>
              <a:t>Analysis of Marketing Drivers and Their Impact</a:t>
            </a:r>
            <a:endParaRPr lang="en-IN" sz="4000" u="sng" dirty="0"/>
          </a:p>
        </p:txBody>
      </p:sp>
      <p:sp>
        <p:nvSpPr>
          <p:cNvPr id="3" name="Content Placeholder 2">
            <a:extLst>
              <a:ext uri="{FF2B5EF4-FFF2-40B4-BE49-F238E27FC236}">
                <a16:creationId xmlns:a16="http://schemas.microsoft.com/office/drawing/2014/main" id="{023DF419-9C4A-81B8-DB16-AE3CF4E4181E}"/>
              </a:ext>
            </a:extLst>
          </p:cNvPr>
          <p:cNvSpPr>
            <a:spLocks noGrp="1"/>
          </p:cNvSpPr>
          <p:nvPr>
            <p:ph idx="1"/>
          </p:nvPr>
        </p:nvSpPr>
        <p:spPr>
          <a:xfrm>
            <a:off x="838200" y="1411968"/>
            <a:ext cx="10515600" cy="4351338"/>
          </a:xfrm>
        </p:spPr>
        <p:txBody>
          <a:bodyPr>
            <a:noAutofit/>
          </a:bodyPr>
          <a:lstStyle/>
          <a:p>
            <a:r>
              <a:rPr lang="en-US" sz="2000" b="1" u="sng" dirty="0"/>
              <a:t>Own Price: </a:t>
            </a:r>
            <a:r>
              <a:rPr lang="en-US" sz="1400" dirty="0"/>
              <a:t>The overall price elasticity for Brand X is measured at −0.9. This confirms that </a:t>
            </a:r>
            <a:r>
              <a:rPr lang="en-US" sz="1400" b="1" dirty="0"/>
              <a:t>consumers are moderately responsive to price adjustments</a:t>
            </a:r>
            <a:r>
              <a:rPr lang="en-US" sz="1400" dirty="0"/>
              <a:t>, </a:t>
            </a:r>
            <a:r>
              <a:rPr lang="en-US" sz="1400" b="1" dirty="0"/>
              <a:t>necessitating a carefully considered pricing strategy.</a:t>
            </a:r>
            <a:endParaRPr lang="en-US" sz="1400" b="1" dirty="0">
              <a:effectLst/>
            </a:endParaRPr>
          </a:p>
          <a:p>
            <a:r>
              <a:rPr lang="en-US" sz="1400" dirty="0"/>
              <a:t>The most nuanced and actionable items lies in the outlet and format-specific price impacts.</a:t>
            </a:r>
            <a:endParaRPr lang="en-US" sz="1400" b="0" dirty="0">
              <a:effectLst/>
            </a:endParaRPr>
          </a:p>
          <a:p>
            <a:pPr marL="800100" lvl="1" indent="-342900" fontAlgn="base">
              <a:buFont typeface="+mj-lt"/>
              <a:buAutoNum type="arabicPeriod"/>
            </a:pPr>
            <a:r>
              <a:rPr lang="en-US" sz="1400" b="1" dirty="0"/>
              <a:t>X Powder:</a:t>
            </a:r>
            <a:r>
              <a:rPr lang="en-US" sz="1400" dirty="0"/>
              <a:t> This format exhibits a moderate price elasticity of −1.0 in MT outlets and −0.9 in TT outlets. This suggests </a:t>
            </a:r>
            <a:r>
              <a:rPr lang="en-US" sz="1400" b="1" dirty="0"/>
              <a:t>that MT shoppers are moderately price-sensitive and frequently engage in direct price comparisons and can switch to cheaper alternatives if there is increase in price. The slightly lower elasticity in Traditional Trade, where shoppers may be driven by different purchasing behaviors such as convenience or established brand loyalty with the retailer, offers a marginal degree of pricing flexibility</a:t>
            </a:r>
            <a:r>
              <a:rPr lang="en-US" sz="1400" dirty="0"/>
              <a:t>. </a:t>
            </a:r>
          </a:p>
          <a:p>
            <a:pPr marL="800100" lvl="1" indent="-342900" fontAlgn="base">
              <a:buFont typeface="+mj-lt"/>
              <a:buAutoNum type="arabicPeriod"/>
            </a:pPr>
            <a:r>
              <a:rPr lang="en-US" sz="1400" b="1" dirty="0"/>
              <a:t>X Liquid:</a:t>
            </a:r>
            <a:r>
              <a:rPr lang="en-US" sz="1400" dirty="0"/>
              <a:t> The Liquid format demonstrates a moderate price elasticity of −0.8 across both MT and TT outlets. The stable elasticity across channels means that </a:t>
            </a:r>
            <a:r>
              <a:rPr lang="en-US" sz="1400" b="1" dirty="0"/>
              <a:t>customers are reacting to price changes in a similar manner across outlets.</a:t>
            </a:r>
          </a:p>
          <a:p>
            <a:pPr fontAlgn="base"/>
            <a:r>
              <a:rPr lang="en-US" sz="2000" b="1" u="sng" dirty="0"/>
              <a:t>Competitive Price: </a:t>
            </a:r>
            <a:r>
              <a:rPr lang="en-US" sz="1400" dirty="0"/>
              <a:t>The elasticity for competitor Y's price is 0.5. This suggests that </a:t>
            </a:r>
            <a:r>
              <a:rPr lang="en-US" sz="1400" b="1" dirty="0"/>
              <a:t>a substantial segment of the market perceives Brand X and Brand Y as close substitutes</a:t>
            </a:r>
            <a:r>
              <a:rPr lang="en-US" sz="1400" dirty="0"/>
              <a:t>.</a:t>
            </a:r>
            <a:r>
              <a:rPr lang="en-US" sz="1400" b="1" dirty="0"/>
              <a:t> Brand X can strategically benefit from Brand Y's price hikes by maintaining its price point to attract price-sensitive consumers who switch brands, thereby gaining market share without having to initiate a promotional cycle.</a:t>
            </a:r>
          </a:p>
          <a:p>
            <a:r>
              <a:rPr lang="en-US" sz="2000" b="1" u="sng" dirty="0"/>
              <a:t>Price Promotion:</a:t>
            </a:r>
            <a:r>
              <a:rPr lang="en-US" sz="2000" u="sng" dirty="0"/>
              <a:t> </a:t>
            </a:r>
            <a:r>
              <a:rPr lang="en-US" sz="1400" dirty="0"/>
              <a:t>The elasticities for both Price Promotions and Visibility in Stores are 0.01 each which is </a:t>
            </a:r>
            <a:r>
              <a:rPr lang="en-US" sz="1400" b="1" dirty="0"/>
              <a:t>not very responsive</a:t>
            </a:r>
            <a:r>
              <a:rPr lang="en-US" sz="1400" dirty="0"/>
              <a:t>. It suggests </a:t>
            </a:r>
            <a:r>
              <a:rPr lang="en-US" sz="1400" b="1" dirty="0"/>
              <a:t>that they are not primarily responsible for generating incremental sales value</a:t>
            </a:r>
            <a:r>
              <a:rPr lang="en-US" sz="1400" dirty="0"/>
              <a:t>.</a:t>
            </a:r>
            <a:r>
              <a:rPr lang="en-US" sz="1400" b="1" dirty="0"/>
              <a:t> Their role may be to maintain a competitive presence on the shelf, manage inventory levels, or defend market share against competitor activities, rather than generating direct, measurable sales increases.</a:t>
            </a:r>
          </a:p>
          <a:p>
            <a:r>
              <a:rPr lang="en-US" sz="2000" b="1" u="sng" dirty="0"/>
              <a:t>Distribution:</a:t>
            </a:r>
            <a:r>
              <a:rPr lang="en-US" sz="2000" dirty="0"/>
              <a:t> </a:t>
            </a:r>
            <a:r>
              <a:rPr lang="en-US" sz="1400" dirty="0"/>
              <a:t>The elasticity for Distribution is 0.8, which is </a:t>
            </a:r>
            <a:r>
              <a:rPr lang="en-US" sz="1400" b="1" dirty="0"/>
              <a:t>not very responsive</a:t>
            </a:r>
            <a:r>
              <a:rPr lang="en-US" sz="1400" dirty="0"/>
              <a:t>. This confirms </a:t>
            </a:r>
            <a:r>
              <a:rPr lang="en-US" sz="1400" b="1" dirty="0"/>
              <a:t>that a brand's presence and availability in the market is one of the drivers of sales value, not a major driver</a:t>
            </a:r>
            <a:r>
              <a:rPr lang="en-US" sz="1400" dirty="0"/>
              <a:t>.</a:t>
            </a:r>
            <a:endParaRPr lang="en-IN" sz="1400" dirty="0"/>
          </a:p>
          <a:p>
            <a:pPr fontAlgn="base"/>
            <a:endParaRPr lang="en-US" sz="1400" b="0" dirty="0">
              <a:effectLst/>
            </a:endParaRPr>
          </a:p>
          <a:p>
            <a:pPr fontAlgn="base"/>
            <a:endParaRPr lang="en-US" sz="1400" dirty="0"/>
          </a:p>
        </p:txBody>
      </p:sp>
    </p:spTree>
    <p:extLst>
      <p:ext uri="{BB962C8B-B14F-4D97-AF65-F5344CB8AC3E}">
        <p14:creationId xmlns:p14="http://schemas.microsoft.com/office/powerpoint/2010/main" val="1306859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21A50-459E-376E-1E0B-D20568724053}"/>
              </a:ext>
            </a:extLst>
          </p:cNvPr>
          <p:cNvSpPr>
            <a:spLocks noGrp="1"/>
          </p:cNvSpPr>
          <p:nvPr>
            <p:ph type="title"/>
          </p:nvPr>
        </p:nvSpPr>
        <p:spPr/>
        <p:txBody>
          <a:bodyPr>
            <a:normAutofit/>
          </a:bodyPr>
          <a:lstStyle/>
          <a:p>
            <a:pPr algn="ctr"/>
            <a:r>
              <a:rPr lang="en-IN" sz="4000" u="sng" dirty="0"/>
              <a:t>Recommendations</a:t>
            </a:r>
          </a:p>
        </p:txBody>
      </p:sp>
      <p:sp>
        <p:nvSpPr>
          <p:cNvPr id="3" name="Content Placeholder 2">
            <a:extLst>
              <a:ext uri="{FF2B5EF4-FFF2-40B4-BE49-F238E27FC236}">
                <a16:creationId xmlns:a16="http://schemas.microsoft.com/office/drawing/2014/main" id="{4ECB2672-383B-5BB5-7593-644F370D5939}"/>
              </a:ext>
            </a:extLst>
          </p:cNvPr>
          <p:cNvSpPr>
            <a:spLocks noGrp="1"/>
          </p:cNvSpPr>
          <p:nvPr>
            <p:ph idx="1"/>
          </p:nvPr>
        </p:nvSpPr>
        <p:spPr/>
        <p:txBody>
          <a:bodyPr>
            <a:normAutofit/>
          </a:bodyPr>
          <a:lstStyle/>
          <a:p>
            <a:pPr marL="285750" indent="-285750"/>
            <a:r>
              <a:rPr lang="en-US" sz="1800" b="1" dirty="0">
                <a:latin typeface="Aptos" panose="020B0004020202020204" pitchFamily="34" charset="0"/>
              </a:rPr>
              <a:t>Invest in Powder TV and reduce spending on Liquid TV: </a:t>
            </a:r>
            <a:r>
              <a:rPr lang="en-US" sz="1800" dirty="0">
                <a:latin typeface="Aptos" panose="020B0004020202020204" pitchFamily="34" charset="0"/>
              </a:rPr>
              <a:t>Powder TV performed better than Liquid TV with a lower CPM, higher effectiveness and ROAS, indicating higher sales at lower cost.</a:t>
            </a:r>
          </a:p>
          <a:p>
            <a:pPr marL="285750" indent="-285750"/>
            <a:r>
              <a:rPr lang="en-US" sz="1800" b="1" dirty="0">
                <a:latin typeface="Aptos" panose="020B0004020202020204" pitchFamily="34" charset="0"/>
              </a:rPr>
              <a:t>Invest in YouTube, Facebook</a:t>
            </a:r>
            <a:r>
              <a:rPr lang="en-US" sz="1800" dirty="0">
                <a:latin typeface="Aptos" panose="020B0004020202020204" pitchFamily="34" charset="0"/>
              </a:rPr>
              <a:t> </a:t>
            </a:r>
            <a:r>
              <a:rPr lang="en-US" sz="1800" b="1" dirty="0">
                <a:latin typeface="Aptos" panose="020B0004020202020204" pitchFamily="34" charset="0"/>
              </a:rPr>
              <a:t>and Digital Search</a:t>
            </a:r>
            <a:r>
              <a:rPr lang="en-US" sz="1800" dirty="0">
                <a:latin typeface="Aptos" panose="020B0004020202020204" pitchFamily="34" charset="0"/>
              </a:rPr>
              <a:t> for driving higher sales through higher ROAS and effectiveness.</a:t>
            </a:r>
          </a:p>
          <a:p>
            <a:pPr marL="285750" indent="-285750"/>
            <a:r>
              <a:rPr lang="en-US" sz="1800" b="1" dirty="0">
                <a:latin typeface="Aptos" panose="020B0004020202020204" pitchFamily="34" charset="0"/>
              </a:rPr>
              <a:t>Reduce spending on</a:t>
            </a:r>
            <a:r>
              <a:rPr lang="en-US" sz="1800" dirty="0">
                <a:latin typeface="Aptos" panose="020B0004020202020204" pitchFamily="34" charset="0"/>
              </a:rPr>
              <a:t> </a:t>
            </a:r>
            <a:r>
              <a:rPr lang="en-US" sz="1800" b="1" dirty="0">
                <a:latin typeface="Aptos" panose="020B0004020202020204" pitchFamily="34" charset="0"/>
              </a:rPr>
              <a:t>Digital Display for driving lower sales through lower effectiveness and lower ROAS</a:t>
            </a:r>
            <a:r>
              <a:rPr lang="en-US" sz="1800" dirty="0">
                <a:latin typeface="Aptos" panose="020B0004020202020204" pitchFamily="34" charset="0"/>
              </a:rPr>
              <a:t> </a:t>
            </a:r>
            <a:r>
              <a:rPr lang="en-US" sz="1800" b="1" dirty="0">
                <a:latin typeface="Aptos" panose="020B0004020202020204" pitchFamily="34" charset="0"/>
              </a:rPr>
              <a:t>and shift budget to high performing tactics like YouTube, Facebook and Digital Search</a:t>
            </a:r>
            <a:r>
              <a:rPr lang="en-US" sz="1800" dirty="0">
                <a:latin typeface="Aptos" panose="020B0004020202020204" pitchFamily="34" charset="0"/>
              </a:rPr>
              <a:t> which could yield better returns.</a:t>
            </a:r>
          </a:p>
          <a:p>
            <a:pPr marL="285750" indent="-285750"/>
            <a:r>
              <a:rPr lang="en-US" sz="1800" dirty="0">
                <a:latin typeface="Aptos" panose="020B0004020202020204" pitchFamily="34" charset="0"/>
              </a:rPr>
              <a:t>Brand Y has reduced TV spending. This will positively impact sales of Brand X by creating a less competitive space for advertising.</a:t>
            </a:r>
          </a:p>
          <a:p>
            <a:pPr marL="285750" indent="-285750"/>
            <a:r>
              <a:rPr lang="en-IN" sz="1800" dirty="0"/>
              <a:t>A dynamic pricing protocol should also be developed to allow the brand to strategically respond to competitor Y’s pricing actions, leveraging the positive cross-elasticity to gain market share.</a:t>
            </a:r>
          </a:p>
          <a:p>
            <a:pPr marL="285750" indent="-285750"/>
            <a:endParaRPr lang="en-US" sz="1800" dirty="0">
              <a:latin typeface="Aptos" panose="020B0004020202020204" pitchFamily="34" charset="0"/>
            </a:endParaRPr>
          </a:p>
          <a:p>
            <a:pPr marL="285750" indent="-285750"/>
            <a:endParaRPr lang="en-US" sz="1800" dirty="0">
              <a:latin typeface="Aptos" panose="020B0004020202020204" pitchFamily="34" charset="0"/>
            </a:endParaRPr>
          </a:p>
          <a:p>
            <a:pPr marL="285750" indent="-285750"/>
            <a:endParaRPr lang="en-US" sz="1800" dirty="0">
              <a:latin typeface="Aptos" panose="020B0004020202020204" pitchFamily="34" charset="0"/>
            </a:endParaRPr>
          </a:p>
          <a:p>
            <a:pPr marL="285750" indent="-285750"/>
            <a:endParaRPr lang="en-US" sz="1800" dirty="0">
              <a:latin typeface="Aptos" panose="020B0004020202020204" pitchFamily="34" charset="0"/>
            </a:endParaRPr>
          </a:p>
          <a:p>
            <a:pPr marL="285750" indent="-285750"/>
            <a:endParaRPr lang="en-US" sz="1800" dirty="0">
              <a:latin typeface="Aptos" panose="020B0004020202020204" pitchFamily="34" charset="0"/>
            </a:endParaRPr>
          </a:p>
          <a:p>
            <a:pPr marL="285750" indent="-285750"/>
            <a:endParaRPr lang="en-US" sz="1800" dirty="0">
              <a:latin typeface="Aptos" panose="020B0004020202020204" pitchFamily="34" charset="0"/>
            </a:endParaRPr>
          </a:p>
          <a:p>
            <a:pPr marL="285750" indent="-285750"/>
            <a:endParaRPr lang="en-US" sz="1800" dirty="0">
              <a:latin typeface="Aptos" panose="020B0004020202020204" pitchFamily="34" charset="0"/>
            </a:endParaRPr>
          </a:p>
          <a:p>
            <a:pPr marL="285750" indent="-285750"/>
            <a:endParaRPr lang="en-US" sz="1800" dirty="0"/>
          </a:p>
          <a:p>
            <a:pPr marL="285750" indent="-285750"/>
            <a:endParaRPr lang="en-US" sz="1800" dirty="0"/>
          </a:p>
          <a:p>
            <a:pPr marL="285750" indent="-285750"/>
            <a:endParaRPr lang="en-US" sz="1800" dirty="0"/>
          </a:p>
          <a:p>
            <a:pPr marL="285750" indent="-285750"/>
            <a:endParaRPr lang="en-US" sz="1800" dirty="0"/>
          </a:p>
          <a:p>
            <a:pPr marL="285750" indent="-285750"/>
            <a:endParaRPr lang="en-US" sz="1800" dirty="0"/>
          </a:p>
          <a:p>
            <a:pPr marL="285750" indent="-285750"/>
            <a:endParaRPr lang="en-US" sz="1800" dirty="0"/>
          </a:p>
          <a:p>
            <a:endParaRPr lang="en-IN" sz="1800" dirty="0"/>
          </a:p>
          <a:p>
            <a:endParaRPr lang="en-IN" sz="1800" dirty="0"/>
          </a:p>
        </p:txBody>
      </p:sp>
    </p:spTree>
    <p:extLst>
      <p:ext uri="{BB962C8B-B14F-4D97-AF65-F5344CB8AC3E}">
        <p14:creationId xmlns:p14="http://schemas.microsoft.com/office/powerpoint/2010/main" val="11415153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36A903AB_7459_4158_87BF_D3FE8E6DC3CE&quot;,&quot;SourceFullName&quot;:&quot;&quot;,&quot;LastUpdate&quot;:&quot;2023-10-19 10:45 PM&quot;,&quot;UpdatedBy&quot;:&quot;Madhumanti.Mallick&quot;,&quot;IsLinked&quot;:false,&quot;IsBrokenLink&quot;:false,&quot;Type&quot;: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759</TotalTime>
  <Words>1131</Words>
  <Application>Microsoft Office PowerPoint</Application>
  <PresentationFormat>Widescreen</PresentationFormat>
  <Paragraphs>86</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Aptos Display</vt:lpstr>
      <vt:lpstr>Arial</vt:lpstr>
      <vt:lpstr>Calibri</vt:lpstr>
      <vt:lpstr>Google Sans Text</vt:lpstr>
      <vt:lpstr>Office Theme</vt:lpstr>
      <vt:lpstr>The Business and Market Context</vt:lpstr>
      <vt:lpstr>Value Sales Story</vt:lpstr>
      <vt:lpstr>ROAS Story</vt:lpstr>
      <vt:lpstr>Analysis of Marketing Drivers and Their Impact</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Pritam Saha</dc:creator>
  <cp:lastModifiedBy>Pritam Saha</cp:lastModifiedBy>
  <cp:revision>53</cp:revision>
  <dcterms:created xsi:type="dcterms:W3CDTF">2025-08-18T19:20:30Z</dcterms:created>
  <dcterms:modified xsi:type="dcterms:W3CDTF">2025-09-07T22:11:25Z</dcterms:modified>
</cp:coreProperties>
</file>