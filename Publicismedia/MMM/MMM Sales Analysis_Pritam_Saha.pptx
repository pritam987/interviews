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rts/chart1.xml" ContentType="application/vnd.openxmlformats-officedocument.drawingml.chart+xml"/>
  <Override PartName="/ppt/charts/chart2.xml" ContentType="application/vnd.openxmlformats-officedocument.drawingml.char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3" r:id="rId2"/>
    <p:sldId id="262" r:id="rId3"/>
    <p:sldId id="261" r:id="rId4"/>
    <p:sldId id="260" r:id="rId5"/>
    <p:sldId id="257" r:id="rId6"/>
    <p:sldId id="258" r:id="rId7"/>
    <p:sldId id="259" r:id="rId8"/>
    <p:sldId id="256" r:id="rId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59" d="100"/>
          <a:sy n="59" d="100"/>
        </p:scale>
        <p:origin x="1500" y="2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lineChart>
        <c:grouping val="standard"/>
        <c:varyColors val="0"/>
        <c:ser>
          <c:idx val="0"/>
          <c:order val="0"/>
          <c:tx>
            <c:strRef>
              <c:f>Sheet1!$B$1</c:f>
              <c:strCache>
                <c:ptCount val="1"/>
                <c:pt idx="0">
                  <c:v>Actual</c:v>
                </c:pt>
              </c:strCache>
            </c:strRef>
          </c:tx>
          <c:marker>
            <c:symbol val="none"/>
          </c:marker>
          <c:cat>
            <c:strRef>
              <c:f>Sheet1!$A$2:$A$49</c:f>
              <c:strCache>
                <c:ptCount val="48"/>
                <c:pt idx="0">
                  <c:v>Jan-19</c:v>
                </c:pt>
                <c:pt idx="1">
                  <c:v>Feb-19</c:v>
                </c:pt>
                <c:pt idx="2">
                  <c:v>Mar-19</c:v>
                </c:pt>
                <c:pt idx="3">
                  <c:v>Apr-19</c:v>
                </c:pt>
                <c:pt idx="4">
                  <c:v>May-19</c:v>
                </c:pt>
                <c:pt idx="5">
                  <c:v>Jun-19</c:v>
                </c:pt>
                <c:pt idx="6">
                  <c:v>Jul-19</c:v>
                </c:pt>
                <c:pt idx="7">
                  <c:v>Aug-19</c:v>
                </c:pt>
                <c:pt idx="8">
                  <c:v>Sep-19</c:v>
                </c:pt>
                <c:pt idx="9">
                  <c:v>Oct-19</c:v>
                </c:pt>
                <c:pt idx="10">
                  <c:v>Nov-19</c:v>
                </c:pt>
                <c:pt idx="11">
                  <c:v>Dec-19</c:v>
                </c:pt>
                <c:pt idx="12">
                  <c:v>Jan-20</c:v>
                </c:pt>
                <c:pt idx="13">
                  <c:v>Feb-20</c:v>
                </c:pt>
                <c:pt idx="14">
                  <c:v>Mar-20</c:v>
                </c:pt>
                <c:pt idx="15">
                  <c:v>Apr-20</c:v>
                </c:pt>
                <c:pt idx="16">
                  <c:v>May-20</c:v>
                </c:pt>
                <c:pt idx="17">
                  <c:v>Jun-20</c:v>
                </c:pt>
                <c:pt idx="18">
                  <c:v>Jul-20</c:v>
                </c:pt>
                <c:pt idx="19">
                  <c:v>Aug-20</c:v>
                </c:pt>
                <c:pt idx="20">
                  <c:v>Sep-20</c:v>
                </c:pt>
                <c:pt idx="21">
                  <c:v>Oct-20</c:v>
                </c:pt>
                <c:pt idx="22">
                  <c:v>Nov-20</c:v>
                </c:pt>
                <c:pt idx="23">
                  <c:v>Dec-20</c:v>
                </c:pt>
                <c:pt idx="24">
                  <c:v>Jan-21</c:v>
                </c:pt>
                <c:pt idx="25">
                  <c:v>Feb-21</c:v>
                </c:pt>
                <c:pt idx="26">
                  <c:v>Mar-21</c:v>
                </c:pt>
                <c:pt idx="27">
                  <c:v>Apr-21</c:v>
                </c:pt>
                <c:pt idx="28">
                  <c:v>May-21</c:v>
                </c:pt>
                <c:pt idx="29">
                  <c:v>Jun-21</c:v>
                </c:pt>
                <c:pt idx="30">
                  <c:v>Jul-21</c:v>
                </c:pt>
                <c:pt idx="31">
                  <c:v>Aug-21</c:v>
                </c:pt>
                <c:pt idx="32">
                  <c:v>Sep-21</c:v>
                </c:pt>
                <c:pt idx="33">
                  <c:v>Oct-21</c:v>
                </c:pt>
                <c:pt idx="34">
                  <c:v>Nov-21</c:v>
                </c:pt>
                <c:pt idx="35">
                  <c:v>Dec-21</c:v>
                </c:pt>
                <c:pt idx="36">
                  <c:v>Jan-22</c:v>
                </c:pt>
                <c:pt idx="37">
                  <c:v>Feb-22</c:v>
                </c:pt>
                <c:pt idx="38">
                  <c:v>Mar-22</c:v>
                </c:pt>
                <c:pt idx="39">
                  <c:v>Apr-22</c:v>
                </c:pt>
                <c:pt idx="40">
                  <c:v>May-22</c:v>
                </c:pt>
                <c:pt idx="41">
                  <c:v>Jun-22</c:v>
                </c:pt>
                <c:pt idx="42">
                  <c:v>Jul-22</c:v>
                </c:pt>
                <c:pt idx="43">
                  <c:v>Aug-22</c:v>
                </c:pt>
                <c:pt idx="44">
                  <c:v>Sep-22</c:v>
                </c:pt>
                <c:pt idx="45">
                  <c:v>Oct-22</c:v>
                </c:pt>
                <c:pt idx="46">
                  <c:v>Nov-22</c:v>
                </c:pt>
                <c:pt idx="47">
                  <c:v>Dec-22</c:v>
                </c:pt>
              </c:strCache>
            </c:strRef>
          </c:cat>
          <c:val>
            <c:numRef>
              <c:f>Sheet1!$B$2:$B$49</c:f>
              <c:numCache>
                <c:formatCode>General</c:formatCode>
                <c:ptCount val="48"/>
                <c:pt idx="0">
                  <c:v>232.47</c:v>
                </c:pt>
                <c:pt idx="1">
                  <c:v>214.93</c:v>
                </c:pt>
                <c:pt idx="2">
                  <c:v>243.62</c:v>
                </c:pt>
                <c:pt idx="3">
                  <c:v>251.19</c:v>
                </c:pt>
                <c:pt idx="4">
                  <c:v>243.75</c:v>
                </c:pt>
                <c:pt idx="5">
                  <c:v>232.67</c:v>
                </c:pt>
                <c:pt idx="6">
                  <c:v>251.99</c:v>
                </c:pt>
                <c:pt idx="7">
                  <c:v>258.5</c:v>
                </c:pt>
                <c:pt idx="8">
                  <c:v>250.99</c:v>
                </c:pt>
                <c:pt idx="9">
                  <c:v>259.72000000000003</c:v>
                </c:pt>
                <c:pt idx="10">
                  <c:v>255.75</c:v>
                </c:pt>
                <c:pt idx="11">
                  <c:v>260.62</c:v>
                </c:pt>
                <c:pt idx="12">
                  <c:v>265.95</c:v>
                </c:pt>
                <c:pt idx="13">
                  <c:v>256.37</c:v>
                </c:pt>
                <c:pt idx="14">
                  <c:v>257.52</c:v>
                </c:pt>
                <c:pt idx="15">
                  <c:v>126.29</c:v>
                </c:pt>
                <c:pt idx="16">
                  <c:v>137.74</c:v>
                </c:pt>
                <c:pt idx="17">
                  <c:v>221.93</c:v>
                </c:pt>
                <c:pt idx="18">
                  <c:v>232.06</c:v>
                </c:pt>
                <c:pt idx="19">
                  <c:v>253.55</c:v>
                </c:pt>
                <c:pt idx="20">
                  <c:v>259.95</c:v>
                </c:pt>
                <c:pt idx="21">
                  <c:v>279.19</c:v>
                </c:pt>
                <c:pt idx="22">
                  <c:v>291.85000000000002</c:v>
                </c:pt>
                <c:pt idx="23">
                  <c:v>301.87</c:v>
                </c:pt>
                <c:pt idx="24">
                  <c:v>312.97000000000003</c:v>
                </c:pt>
                <c:pt idx="25">
                  <c:v>311.51</c:v>
                </c:pt>
                <c:pt idx="26">
                  <c:v>330.82</c:v>
                </c:pt>
                <c:pt idx="27">
                  <c:v>320.82</c:v>
                </c:pt>
                <c:pt idx="28">
                  <c:v>320.08999999999997</c:v>
                </c:pt>
                <c:pt idx="29">
                  <c:v>331.32</c:v>
                </c:pt>
                <c:pt idx="30">
                  <c:v>343.36</c:v>
                </c:pt>
                <c:pt idx="31">
                  <c:v>341.88</c:v>
                </c:pt>
                <c:pt idx="32">
                  <c:v>330.26</c:v>
                </c:pt>
                <c:pt idx="33">
                  <c:v>345.07</c:v>
                </c:pt>
                <c:pt idx="34">
                  <c:v>343.9</c:v>
                </c:pt>
                <c:pt idx="35">
                  <c:v>354.72</c:v>
                </c:pt>
                <c:pt idx="36">
                  <c:v>349.26</c:v>
                </c:pt>
                <c:pt idx="37">
                  <c:v>327.39</c:v>
                </c:pt>
                <c:pt idx="38">
                  <c:v>352.68</c:v>
                </c:pt>
                <c:pt idx="39">
                  <c:v>340.77</c:v>
                </c:pt>
                <c:pt idx="40">
                  <c:v>363.3</c:v>
                </c:pt>
                <c:pt idx="41">
                  <c:v>352.25</c:v>
                </c:pt>
                <c:pt idx="42">
                  <c:v>364.63</c:v>
                </c:pt>
                <c:pt idx="43">
                  <c:v>368.12</c:v>
                </c:pt>
                <c:pt idx="44">
                  <c:v>360.13</c:v>
                </c:pt>
                <c:pt idx="45">
                  <c:v>367.33</c:v>
                </c:pt>
                <c:pt idx="46">
                  <c:v>363.47</c:v>
                </c:pt>
                <c:pt idx="47">
                  <c:v>362.15</c:v>
                </c:pt>
              </c:numCache>
            </c:numRef>
          </c:val>
          <c:smooth val="0"/>
          <c:extLst>
            <c:ext xmlns:c16="http://schemas.microsoft.com/office/drawing/2014/chart" uri="{C3380CC4-5D6E-409C-BE32-E72D297353CC}">
              <c16:uniqueId val="{00000000-64CA-4FFA-B674-E8957F70398D}"/>
            </c:ext>
          </c:extLst>
        </c:ser>
        <c:ser>
          <c:idx val="1"/>
          <c:order val="1"/>
          <c:tx>
            <c:strRef>
              <c:f>Sheet1!$C$1</c:f>
              <c:strCache>
                <c:ptCount val="1"/>
                <c:pt idx="0">
                  <c:v>Predicted</c:v>
                </c:pt>
              </c:strCache>
            </c:strRef>
          </c:tx>
          <c:marker>
            <c:symbol val="none"/>
          </c:marker>
          <c:cat>
            <c:strRef>
              <c:f>Sheet1!$A$2:$A$49</c:f>
              <c:strCache>
                <c:ptCount val="48"/>
                <c:pt idx="0">
                  <c:v>Jan-19</c:v>
                </c:pt>
                <c:pt idx="1">
                  <c:v>Feb-19</c:v>
                </c:pt>
                <c:pt idx="2">
                  <c:v>Mar-19</c:v>
                </c:pt>
                <c:pt idx="3">
                  <c:v>Apr-19</c:v>
                </c:pt>
                <c:pt idx="4">
                  <c:v>May-19</c:v>
                </c:pt>
                <c:pt idx="5">
                  <c:v>Jun-19</c:v>
                </c:pt>
                <c:pt idx="6">
                  <c:v>Jul-19</c:v>
                </c:pt>
                <c:pt idx="7">
                  <c:v>Aug-19</c:v>
                </c:pt>
                <c:pt idx="8">
                  <c:v>Sep-19</c:v>
                </c:pt>
                <c:pt idx="9">
                  <c:v>Oct-19</c:v>
                </c:pt>
                <c:pt idx="10">
                  <c:v>Nov-19</c:v>
                </c:pt>
                <c:pt idx="11">
                  <c:v>Dec-19</c:v>
                </c:pt>
                <c:pt idx="12">
                  <c:v>Jan-20</c:v>
                </c:pt>
                <c:pt idx="13">
                  <c:v>Feb-20</c:v>
                </c:pt>
                <c:pt idx="14">
                  <c:v>Mar-20</c:v>
                </c:pt>
                <c:pt idx="15">
                  <c:v>Apr-20</c:v>
                </c:pt>
                <c:pt idx="16">
                  <c:v>May-20</c:v>
                </c:pt>
                <c:pt idx="17">
                  <c:v>Jun-20</c:v>
                </c:pt>
                <c:pt idx="18">
                  <c:v>Jul-20</c:v>
                </c:pt>
                <c:pt idx="19">
                  <c:v>Aug-20</c:v>
                </c:pt>
                <c:pt idx="20">
                  <c:v>Sep-20</c:v>
                </c:pt>
                <c:pt idx="21">
                  <c:v>Oct-20</c:v>
                </c:pt>
                <c:pt idx="22">
                  <c:v>Nov-20</c:v>
                </c:pt>
                <c:pt idx="23">
                  <c:v>Dec-20</c:v>
                </c:pt>
                <c:pt idx="24">
                  <c:v>Jan-21</c:v>
                </c:pt>
                <c:pt idx="25">
                  <c:v>Feb-21</c:v>
                </c:pt>
                <c:pt idx="26">
                  <c:v>Mar-21</c:v>
                </c:pt>
                <c:pt idx="27">
                  <c:v>Apr-21</c:v>
                </c:pt>
                <c:pt idx="28">
                  <c:v>May-21</c:v>
                </c:pt>
                <c:pt idx="29">
                  <c:v>Jun-21</c:v>
                </c:pt>
                <c:pt idx="30">
                  <c:v>Jul-21</c:v>
                </c:pt>
                <c:pt idx="31">
                  <c:v>Aug-21</c:v>
                </c:pt>
                <c:pt idx="32">
                  <c:v>Sep-21</c:v>
                </c:pt>
                <c:pt idx="33">
                  <c:v>Oct-21</c:v>
                </c:pt>
                <c:pt idx="34">
                  <c:v>Nov-21</c:v>
                </c:pt>
                <c:pt idx="35">
                  <c:v>Dec-21</c:v>
                </c:pt>
                <c:pt idx="36">
                  <c:v>Jan-22</c:v>
                </c:pt>
                <c:pt idx="37">
                  <c:v>Feb-22</c:v>
                </c:pt>
                <c:pt idx="38">
                  <c:v>Mar-22</c:v>
                </c:pt>
                <c:pt idx="39">
                  <c:v>Apr-22</c:v>
                </c:pt>
                <c:pt idx="40">
                  <c:v>May-22</c:v>
                </c:pt>
                <c:pt idx="41">
                  <c:v>Jun-22</c:v>
                </c:pt>
                <c:pt idx="42">
                  <c:v>Jul-22</c:v>
                </c:pt>
                <c:pt idx="43">
                  <c:v>Aug-22</c:v>
                </c:pt>
                <c:pt idx="44">
                  <c:v>Sep-22</c:v>
                </c:pt>
                <c:pt idx="45">
                  <c:v>Oct-22</c:v>
                </c:pt>
                <c:pt idx="46">
                  <c:v>Nov-22</c:v>
                </c:pt>
                <c:pt idx="47">
                  <c:v>Dec-22</c:v>
                </c:pt>
              </c:strCache>
            </c:strRef>
          </c:cat>
          <c:val>
            <c:numRef>
              <c:f>Sheet1!$C$2:$C$49</c:f>
              <c:numCache>
                <c:formatCode>General</c:formatCode>
                <c:ptCount val="48"/>
                <c:pt idx="0">
                  <c:v>231.22762780339397</c:v>
                </c:pt>
                <c:pt idx="1">
                  <c:v>236.42842104394583</c:v>
                </c:pt>
                <c:pt idx="2">
                  <c:v>258.7179125137165</c:v>
                </c:pt>
                <c:pt idx="3">
                  <c:v>249.26386919295433</c:v>
                </c:pt>
                <c:pt idx="4">
                  <c:v>238.58424574393482</c:v>
                </c:pt>
                <c:pt idx="5">
                  <c:v>276.50568987105015</c:v>
                </c:pt>
                <c:pt idx="6">
                  <c:v>287.91828887943694</c:v>
                </c:pt>
                <c:pt idx="7">
                  <c:v>270.80513966735651</c:v>
                </c:pt>
                <c:pt idx="8">
                  <c:v>259.02745406839591</c:v>
                </c:pt>
                <c:pt idx="9">
                  <c:v>232.8628892798055</c:v>
                </c:pt>
                <c:pt idx="10">
                  <c:v>267.20139877631493</c:v>
                </c:pt>
                <c:pt idx="11">
                  <c:v>251.66034001139866</c:v>
                </c:pt>
                <c:pt idx="12">
                  <c:v>250.63860821951141</c:v>
                </c:pt>
                <c:pt idx="13">
                  <c:v>249.06072115846302</c:v>
                </c:pt>
                <c:pt idx="14">
                  <c:v>230.23092278538596</c:v>
                </c:pt>
                <c:pt idx="15">
                  <c:v>141.41251852123483</c:v>
                </c:pt>
                <c:pt idx="16">
                  <c:v>127.28846657428183</c:v>
                </c:pt>
                <c:pt idx="17">
                  <c:v>204.40204248506595</c:v>
                </c:pt>
                <c:pt idx="18">
                  <c:v>231.4882379340938</c:v>
                </c:pt>
                <c:pt idx="19">
                  <c:v>247.1126735144926</c:v>
                </c:pt>
                <c:pt idx="20">
                  <c:v>244.46372541077025</c:v>
                </c:pt>
                <c:pt idx="21">
                  <c:v>268.07157629534368</c:v>
                </c:pt>
                <c:pt idx="22">
                  <c:v>293.390334595441</c:v>
                </c:pt>
                <c:pt idx="23">
                  <c:v>348.28519492385692</c:v>
                </c:pt>
                <c:pt idx="24">
                  <c:v>314.08357962329887</c:v>
                </c:pt>
                <c:pt idx="25">
                  <c:v>314.71379514996568</c:v>
                </c:pt>
                <c:pt idx="26">
                  <c:v>322.44354230471129</c:v>
                </c:pt>
                <c:pt idx="27">
                  <c:v>320.70286064639811</c:v>
                </c:pt>
                <c:pt idx="28">
                  <c:v>309.28018539793237</c:v>
                </c:pt>
                <c:pt idx="29">
                  <c:v>317.94644416089426</c:v>
                </c:pt>
                <c:pt idx="30">
                  <c:v>319.67257162707784</c:v>
                </c:pt>
                <c:pt idx="31">
                  <c:v>352.21942904212352</c:v>
                </c:pt>
                <c:pt idx="32">
                  <c:v>358.10120226830423</c:v>
                </c:pt>
                <c:pt idx="33">
                  <c:v>358.79792717032797</c:v>
                </c:pt>
                <c:pt idx="34">
                  <c:v>356.34252400180196</c:v>
                </c:pt>
                <c:pt idx="35">
                  <c:v>342.35802436414656</c:v>
                </c:pt>
                <c:pt idx="36">
                  <c:v>343.99934369524448</c:v>
                </c:pt>
                <c:pt idx="37">
                  <c:v>333.8554915659571</c:v>
                </c:pt>
                <c:pt idx="38">
                  <c:v>328.11651985462549</c:v>
                </c:pt>
                <c:pt idx="39">
                  <c:v>327.78693369097169</c:v>
                </c:pt>
                <c:pt idx="40">
                  <c:v>337.3280414466501</c:v>
                </c:pt>
                <c:pt idx="41">
                  <c:v>372.56398166373526</c:v>
                </c:pt>
                <c:pt idx="42">
                  <c:v>359.0136112280826</c:v>
                </c:pt>
                <c:pt idx="43">
                  <c:v>364.99283209398317</c:v>
                </c:pt>
                <c:pt idx="44">
                  <c:v>367.83899134831012</c:v>
                </c:pt>
                <c:pt idx="45">
                  <c:v>352.83366350720758</c:v>
                </c:pt>
                <c:pt idx="46">
                  <c:v>345.47978066003196</c:v>
                </c:pt>
                <c:pt idx="47">
                  <c:v>382.13646997665307</c:v>
                </c:pt>
              </c:numCache>
            </c:numRef>
          </c:val>
          <c:smooth val="0"/>
          <c:extLst>
            <c:ext xmlns:c16="http://schemas.microsoft.com/office/drawing/2014/chart" uri="{C3380CC4-5D6E-409C-BE32-E72D297353CC}">
              <c16:uniqueId val="{00000001-64CA-4FFA-B674-E8957F70398D}"/>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scaling>
        <c:delete val="0"/>
        <c:axPos val="l"/>
        <c:title>
          <c:tx>
            <c:rich>
              <a:bodyPr/>
              <a:lstStyle/>
              <a:p>
                <a:pPr>
                  <a:defRPr/>
                </a:pPr>
                <a:r>
                  <a:rPr lang="en-IN" dirty="0"/>
                  <a:t>Sales(</a:t>
                </a:r>
                <a:r>
                  <a:rPr lang="en-IN" dirty="0" err="1"/>
                  <a:t>mn</a:t>
                </a:r>
                <a:r>
                  <a:rPr lang="en-IN" dirty="0"/>
                  <a:t>)</a:t>
                </a:r>
              </a:p>
            </c:rich>
          </c:tx>
          <c:overlay val="0"/>
        </c:title>
        <c:numFmt formatCode="General" sourceLinked="1"/>
        <c:majorTickMark val="out"/>
        <c:minorTickMark val="none"/>
        <c:tickLblPos val="nextTo"/>
        <c:crossAx val="2118791784"/>
        <c:crosses val="autoZero"/>
        <c:crossBetween val="between"/>
      </c:valAx>
    </c:plotArea>
    <c:legend>
      <c:legendPos val="b"/>
      <c:overlay val="0"/>
    </c:legend>
    <c:plotVisOnly val="1"/>
    <c:dispBlanksAs val="gap"/>
    <c:showDLblsOverMax val="0"/>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r>
              <a:rPr lang="en-IN"/>
              <a:t>Marketing Spend (2019 - 2022)</a:t>
            </a:r>
          </a:p>
        </c:rich>
      </c:tx>
      <c:overlay val="0"/>
    </c:title>
    <c:autoTitleDeleted val="0"/>
    <c:plotArea>
      <c:layout/>
      <c:barChart>
        <c:barDir val="col"/>
        <c:grouping val="clustered"/>
        <c:varyColors val="1"/>
        <c:ser>
          <c:idx val="0"/>
          <c:order val="0"/>
          <c:tx>
            <c:strRef>
              <c:f>Sheet1!$B$1</c:f>
              <c:strCache>
                <c:ptCount val="1"/>
                <c:pt idx="0">
                  <c:v>Marketing Spend</c:v>
                </c:pt>
              </c:strCache>
            </c:strRef>
          </c:tx>
          <c:invertIfNegative val="1"/>
          <c:dLbls>
            <c:numFmt formatCode="#,##0" sourceLinked="0"/>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2019</c:v>
                </c:pt>
                <c:pt idx="1">
                  <c:v>2020</c:v>
                </c:pt>
                <c:pt idx="2">
                  <c:v>2021</c:v>
                </c:pt>
                <c:pt idx="3">
                  <c:v>2022</c:v>
                </c:pt>
              </c:strCache>
            </c:strRef>
          </c:cat>
          <c:val>
            <c:numRef>
              <c:f>Sheet1!$B$2:$B$5</c:f>
              <c:numCache>
                <c:formatCode>General</c:formatCode>
                <c:ptCount val="4"/>
                <c:pt idx="0">
                  <c:v>307</c:v>
                </c:pt>
                <c:pt idx="1">
                  <c:v>291</c:v>
                </c:pt>
                <c:pt idx="2">
                  <c:v>187</c:v>
                </c:pt>
                <c:pt idx="3">
                  <c:v>190</c:v>
                </c:pt>
              </c:numCache>
            </c:numRef>
          </c:val>
          <c:extLst>
            <c:ext xmlns:c16="http://schemas.microsoft.com/office/drawing/2014/chart" uri="{C3380CC4-5D6E-409C-BE32-E72D297353CC}">
              <c16:uniqueId val="{00000000-FC6E-44E5-899D-E4CAB10331B7}"/>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b"/>
        <c:numFmt formatCode="General" sourceLinked="0"/>
        <c:majorTickMark val="out"/>
        <c:minorTickMark val="none"/>
        <c:tickLblPos val="nextTo"/>
        <c:crossAx val="-2113994440"/>
        <c:crosses val="autoZero"/>
        <c:auto val="1"/>
        <c:lblAlgn val="ctr"/>
        <c:lblOffset val="100"/>
        <c:noMultiLvlLbl val="0"/>
      </c:catAx>
      <c:valAx>
        <c:axId val="-2113994440"/>
        <c:scaling>
          <c:orientation val="minMax"/>
        </c:scaling>
        <c:delete val="0"/>
        <c:axPos val="l"/>
        <c:title>
          <c:tx>
            <c:rich>
              <a:bodyPr/>
              <a:lstStyle/>
              <a:p>
                <a:pPr>
                  <a:defRPr/>
                </a:pPr>
                <a:r>
                  <a:rPr lang="en-IN" dirty="0"/>
                  <a:t>Spend(</a:t>
                </a:r>
                <a:r>
                  <a:rPr lang="en-IN" dirty="0" err="1"/>
                  <a:t>mn</a:t>
                </a:r>
                <a:r>
                  <a:rPr lang="en-IN" dirty="0"/>
                  <a:t>)</a:t>
                </a:r>
              </a:p>
            </c:rich>
          </c:tx>
          <c:overlay val="0"/>
        </c:title>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6/6/2025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6/6/2025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6/6/2025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6/6/2025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4909DB-9C54-E1E0-0100-A2A071EF02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761DB3-DA94-1DA7-65F6-B3836E87924D}"/>
              </a:ext>
            </a:extLst>
          </p:cNvPr>
          <p:cNvSpPr>
            <a:spLocks noGrp="1"/>
          </p:cNvSpPr>
          <p:nvPr>
            <p:ph type="title"/>
          </p:nvPr>
        </p:nvSpPr>
        <p:spPr>
          <a:xfrm>
            <a:off x="457200" y="274638"/>
            <a:ext cx="8229600" cy="726848"/>
          </a:xfrm>
        </p:spPr>
        <p:txBody>
          <a:bodyPr>
            <a:normAutofit fontScale="90000"/>
          </a:bodyPr>
          <a:lstStyle/>
          <a:p>
            <a:r>
              <a:rPr lang="en-US" b="1" u="sng" dirty="0"/>
              <a:t>Exploratory Data Analysis(EDA)</a:t>
            </a:r>
            <a:endParaRPr lang="en-IN" b="1" u="sng" dirty="0"/>
          </a:p>
        </p:txBody>
      </p:sp>
      <p:sp>
        <p:nvSpPr>
          <p:cNvPr id="4" name="Title 1">
            <a:extLst>
              <a:ext uri="{FF2B5EF4-FFF2-40B4-BE49-F238E27FC236}">
                <a16:creationId xmlns:a16="http://schemas.microsoft.com/office/drawing/2014/main" id="{D46D69A3-272B-2DBC-4470-9A40B971085B}"/>
              </a:ext>
            </a:extLst>
          </p:cNvPr>
          <p:cNvSpPr txBox="1">
            <a:spLocks/>
          </p:cNvSpPr>
          <p:nvPr/>
        </p:nvSpPr>
        <p:spPr>
          <a:xfrm>
            <a:off x="174172" y="2190523"/>
            <a:ext cx="8229600" cy="5015819"/>
          </a:xfrm>
          <a:prstGeom prst="rect">
            <a:avLst/>
          </a:prstGeom>
        </p:spPr>
        <p:txBody>
          <a:bodyPr vert="horz" lIns="91440" tIns="45720" rIns="91440" bIns="45720" rtlCol="0" anchor="ctr">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marL="342900" indent="-342900">
              <a:buFont typeface="Arial" panose="020B0604020202020204" pitchFamily="34" charset="0"/>
              <a:buChar char="•"/>
            </a:pPr>
            <a:endParaRPr lang="en-IN" sz="2400" dirty="0"/>
          </a:p>
        </p:txBody>
      </p:sp>
      <p:sp>
        <p:nvSpPr>
          <p:cNvPr id="3" name="Title 1">
            <a:extLst>
              <a:ext uri="{FF2B5EF4-FFF2-40B4-BE49-F238E27FC236}">
                <a16:creationId xmlns:a16="http://schemas.microsoft.com/office/drawing/2014/main" id="{20132C3C-2BF3-8BF8-721F-B2E09C49BEEF}"/>
              </a:ext>
            </a:extLst>
          </p:cNvPr>
          <p:cNvSpPr txBox="1">
            <a:spLocks/>
          </p:cNvSpPr>
          <p:nvPr/>
        </p:nvSpPr>
        <p:spPr>
          <a:xfrm>
            <a:off x="326572" y="1069295"/>
            <a:ext cx="8229600" cy="5015819"/>
          </a:xfrm>
          <a:prstGeom prst="rect">
            <a:avLst/>
          </a:prstGeom>
        </p:spPr>
        <p:txBody>
          <a:bodyPr vert="horz" lIns="91440" tIns="45720" rIns="91440" bIns="45720" rtlCol="0" anchor="ctr">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marL="457200" indent="-457200">
              <a:buFont typeface="Arial" panose="020B0604020202020204" pitchFamily="34" charset="0"/>
              <a:buChar char="•"/>
            </a:pPr>
            <a:r>
              <a:rPr lang="en-IN" sz="2400" dirty="0"/>
              <a:t>The dataset that I have got consists of 4 years monthly data of 40 variables(1 dependant value sales variable and 39 independent variables).</a:t>
            </a:r>
          </a:p>
          <a:p>
            <a:pPr marL="457200" indent="-457200">
              <a:buFont typeface="Arial" panose="020B0604020202020204" pitchFamily="34" charset="0"/>
              <a:buChar char="•"/>
            </a:pPr>
            <a:r>
              <a:rPr lang="en-IN" sz="2400" dirty="0"/>
              <a:t>There is no missing data present in the dataset.</a:t>
            </a:r>
          </a:p>
          <a:p>
            <a:pPr marL="457200" indent="-457200">
              <a:buFont typeface="Arial" panose="020B0604020202020204" pitchFamily="34" charset="0"/>
              <a:buChar char="•"/>
            </a:pPr>
            <a:r>
              <a:rPr lang="en-IN" sz="2400" dirty="0"/>
              <a:t>There are certain peaks and dips in the data. I have explained about them in the next slide.</a:t>
            </a:r>
          </a:p>
          <a:p>
            <a:pPr marL="457200" indent="-457200">
              <a:buFont typeface="Arial" panose="020B0604020202020204" pitchFamily="34" charset="0"/>
              <a:buChar char="•"/>
            </a:pPr>
            <a:r>
              <a:rPr lang="en-IN" sz="2400" dirty="0"/>
              <a:t>We have used a single variable from each bucket as our independent variable.</a:t>
            </a:r>
          </a:p>
          <a:p>
            <a:pPr marL="457200" indent="-457200">
              <a:buFont typeface="Arial" panose="020B0604020202020204" pitchFamily="34" charset="0"/>
              <a:buChar char="•"/>
            </a:pPr>
            <a:r>
              <a:rPr lang="en-IN" sz="2400" dirty="0"/>
              <a:t>We have made the correlation matrix. Then, we have chosen those independent variables which are +</a:t>
            </a:r>
            <a:r>
              <a:rPr lang="en-IN" sz="2400" dirty="0" err="1"/>
              <a:t>vely</a:t>
            </a:r>
            <a:r>
              <a:rPr lang="en-IN" sz="2400" dirty="0"/>
              <a:t> correlated with value sales. As an exception, we have chosen 2 vars which have strong –</a:t>
            </a:r>
            <a:r>
              <a:rPr lang="en-IN" sz="2400" dirty="0" err="1"/>
              <a:t>ve</a:t>
            </a:r>
            <a:r>
              <a:rPr lang="en-IN" sz="2400" dirty="0"/>
              <a:t> corr. with sales, price and competitor2_TV_GRPs.</a:t>
            </a:r>
          </a:p>
        </p:txBody>
      </p:sp>
    </p:spTree>
    <p:extLst>
      <p:ext uri="{BB962C8B-B14F-4D97-AF65-F5344CB8AC3E}">
        <p14:creationId xmlns:p14="http://schemas.microsoft.com/office/powerpoint/2010/main" val="34824490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449512-6BBD-53C9-D826-027C1CFAF9C3}"/>
              </a:ext>
            </a:extLst>
          </p:cNvPr>
          <p:cNvSpPr>
            <a:spLocks noGrp="1"/>
          </p:cNvSpPr>
          <p:nvPr>
            <p:ph type="title"/>
          </p:nvPr>
        </p:nvSpPr>
        <p:spPr>
          <a:xfrm>
            <a:off x="457200" y="274638"/>
            <a:ext cx="8229600" cy="726848"/>
          </a:xfrm>
        </p:spPr>
        <p:txBody>
          <a:bodyPr>
            <a:normAutofit fontScale="90000"/>
          </a:bodyPr>
          <a:lstStyle/>
          <a:p>
            <a:r>
              <a:rPr lang="en-US" b="1" u="sng" dirty="0"/>
              <a:t>Exploratory Data Analysis(EDA)</a:t>
            </a:r>
            <a:endParaRPr lang="en-IN" b="1" u="sng" dirty="0"/>
          </a:p>
        </p:txBody>
      </p:sp>
      <p:sp>
        <p:nvSpPr>
          <p:cNvPr id="4" name="Title 1">
            <a:extLst>
              <a:ext uri="{FF2B5EF4-FFF2-40B4-BE49-F238E27FC236}">
                <a16:creationId xmlns:a16="http://schemas.microsoft.com/office/drawing/2014/main" id="{974EE4F7-1507-CB56-2C5B-8283AB9C22AC}"/>
              </a:ext>
            </a:extLst>
          </p:cNvPr>
          <p:cNvSpPr txBox="1">
            <a:spLocks/>
          </p:cNvSpPr>
          <p:nvPr/>
        </p:nvSpPr>
        <p:spPr>
          <a:xfrm>
            <a:off x="174172" y="2190523"/>
            <a:ext cx="8229600" cy="5015819"/>
          </a:xfrm>
          <a:prstGeom prst="rect">
            <a:avLst/>
          </a:prstGeom>
        </p:spPr>
        <p:txBody>
          <a:bodyPr vert="horz" lIns="91440" tIns="45720" rIns="91440" bIns="45720" rtlCol="0" anchor="ctr">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marL="457200" indent="-457200">
              <a:buFont typeface="Arial" panose="020B0604020202020204" pitchFamily="34" charset="0"/>
              <a:buChar char="•"/>
            </a:pPr>
            <a:r>
              <a:rPr lang="en-US" sz="1800" dirty="0"/>
              <a:t>Value Sales and Volume Sales shows an increasing trend overall whereas avg price shows a decreasing trend.</a:t>
            </a:r>
          </a:p>
          <a:p>
            <a:pPr marL="457200" indent="-457200">
              <a:buFont typeface="Arial" panose="020B0604020202020204" pitchFamily="34" charset="0"/>
              <a:buChar char="•"/>
            </a:pPr>
            <a:r>
              <a:rPr lang="en-US" sz="1800" dirty="0"/>
              <a:t>.We see a drastic fall in sales during April and May 2020 due-to </a:t>
            </a:r>
            <a:r>
              <a:rPr lang="en-IN" sz="1800" dirty="0"/>
              <a:t>COVID-19 pandemic and the subsequent lockdowns implemented Worldwide which caused shops to close down during that period. However, we see small sales during that period caused by online commerce as that was allowed during that period. Moreover, reduced consumer spending and job losses also had an impact on sales during that period. So, as to stay afloat, </a:t>
            </a:r>
            <a:r>
              <a:rPr lang="en-IN" sz="1800" dirty="0" err="1"/>
              <a:t>youtube</a:t>
            </a:r>
            <a:r>
              <a:rPr lang="en-IN" sz="1800" dirty="0"/>
              <a:t>, </a:t>
            </a:r>
            <a:r>
              <a:rPr lang="en-IN" sz="1800" dirty="0" err="1"/>
              <a:t>facebook</a:t>
            </a:r>
            <a:r>
              <a:rPr lang="en-IN" sz="1800" dirty="0"/>
              <a:t>-Instagram and </a:t>
            </a:r>
            <a:r>
              <a:rPr lang="en-IN" sz="1800" dirty="0" err="1"/>
              <a:t>whatsapp</a:t>
            </a:r>
            <a:r>
              <a:rPr lang="en-IN" sz="1800" dirty="0"/>
              <a:t> spend has been increased drastically. Competitor 2’s TV GRPs also peaked during that period as well as they are also trying to stay afloat.</a:t>
            </a:r>
          </a:p>
          <a:p>
            <a:pPr marL="457200" indent="-457200">
              <a:buFont typeface="Arial" panose="020B0604020202020204" pitchFamily="34" charset="0"/>
              <a:buChar char="•"/>
            </a:pPr>
            <a:r>
              <a:rPr lang="en-IN" sz="1800" dirty="0"/>
              <a:t>September to December shows increased spending on newspaper and Fb-Ig, Jio, Hotstar as it is a holiday season to attract consumers.</a:t>
            </a:r>
          </a:p>
          <a:p>
            <a:pPr marL="457200" indent="-457200">
              <a:buFont typeface="Arial" panose="020B0604020202020204" pitchFamily="34" charset="0"/>
              <a:buChar char="•"/>
            </a:pPr>
            <a:r>
              <a:rPr lang="en-IN" sz="1800" dirty="0" err="1"/>
              <a:t>Newspaper,TV</a:t>
            </a:r>
            <a:r>
              <a:rPr lang="en-IN" sz="1800" dirty="0"/>
              <a:t> and </a:t>
            </a:r>
            <a:r>
              <a:rPr lang="en-IN" sz="1800" dirty="0" err="1"/>
              <a:t>hotstar</a:t>
            </a:r>
            <a:r>
              <a:rPr lang="en-IN" sz="1800" dirty="0"/>
              <a:t> spends have increased drastically during June either due-to back-to-school or start of monsoon season for CPG brands.</a:t>
            </a:r>
          </a:p>
          <a:p>
            <a:pPr marL="457200" indent="-457200">
              <a:buFont typeface="Arial" panose="020B0604020202020204" pitchFamily="34" charset="0"/>
              <a:buChar char="•"/>
            </a:pPr>
            <a:r>
              <a:rPr lang="en-IN" sz="1800" dirty="0"/>
              <a:t>Numeric distribution also shows an increasing trend suggesting that our client’s product penetration is increasing which is causing an increasing sales trend.</a:t>
            </a:r>
          </a:p>
          <a:p>
            <a:pPr marL="457200" indent="-457200">
              <a:buFont typeface="Arial" panose="020B0604020202020204" pitchFamily="34" charset="0"/>
              <a:buChar char="•"/>
            </a:pPr>
            <a:r>
              <a:rPr lang="en-IN" sz="1800" dirty="0"/>
              <a:t>We are observing heightened consumer promotions being given on Jan(reduced consumer spending after Dec)and August(Preparation before holiday season) and trade promotions on Jan and September(pushing sales).</a:t>
            </a:r>
          </a:p>
          <a:p>
            <a:pPr marL="457200" indent="-457200">
              <a:buFont typeface="Arial" panose="020B0604020202020204" pitchFamily="34" charset="0"/>
              <a:buChar char="•"/>
            </a:pPr>
            <a:endParaRPr lang="en-IN" sz="1800" dirty="0"/>
          </a:p>
          <a:p>
            <a:pPr marL="457200" indent="-457200">
              <a:buFont typeface="Arial" panose="020B0604020202020204" pitchFamily="34" charset="0"/>
              <a:buChar char="•"/>
            </a:pPr>
            <a:endParaRPr lang="en-IN" sz="1800" dirty="0"/>
          </a:p>
          <a:p>
            <a:pPr marL="457200" indent="-457200">
              <a:buFont typeface="Arial" panose="020B0604020202020204" pitchFamily="34" charset="0"/>
              <a:buChar char="•"/>
            </a:pPr>
            <a:endParaRPr lang="en-IN" sz="1800" dirty="0"/>
          </a:p>
          <a:p>
            <a:pPr marL="457200" indent="-457200">
              <a:buFont typeface="Arial" panose="020B0604020202020204" pitchFamily="34" charset="0"/>
              <a:buChar char="•"/>
            </a:pPr>
            <a:endParaRPr lang="en-IN" sz="1800" dirty="0"/>
          </a:p>
          <a:p>
            <a:pPr marL="457200" indent="-457200">
              <a:buFont typeface="Arial" panose="020B0604020202020204" pitchFamily="34" charset="0"/>
              <a:buChar char="•"/>
            </a:pPr>
            <a:endParaRPr lang="en-US" sz="2000" dirty="0"/>
          </a:p>
          <a:p>
            <a:pPr marL="457200" indent="-457200">
              <a:buFont typeface="Arial" panose="020B0604020202020204" pitchFamily="34" charset="0"/>
              <a:buChar char="•"/>
            </a:pPr>
            <a:endParaRPr lang="en-US" sz="2000" dirty="0"/>
          </a:p>
          <a:p>
            <a:pPr marL="457200" indent="-457200">
              <a:buFont typeface="Arial" panose="020B0604020202020204" pitchFamily="34" charset="0"/>
              <a:buChar char="•"/>
            </a:pPr>
            <a:endParaRPr lang="en-IN" sz="2400" dirty="0"/>
          </a:p>
        </p:txBody>
      </p:sp>
    </p:spTree>
    <p:extLst>
      <p:ext uri="{BB962C8B-B14F-4D97-AF65-F5344CB8AC3E}">
        <p14:creationId xmlns:p14="http://schemas.microsoft.com/office/powerpoint/2010/main" val="12189006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863260-1F09-AAB1-9D98-D0FF86030269}"/>
              </a:ext>
            </a:extLst>
          </p:cNvPr>
          <p:cNvSpPr>
            <a:spLocks noGrp="1"/>
          </p:cNvSpPr>
          <p:nvPr>
            <p:ph type="title"/>
          </p:nvPr>
        </p:nvSpPr>
        <p:spPr/>
        <p:txBody>
          <a:bodyPr/>
          <a:lstStyle/>
          <a:p>
            <a:r>
              <a:rPr lang="en-IN" u="sng" dirty="0"/>
              <a:t>OLS Based MMM Model</a:t>
            </a:r>
          </a:p>
        </p:txBody>
      </p:sp>
      <p:sp>
        <p:nvSpPr>
          <p:cNvPr id="3" name="Title 1">
            <a:extLst>
              <a:ext uri="{FF2B5EF4-FFF2-40B4-BE49-F238E27FC236}">
                <a16:creationId xmlns:a16="http://schemas.microsoft.com/office/drawing/2014/main" id="{F6FF9345-4110-F63C-F909-F0FA00F36ECC}"/>
              </a:ext>
            </a:extLst>
          </p:cNvPr>
          <p:cNvSpPr txBox="1">
            <a:spLocks/>
          </p:cNvSpPr>
          <p:nvPr/>
        </p:nvSpPr>
        <p:spPr>
          <a:xfrm>
            <a:off x="174172" y="1417637"/>
            <a:ext cx="8229600" cy="5015819"/>
          </a:xfrm>
          <a:prstGeom prst="rect">
            <a:avLst/>
          </a:prstGeom>
        </p:spPr>
        <p:txBody>
          <a:bodyPr vert="horz" lIns="91440" tIns="45720" rIns="91440" bIns="45720" rtlCol="0" anchor="ctr">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IN" sz="2400" dirty="0"/>
              <a:t>Here, We have used Multiple Linear Regression(MLR) using OLS technique to predict the Value Sales(</a:t>
            </a:r>
            <a:r>
              <a:rPr lang="en-IN" sz="2400" dirty="0" err="1"/>
              <a:t>mn</a:t>
            </a:r>
            <a:r>
              <a:rPr lang="en-IN" sz="2400" dirty="0"/>
              <a:t>) based on several marketing inputs such as </a:t>
            </a:r>
            <a:r>
              <a:rPr lang="en-IN" sz="2400" dirty="0" err="1">
                <a:solidFill>
                  <a:srgbClr val="424242"/>
                </a:solidFill>
                <a:latin typeface="Segoe Sans"/>
              </a:rPr>
              <a:t>T</a:t>
            </a:r>
            <a:r>
              <a:rPr lang="en-IN" sz="2400" i="0" dirty="0" err="1">
                <a:solidFill>
                  <a:srgbClr val="424242"/>
                </a:solidFill>
                <a:effectLst/>
                <a:latin typeface="Segoe Sans"/>
              </a:rPr>
              <a:t>v_GRPs</a:t>
            </a:r>
            <a:r>
              <a:rPr lang="en-IN" sz="2400" i="0" dirty="0">
                <a:solidFill>
                  <a:srgbClr val="424242"/>
                </a:solidFill>
                <a:effectLst/>
                <a:latin typeface="Segoe Sans"/>
              </a:rPr>
              <a:t>, </a:t>
            </a:r>
            <a:r>
              <a:rPr lang="en-IN" sz="2400" dirty="0" err="1">
                <a:solidFill>
                  <a:srgbClr val="424242"/>
                </a:solidFill>
                <a:latin typeface="Segoe Sans"/>
              </a:rPr>
              <a:t>N</a:t>
            </a:r>
            <a:r>
              <a:rPr lang="en-IN" sz="2400" i="0" dirty="0" err="1">
                <a:solidFill>
                  <a:srgbClr val="424242"/>
                </a:solidFill>
                <a:effectLst/>
                <a:latin typeface="Segoe Sans"/>
              </a:rPr>
              <a:t>ewspaper_impressions</a:t>
            </a:r>
            <a:r>
              <a:rPr lang="en-IN" sz="2400" i="0" dirty="0">
                <a:solidFill>
                  <a:srgbClr val="424242"/>
                </a:solidFill>
                <a:effectLst/>
                <a:latin typeface="Segoe Sans"/>
              </a:rPr>
              <a:t>, </a:t>
            </a:r>
            <a:r>
              <a:rPr lang="en-IN" sz="2400" dirty="0" err="1">
                <a:solidFill>
                  <a:srgbClr val="424242"/>
                </a:solidFill>
                <a:latin typeface="Segoe Sans"/>
              </a:rPr>
              <a:t>W</a:t>
            </a:r>
            <a:r>
              <a:rPr lang="en-IN" sz="2400" i="0" dirty="0" err="1">
                <a:solidFill>
                  <a:srgbClr val="424242"/>
                </a:solidFill>
                <a:effectLst/>
                <a:latin typeface="Segoe Sans"/>
              </a:rPr>
              <a:t>hatsapp_clicks</a:t>
            </a:r>
            <a:r>
              <a:rPr lang="en-IN" sz="2400" i="0" dirty="0">
                <a:solidFill>
                  <a:srgbClr val="424242"/>
                </a:solidFill>
                <a:effectLst/>
                <a:latin typeface="Segoe Sans"/>
              </a:rPr>
              <a:t>, </a:t>
            </a:r>
            <a:r>
              <a:rPr lang="en-IN" sz="2400" dirty="0" err="1">
                <a:solidFill>
                  <a:srgbClr val="424242"/>
                </a:solidFill>
                <a:latin typeface="Segoe Sans"/>
              </a:rPr>
              <a:t>FB</a:t>
            </a:r>
            <a:r>
              <a:rPr lang="en-IN" sz="2400" i="0" dirty="0" err="1">
                <a:solidFill>
                  <a:srgbClr val="424242"/>
                </a:solidFill>
                <a:effectLst/>
                <a:latin typeface="Segoe Sans"/>
              </a:rPr>
              <a:t>_IG_impressions</a:t>
            </a:r>
            <a:r>
              <a:rPr lang="en-IN" sz="2400" i="0" dirty="0">
                <a:solidFill>
                  <a:srgbClr val="424242"/>
                </a:solidFill>
                <a:effectLst/>
                <a:latin typeface="Segoe Sans"/>
              </a:rPr>
              <a:t>, </a:t>
            </a:r>
            <a:r>
              <a:rPr lang="en-IN" sz="2400" dirty="0" err="1">
                <a:solidFill>
                  <a:srgbClr val="424242"/>
                </a:solidFill>
                <a:latin typeface="Segoe Sans"/>
              </a:rPr>
              <a:t>Y</a:t>
            </a:r>
            <a:r>
              <a:rPr lang="en-IN" sz="2400" i="0" dirty="0" err="1">
                <a:solidFill>
                  <a:srgbClr val="424242"/>
                </a:solidFill>
                <a:effectLst/>
                <a:latin typeface="Segoe Sans"/>
              </a:rPr>
              <a:t>ouTube_impressions</a:t>
            </a:r>
            <a:r>
              <a:rPr lang="en-IN" sz="2400" i="0" dirty="0">
                <a:solidFill>
                  <a:srgbClr val="424242"/>
                </a:solidFill>
                <a:effectLst/>
                <a:latin typeface="Segoe Sans"/>
              </a:rPr>
              <a:t>, </a:t>
            </a:r>
            <a:r>
              <a:rPr lang="en-IN" sz="2400" dirty="0" err="1">
                <a:solidFill>
                  <a:srgbClr val="424242"/>
                </a:solidFill>
                <a:latin typeface="Segoe Sans"/>
              </a:rPr>
              <a:t>H</a:t>
            </a:r>
            <a:r>
              <a:rPr lang="en-IN" sz="2400" i="0" dirty="0" err="1">
                <a:solidFill>
                  <a:srgbClr val="424242"/>
                </a:solidFill>
                <a:effectLst/>
                <a:latin typeface="Segoe Sans"/>
              </a:rPr>
              <a:t>otstar_impressions</a:t>
            </a:r>
            <a:r>
              <a:rPr lang="en-IN" sz="2400" i="0" dirty="0">
                <a:solidFill>
                  <a:srgbClr val="424242"/>
                </a:solidFill>
                <a:effectLst/>
                <a:latin typeface="Segoe Sans"/>
              </a:rPr>
              <a:t>, </a:t>
            </a:r>
            <a:r>
              <a:rPr lang="en-IN" sz="2400" dirty="0" err="1">
                <a:solidFill>
                  <a:srgbClr val="424242"/>
                </a:solidFill>
                <a:latin typeface="Segoe Sans"/>
              </a:rPr>
              <a:t>J</a:t>
            </a:r>
            <a:r>
              <a:rPr lang="en-IN" sz="2400" i="0" dirty="0" err="1">
                <a:solidFill>
                  <a:srgbClr val="424242"/>
                </a:solidFill>
                <a:effectLst/>
                <a:latin typeface="Segoe Sans"/>
              </a:rPr>
              <a:t>io_impressions</a:t>
            </a:r>
            <a:r>
              <a:rPr lang="en-IN" sz="2400" i="0" dirty="0">
                <a:solidFill>
                  <a:srgbClr val="424242"/>
                </a:solidFill>
                <a:effectLst/>
                <a:latin typeface="Segoe Sans"/>
              </a:rPr>
              <a:t>, </a:t>
            </a:r>
            <a:r>
              <a:rPr lang="en-IN" sz="2400" dirty="0" err="1">
                <a:solidFill>
                  <a:srgbClr val="424242"/>
                </a:solidFill>
                <a:latin typeface="Segoe Sans"/>
              </a:rPr>
              <a:t>G</a:t>
            </a:r>
            <a:r>
              <a:rPr lang="en-IN" sz="2400" i="0" dirty="0" err="1">
                <a:solidFill>
                  <a:srgbClr val="424242"/>
                </a:solidFill>
                <a:effectLst/>
                <a:latin typeface="Segoe Sans"/>
              </a:rPr>
              <a:t>oogle_Display_impressions</a:t>
            </a:r>
            <a:r>
              <a:rPr lang="en-IN" sz="2400" dirty="0">
                <a:solidFill>
                  <a:srgbClr val="424242"/>
                </a:solidFill>
                <a:latin typeface="Segoe Sans"/>
              </a:rPr>
              <a:t> and</a:t>
            </a:r>
            <a:r>
              <a:rPr lang="en-IN" sz="2400" i="0" dirty="0">
                <a:solidFill>
                  <a:srgbClr val="424242"/>
                </a:solidFill>
                <a:effectLst/>
                <a:latin typeface="Segoe Sans"/>
              </a:rPr>
              <a:t> </a:t>
            </a:r>
            <a:r>
              <a:rPr lang="en-IN" sz="2400" dirty="0" err="1">
                <a:solidFill>
                  <a:srgbClr val="424242"/>
                </a:solidFill>
                <a:latin typeface="Segoe Sans"/>
              </a:rPr>
              <a:t>V</a:t>
            </a:r>
            <a:r>
              <a:rPr lang="en-IN" sz="2400" i="0" dirty="0" err="1">
                <a:solidFill>
                  <a:srgbClr val="424242"/>
                </a:solidFill>
                <a:effectLst/>
                <a:latin typeface="Segoe Sans"/>
              </a:rPr>
              <a:t>entes_Avenue_</a:t>
            </a:r>
            <a:r>
              <a:rPr lang="en-IN" sz="2400" dirty="0" err="1">
                <a:solidFill>
                  <a:srgbClr val="424242"/>
                </a:solidFill>
                <a:latin typeface="Segoe Sans"/>
              </a:rPr>
              <a:t>s</a:t>
            </a:r>
            <a:r>
              <a:rPr lang="en-IN" sz="2400" i="0" dirty="0" err="1">
                <a:solidFill>
                  <a:srgbClr val="424242"/>
                </a:solidFill>
                <a:effectLst/>
                <a:latin typeface="Segoe Sans"/>
              </a:rPr>
              <a:t>pends</a:t>
            </a:r>
            <a:r>
              <a:rPr lang="en-IN" sz="2400" dirty="0">
                <a:solidFill>
                  <a:srgbClr val="424242"/>
                </a:solidFill>
                <a:latin typeface="Segoe Sans"/>
              </a:rPr>
              <a:t>. We have also used promo variables such as </a:t>
            </a:r>
            <a:r>
              <a:rPr lang="en-IN" sz="2400" dirty="0" err="1">
                <a:solidFill>
                  <a:srgbClr val="424242"/>
                </a:solidFill>
                <a:latin typeface="Segoe Sans"/>
              </a:rPr>
              <a:t>Consumer</a:t>
            </a:r>
            <a:r>
              <a:rPr lang="en-IN" sz="2400" i="0" dirty="0" err="1">
                <a:solidFill>
                  <a:srgbClr val="424242"/>
                </a:solidFill>
                <a:effectLst/>
                <a:latin typeface="Segoe Sans"/>
              </a:rPr>
              <a:t>_promo_spends</a:t>
            </a:r>
            <a:r>
              <a:rPr lang="en-IN" sz="2400" dirty="0">
                <a:solidFill>
                  <a:srgbClr val="424242"/>
                </a:solidFill>
                <a:latin typeface="Segoe Sans"/>
              </a:rPr>
              <a:t> </a:t>
            </a:r>
            <a:r>
              <a:rPr lang="en-IN" sz="2400" dirty="0" err="1">
                <a:solidFill>
                  <a:srgbClr val="424242"/>
                </a:solidFill>
                <a:latin typeface="Segoe Sans"/>
              </a:rPr>
              <a:t>T</a:t>
            </a:r>
            <a:r>
              <a:rPr lang="en-IN" sz="2400" i="0" dirty="0" err="1">
                <a:solidFill>
                  <a:srgbClr val="424242"/>
                </a:solidFill>
                <a:effectLst/>
                <a:latin typeface="Segoe Sans"/>
              </a:rPr>
              <a:t>rade_promo_spends</a:t>
            </a:r>
            <a:r>
              <a:rPr lang="en-IN" sz="2400" dirty="0">
                <a:solidFill>
                  <a:srgbClr val="424242"/>
                </a:solidFill>
                <a:latin typeface="Segoe Sans"/>
              </a:rPr>
              <a:t> and other base variables such as</a:t>
            </a:r>
            <a:r>
              <a:rPr lang="en-IN" sz="2400" i="0" dirty="0">
                <a:solidFill>
                  <a:srgbClr val="424242"/>
                </a:solidFill>
                <a:effectLst/>
                <a:latin typeface="Segoe Sans"/>
              </a:rPr>
              <a:t> Price, </a:t>
            </a:r>
            <a:r>
              <a:rPr lang="en-IN" sz="2400" dirty="0" err="1">
                <a:solidFill>
                  <a:srgbClr val="424242"/>
                </a:solidFill>
                <a:latin typeface="Segoe Sans"/>
              </a:rPr>
              <a:t>N</a:t>
            </a:r>
            <a:r>
              <a:rPr lang="en-IN" sz="2400" i="0" dirty="0" err="1">
                <a:solidFill>
                  <a:srgbClr val="424242"/>
                </a:solidFill>
                <a:effectLst/>
                <a:latin typeface="Segoe Sans"/>
              </a:rPr>
              <a:t>um_Dist_max</a:t>
            </a:r>
            <a:r>
              <a:rPr lang="en-IN" sz="2400" i="0" dirty="0">
                <a:solidFill>
                  <a:srgbClr val="424242"/>
                </a:solidFill>
                <a:effectLst/>
                <a:latin typeface="Segoe Sans"/>
              </a:rPr>
              <a:t>, Competition2_TV_GRPs and Seasonality. For marketing variables, we have used APL transformation.</a:t>
            </a:r>
            <a:endParaRPr lang="en-IN" sz="2400" dirty="0"/>
          </a:p>
        </p:txBody>
      </p:sp>
    </p:spTree>
    <p:extLst>
      <p:ext uri="{BB962C8B-B14F-4D97-AF65-F5344CB8AC3E}">
        <p14:creationId xmlns:p14="http://schemas.microsoft.com/office/powerpoint/2010/main" val="39275473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3200" u="sng" dirty="0"/>
              <a:t>Actual vs Predicted </a:t>
            </a:r>
            <a:r>
              <a:rPr lang="en-IN" sz="3200" u="sng" dirty="0"/>
              <a:t>Sales(</a:t>
            </a:r>
            <a:r>
              <a:rPr lang="en-IN" sz="3200" u="sng" dirty="0" err="1"/>
              <a:t>mn</a:t>
            </a:r>
            <a:r>
              <a:rPr lang="en-IN" sz="3200" u="sng" dirty="0"/>
              <a:t>)</a:t>
            </a:r>
            <a:r>
              <a:rPr sz="3200" u="sng" dirty="0"/>
              <a:t> (2019 to </a:t>
            </a:r>
            <a:r>
              <a:rPr lang="en-IN" sz="3200" u="sng" dirty="0"/>
              <a:t>2</a:t>
            </a:r>
            <a:r>
              <a:rPr sz="3200" u="sng" dirty="0"/>
              <a:t>022)</a:t>
            </a:r>
          </a:p>
        </p:txBody>
      </p:sp>
      <p:graphicFrame>
        <p:nvGraphicFramePr>
          <p:cNvPr id="3" name="Chart 2"/>
          <p:cNvGraphicFramePr>
            <a:graphicFrameLocks noGrp="1"/>
          </p:cNvGraphicFramePr>
          <p:nvPr>
            <p:extLst>
              <p:ext uri="{D42A27DB-BD31-4B8C-83A1-F6EECF244321}">
                <p14:modId xmlns:p14="http://schemas.microsoft.com/office/powerpoint/2010/main" val="1240689286"/>
              </p:ext>
            </p:extLst>
          </p:nvPr>
        </p:nvGraphicFramePr>
        <p:xfrm>
          <a:off x="914400" y="1371600"/>
          <a:ext cx="7315200" cy="4114800"/>
        </p:xfrm>
        <a:graphic>
          <a:graphicData uri="http://schemas.openxmlformats.org/drawingml/2006/chart">
            <c:chart xmlns:c="http://schemas.openxmlformats.org/drawingml/2006/chart" xmlns:r="http://schemas.openxmlformats.org/officeDocument/2006/relationships" r:id="rId2"/>
          </a:graphicData>
        </a:graphic>
      </p:graphicFrame>
      <p:sp>
        <p:nvSpPr>
          <p:cNvPr id="5" name="TextBox 4"/>
          <p:cNvSpPr txBox="1"/>
          <p:nvPr/>
        </p:nvSpPr>
        <p:spPr>
          <a:xfrm>
            <a:off x="555171" y="5475514"/>
            <a:ext cx="2732543" cy="1015663"/>
          </a:xfrm>
          <a:prstGeom prst="rect">
            <a:avLst/>
          </a:prstGeom>
          <a:noFill/>
        </p:spPr>
        <p:txBody>
          <a:bodyPr wrap="none">
            <a:spAutoFit/>
          </a:bodyPr>
          <a:lstStyle/>
          <a:p>
            <a:pPr algn="l"/>
            <a:r>
              <a:rPr lang="en-IN" sz="2000" b="1" dirty="0">
                <a:solidFill>
                  <a:srgbClr val="000000"/>
                </a:solidFill>
              </a:rPr>
              <a:t>R-Square</a:t>
            </a:r>
            <a:r>
              <a:rPr sz="2000" b="1" dirty="0">
                <a:solidFill>
                  <a:srgbClr val="000000"/>
                </a:solidFill>
              </a:rPr>
              <a:t>: 91%</a:t>
            </a:r>
          </a:p>
          <a:p>
            <a:pPr algn="l"/>
            <a:r>
              <a:rPr sz="2000" b="1" dirty="0">
                <a:solidFill>
                  <a:srgbClr val="000000"/>
                </a:solidFill>
              </a:rPr>
              <a:t>Adjusted R-Square: 88%</a:t>
            </a:r>
          </a:p>
          <a:p>
            <a:pPr algn="l"/>
            <a:r>
              <a:rPr sz="2000" b="1" dirty="0">
                <a:solidFill>
                  <a:srgbClr val="000000"/>
                </a:solidFill>
              </a:rPr>
              <a:t>MAPE: 5%</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3200" u="sng" dirty="0"/>
              <a:t>Overall Contributions by Category (2019-2022)</a:t>
            </a:r>
          </a:p>
        </p:txBody>
      </p:sp>
      <p:graphicFrame>
        <p:nvGraphicFramePr>
          <p:cNvPr id="3" name="Table 2"/>
          <p:cNvGraphicFramePr>
            <a:graphicFrameLocks noGrp="1"/>
          </p:cNvGraphicFramePr>
          <p:nvPr>
            <p:extLst>
              <p:ext uri="{D42A27DB-BD31-4B8C-83A1-F6EECF244321}">
                <p14:modId xmlns:p14="http://schemas.microsoft.com/office/powerpoint/2010/main" val="2552795284"/>
              </p:ext>
            </p:extLst>
          </p:nvPr>
        </p:nvGraphicFramePr>
        <p:xfrm>
          <a:off x="457200" y="1371600"/>
          <a:ext cx="8229600" cy="1828800"/>
        </p:xfrm>
        <a:graphic>
          <a:graphicData uri="http://schemas.openxmlformats.org/drawingml/2006/table">
            <a:tbl>
              <a:tblPr firstRow="1" bandRow="1">
                <a:tableStyleId>{5C22544A-7EE6-4342-B048-85BDC9FD1C3A}</a:tableStyleId>
              </a:tblPr>
              <a:tblGrid>
                <a:gridCol w="164592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tblGrid>
              <a:tr h="457200">
                <a:tc>
                  <a:txBody>
                    <a:bodyPr/>
                    <a:lstStyle/>
                    <a:p>
                      <a:r>
                        <a:t>Category</a:t>
                      </a:r>
                    </a:p>
                  </a:txBody>
                  <a:tcPr/>
                </a:tc>
                <a:tc>
                  <a:txBody>
                    <a:bodyPr/>
                    <a:lstStyle/>
                    <a:p>
                      <a:pPr algn="ctr"/>
                      <a:r>
                        <a:rPr dirty="0"/>
                        <a:t>2019</a:t>
                      </a:r>
                    </a:p>
                  </a:txBody>
                  <a:tcPr/>
                </a:tc>
                <a:tc>
                  <a:txBody>
                    <a:bodyPr/>
                    <a:lstStyle/>
                    <a:p>
                      <a:pPr algn="ctr"/>
                      <a:r>
                        <a:rPr dirty="0"/>
                        <a:t>2020</a:t>
                      </a:r>
                    </a:p>
                  </a:txBody>
                  <a:tcPr/>
                </a:tc>
                <a:tc>
                  <a:txBody>
                    <a:bodyPr/>
                    <a:lstStyle/>
                    <a:p>
                      <a:pPr algn="ctr"/>
                      <a:r>
                        <a:rPr dirty="0"/>
                        <a:t>2021</a:t>
                      </a:r>
                    </a:p>
                  </a:txBody>
                  <a:tcPr/>
                </a:tc>
                <a:tc>
                  <a:txBody>
                    <a:bodyPr/>
                    <a:lstStyle/>
                    <a:p>
                      <a:pPr algn="ctr"/>
                      <a:r>
                        <a:rPr dirty="0"/>
                        <a:t>2022</a:t>
                      </a:r>
                    </a:p>
                  </a:txBody>
                  <a:tcPr/>
                </a:tc>
                <a:extLst>
                  <a:ext uri="{0D108BD9-81ED-4DB2-BD59-A6C34878D82A}">
                    <a16:rowId xmlns:a16="http://schemas.microsoft.com/office/drawing/2014/main" val="10000"/>
                  </a:ext>
                </a:extLst>
              </a:tr>
              <a:tr h="457200">
                <a:tc>
                  <a:txBody>
                    <a:bodyPr/>
                    <a:lstStyle/>
                    <a:p>
                      <a:r>
                        <a:t>Marketing</a:t>
                      </a:r>
                    </a:p>
                  </a:txBody>
                  <a:tcPr/>
                </a:tc>
                <a:tc>
                  <a:txBody>
                    <a:bodyPr/>
                    <a:lstStyle/>
                    <a:p>
                      <a:pPr algn="ctr" fontAlgn="b"/>
                      <a:r>
                        <a:rPr lang="en-IN" sz="1600" b="0" i="0" u="none" strike="noStrike" dirty="0">
                          <a:solidFill>
                            <a:srgbClr val="000000"/>
                          </a:solidFill>
                          <a:effectLst/>
                          <a:latin typeface="Calibri" panose="020F0502020204030204" pitchFamily="34" charset="0"/>
                        </a:rPr>
                        <a:t>9.56%</a:t>
                      </a:r>
                    </a:p>
                  </a:txBody>
                  <a:tcPr marL="6350" marR="6350" marT="6350" marB="0" anchor="ctr"/>
                </a:tc>
                <a:tc>
                  <a:txBody>
                    <a:bodyPr/>
                    <a:lstStyle/>
                    <a:p>
                      <a:pPr algn="ctr" fontAlgn="b"/>
                      <a:r>
                        <a:rPr lang="en-IN" sz="1600" b="0" i="0" u="none" strike="noStrike">
                          <a:solidFill>
                            <a:srgbClr val="000000"/>
                          </a:solidFill>
                          <a:effectLst/>
                          <a:latin typeface="Calibri" panose="020F0502020204030204" pitchFamily="34" charset="0"/>
                        </a:rPr>
                        <a:t>12.45%</a:t>
                      </a:r>
                    </a:p>
                  </a:txBody>
                  <a:tcPr marL="6350" marR="6350" marT="6350" marB="0" anchor="ctr"/>
                </a:tc>
                <a:tc>
                  <a:txBody>
                    <a:bodyPr/>
                    <a:lstStyle/>
                    <a:p>
                      <a:pPr algn="ctr" fontAlgn="b"/>
                      <a:r>
                        <a:rPr lang="en-IN" sz="1600" b="0" i="0" u="none" strike="noStrike">
                          <a:solidFill>
                            <a:srgbClr val="000000"/>
                          </a:solidFill>
                          <a:effectLst/>
                          <a:latin typeface="Calibri" panose="020F0502020204030204" pitchFamily="34" charset="0"/>
                        </a:rPr>
                        <a:t>6.16%</a:t>
                      </a:r>
                    </a:p>
                  </a:txBody>
                  <a:tcPr marL="6350" marR="6350" marT="6350" marB="0" anchor="ctr"/>
                </a:tc>
                <a:tc>
                  <a:txBody>
                    <a:bodyPr/>
                    <a:lstStyle/>
                    <a:p>
                      <a:pPr algn="ctr" fontAlgn="b"/>
                      <a:r>
                        <a:rPr lang="en-IN" sz="1600" b="0" i="0" u="none" strike="noStrike">
                          <a:solidFill>
                            <a:srgbClr val="000000"/>
                          </a:solidFill>
                          <a:effectLst/>
                          <a:latin typeface="Calibri" panose="020F0502020204030204" pitchFamily="34" charset="0"/>
                        </a:rPr>
                        <a:t>6.87%</a:t>
                      </a:r>
                    </a:p>
                  </a:txBody>
                  <a:tcPr marL="6350" marR="6350" marT="6350" marB="0" anchor="ctr"/>
                </a:tc>
                <a:extLst>
                  <a:ext uri="{0D108BD9-81ED-4DB2-BD59-A6C34878D82A}">
                    <a16:rowId xmlns:a16="http://schemas.microsoft.com/office/drawing/2014/main" val="10001"/>
                  </a:ext>
                </a:extLst>
              </a:tr>
              <a:tr h="457200">
                <a:tc>
                  <a:txBody>
                    <a:bodyPr/>
                    <a:lstStyle/>
                    <a:p>
                      <a:r>
                        <a:t>Promotions</a:t>
                      </a:r>
                    </a:p>
                  </a:txBody>
                  <a:tcPr/>
                </a:tc>
                <a:tc>
                  <a:txBody>
                    <a:bodyPr/>
                    <a:lstStyle/>
                    <a:p>
                      <a:pPr algn="ctr" fontAlgn="b"/>
                      <a:r>
                        <a:rPr lang="en-IN" sz="1600" b="0" i="0" u="none" strike="noStrike">
                          <a:solidFill>
                            <a:srgbClr val="000000"/>
                          </a:solidFill>
                          <a:effectLst/>
                          <a:latin typeface="Calibri" panose="020F0502020204030204" pitchFamily="34" charset="0"/>
                        </a:rPr>
                        <a:t>2.66%</a:t>
                      </a:r>
                    </a:p>
                  </a:txBody>
                  <a:tcPr marL="6350" marR="6350" marT="6350" marB="0" anchor="ctr"/>
                </a:tc>
                <a:tc>
                  <a:txBody>
                    <a:bodyPr/>
                    <a:lstStyle/>
                    <a:p>
                      <a:pPr algn="ctr" fontAlgn="b"/>
                      <a:r>
                        <a:rPr lang="en-IN" sz="1600" b="0" i="0" u="none" strike="noStrike">
                          <a:solidFill>
                            <a:srgbClr val="000000"/>
                          </a:solidFill>
                          <a:effectLst/>
                          <a:latin typeface="Calibri" panose="020F0502020204030204" pitchFamily="34" charset="0"/>
                        </a:rPr>
                        <a:t>3.00%</a:t>
                      </a:r>
                    </a:p>
                  </a:txBody>
                  <a:tcPr marL="6350" marR="6350" marT="6350" marB="0" anchor="ctr"/>
                </a:tc>
                <a:tc>
                  <a:txBody>
                    <a:bodyPr/>
                    <a:lstStyle/>
                    <a:p>
                      <a:pPr algn="ctr" fontAlgn="b"/>
                      <a:r>
                        <a:rPr lang="en-IN" sz="1600" b="0" i="0" u="none" strike="noStrike">
                          <a:solidFill>
                            <a:srgbClr val="000000"/>
                          </a:solidFill>
                          <a:effectLst/>
                          <a:latin typeface="Calibri" panose="020F0502020204030204" pitchFamily="34" charset="0"/>
                        </a:rPr>
                        <a:t>3.09%</a:t>
                      </a:r>
                    </a:p>
                  </a:txBody>
                  <a:tcPr marL="6350" marR="6350" marT="6350" marB="0" anchor="ctr"/>
                </a:tc>
                <a:tc>
                  <a:txBody>
                    <a:bodyPr/>
                    <a:lstStyle/>
                    <a:p>
                      <a:pPr algn="ctr" fontAlgn="b"/>
                      <a:r>
                        <a:rPr lang="en-IN" sz="1600" b="0" i="0" u="none" strike="noStrike">
                          <a:solidFill>
                            <a:srgbClr val="000000"/>
                          </a:solidFill>
                          <a:effectLst/>
                          <a:latin typeface="Calibri" panose="020F0502020204030204" pitchFamily="34" charset="0"/>
                        </a:rPr>
                        <a:t>3.40%</a:t>
                      </a:r>
                    </a:p>
                  </a:txBody>
                  <a:tcPr marL="6350" marR="6350" marT="6350" marB="0" anchor="ctr"/>
                </a:tc>
                <a:extLst>
                  <a:ext uri="{0D108BD9-81ED-4DB2-BD59-A6C34878D82A}">
                    <a16:rowId xmlns:a16="http://schemas.microsoft.com/office/drawing/2014/main" val="10002"/>
                  </a:ext>
                </a:extLst>
              </a:tr>
              <a:tr h="457200">
                <a:tc>
                  <a:txBody>
                    <a:bodyPr/>
                    <a:lstStyle/>
                    <a:p>
                      <a:r>
                        <a:t>Base</a:t>
                      </a:r>
                    </a:p>
                  </a:txBody>
                  <a:tcPr/>
                </a:tc>
                <a:tc>
                  <a:txBody>
                    <a:bodyPr/>
                    <a:lstStyle/>
                    <a:p>
                      <a:pPr algn="ctr" fontAlgn="b"/>
                      <a:r>
                        <a:rPr lang="en-IN" sz="1600" b="0" i="0" u="none" strike="noStrike">
                          <a:solidFill>
                            <a:srgbClr val="000000"/>
                          </a:solidFill>
                          <a:effectLst/>
                          <a:latin typeface="Calibri" panose="020F0502020204030204" pitchFamily="34" charset="0"/>
                        </a:rPr>
                        <a:t>88%</a:t>
                      </a:r>
                    </a:p>
                  </a:txBody>
                  <a:tcPr marL="6350" marR="6350" marT="6350" marB="0" anchor="ctr"/>
                </a:tc>
                <a:tc>
                  <a:txBody>
                    <a:bodyPr/>
                    <a:lstStyle/>
                    <a:p>
                      <a:pPr algn="ctr" fontAlgn="b"/>
                      <a:r>
                        <a:rPr lang="en-IN" sz="1600" b="0" i="0" u="none" strike="noStrike">
                          <a:solidFill>
                            <a:srgbClr val="000000"/>
                          </a:solidFill>
                          <a:effectLst/>
                          <a:latin typeface="Calibri" panose="020F0502020204030204" pitchFamily="34" charset="0"/>
                        </a:rPr>
                        <a:t>85%</a:t>
                      </a:r>
                    </a:p>
                  </a:txBody>
                  <a:tcPr marL="6350" marR="6350" marT="6350" marB="0" anchor="ctr"/>
                </a:tc>
                <a:tc>
                  <a:txBody>
                    <a:bodyPr/>
                    <a:lstStyle/>
                    <a:p>
                      <a:pPr algn="ctr" fontAlgn="b"/>
                      <a:r>
                        <a:rPr lang="en-IN" sz="1600" b="0" i="0" u="none" strike="noStrike">
                          <a:solidFill>
                            <a:srgbClr val="000000"/>
                          </a:solidFill>
                          <a:effectLst/>
                          <a:latin typeface="Calibri" panose="020F0502020204030204" pitchFamily="34" charset="0"/>
                        </a:rPr>
                        <a:t>91%</a:t>
                      </a:r>
                    </a:p>
                  </a:txBody>
                  <a:tcPr marL="6350" marR="6350" marT="6350" marB="0" anchor="ctr"/>
                </a:tc>
                <a:tc>
                  <a:txBody>
                    <a:bodyPr/>
                    <a:lstStyle/>
                    <a:p>
                      <a:pPr algn="ctr" fontAlgn="b"/>
                      <a:r>
                        <a:rPr lang="en-IN" sz="1600" b="0" i="0" u="none" strike="noStrike" dirty="0">
                          <a:solidFill>
                            <a:srgbClr val="000000"/>
                          </a:solidFill>
                          <a:effectLst/>
                          <a:latin typeface="Calibri" panose="020F0502020204030204" pitchFamily="34" charset="0"/>
                        </a:rPr>
                        <a:t>90%</a:t>
                      </a:r>
                    </a:p>
                  </a:txBody>
                  <a:tcPr marL="6350" marR="6350" marT="6350" marB="0" anchor="ctr"/>
                </a:tc>
                <a:extLst>
                  <a:ext uri="{0D108BD9-81ED-4DB2-BD59-A6C34878D82A}">
                    <a16:rowId xmlns:a16="http://schemas.microsoft.com/office/drawing/2014/main" val="10003"/>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3200" u="sng" dirty="0"/>
              <a:t>Detailed Breakdown </a:t>
            </a:r>
            <a:r>
              <a:rPr lang="en-IN" sz="3200" u="sng" dirty="0"/>
              <a:t>of Contribution </a:t>
            </a:r>
            <a:r>
              <a:rPr sz="3200" u="sng" dirty="0"/>
              <a:t>by Tactic (2019-2022)</a:t>
            </a:r>
          </a:p>
        </p:txBody>
      </p:sp>
      <p:graphicFrame>
        <p:nvGraphicFramePr>
          <p:cNvPr id="3" name="Table 2"/>
          <p:cNvGraphicFramePr>
            <a:graphicFrameLocks noGrp="1"/>
          </p:cNvGraphicFramePr>
          <p:nvPr>
            <p:extLst>
              <p:ext uri="{D42A27DB-BD31-4B8C-83A1-F6EECF244321}">
                <p14:modId xmlns:p14="http://schemas.microsoft.com/office/powerpoint/2010/main" val="381424429"/>
              </p:ext>
            </p:extLst>
          </p:nvPr>
        </p:nvGraphicFramePr>
        <p:xfrm>
          <a:off x="195942" y="1417638"/>
          <a:ext cx="8773890" cy="4836647"/>
        </p:xfrm>
        <a:graphic>
          <a:graphicData uri="http://schemas.openxmlformats.org/drawingml/2006/table">
            <a:tbl>
              <a:tblPr firstRow="1" bandRow="1">
                <a:tableStyleId>{5C22544A-7EE6-4342-B048-85BDC9FD1C3A}</a:tableStyleId>
              </a:tblPr>
              <a:tblGrid>
                <a:gridCol w="1462315">
                  <a:extLst>
                    <a:ext uri="{9D8B030D-6E8A-4147-A177-3AD203B41FA5}">
                      <a16:colId xmlns:a16="http://schemas.microsoft.com/office/drawing/2014/main" val="20000"/>
                    </a:ext>
                  </a:extLst>
                </a:gridCol>
                <a:gridCol w="1462315">
                  <a:extLst>
                    <a:ext uri="{9D8B030D-6E8A-4147-A177-3AD203B41FA5}">
                      <a16:colId xmlns:a16="http://schemas.microsoft.com/office/drawing/2014/main" val="20001"/>
                    </a:ext>
                  </a:extLst>
                </a:gridCol>
                <a:gridCol w="1462315">
                  <a:extLst>
                    <a:ext uri="{9D8B030D-6E8A-4147-A177-3AD203B41FA5}">
                      <a16:colId xmlns:a16="http://schemas.microsoft.com/office/drawing/2014/main" val="20002"/>
                    </a:ext>
                  </a:extLst>
                </a:gridCol>
                <a:gridCol w="1462315">
                  <a:extLst>
                    <a:ext uri="{9D8B030D-6E8A-4147-A177-3AD203B41FA5}">
                      <a16:colId xmlns:a16="http://schemas.microsoft.com/office/drawing/2014/main" val="20003"/>
                    </a:ext>
                  </a:extLst>
                </a:gridCol>
                <a:gridCol w="1462315">
                  <a:extLst>
                    <a:ext uri="{9D8B030D-6E8A-4147-A177-3AD203B41FA5}">
                      <a16:colId xmlns:a16="http://schemas.microsoft.com/office/drawing/2014/main" val="20004"/>
                    </a:ext>
                  </a:extLst>
                </a:gridCol>
                <a:gridCol w="1462315">
                  <a:extLst>
                    <a:ext uri="{9D8B030D-6E8A-4147-A177-3AD203B41FA5}">
                      <a16:colId xmlns:a16="http://schemas.microsoft.com/office/drawing/2014/main" val="20005"/>
                    </a:ext>
                  </a:extLst>
                </a:gridCol>
              </a:tblGrid>
              <a:tr h="248911">
                <a:tc>
                  <a:txBody>
                    <a:bodyPr/>
                    <a:lstStyle/>
                    <a:p>
                      <a:r>
                        <a:rPr sz="1200"/>
                        <a:t>Type</a:t>
                      </a:r>
                    </a:p>
                  </a:txBody>
                  <a:tcPr/>
                </a:tc>
                <a:tc>
                  <a:txBody>
                    <a:bodyPr/>
                    <a:lstStyle/>
                    <a:p>
                      <a:r>
                        <a:rPr sz="1200"/>
                        <a:t>Tactics</a:t>
                      </a:r>
                    </a:p>
                  </a:txBody>
                  <a:tcPr/>
                </a:tc>
                <a:tc>
                  <a:txBody>
                    <a:bodyPr/>
                    <a:lstStyle/>
                    <a:p>
                      <a:pPr algn="ctr"/>
                      <a:r>
                        <a:rPr sz="1200" dirty="0"/>
                        <a:t>2019</a:t>
                      </a:r>
                    </a:p>
                  </a:txBody>
                  <a:tcPr/>
                </a:tc>
                <a:tc>
                  <a:txBody>
                    <a:bodyPr/>
                    <a:lstStyle/>
                    <a:p>
                      <a:pPr algn="ctr"/>
                      <a:r>
                        <a:rPr sz="1200" dirty="0"/>
                        <a:t>2020</a:t>
                      </a:r>
                    </a:p>
                  </a:txBody>
                  <a:tcPr/>
                </a:tc>
                <a:tc>
                  <a:txBody>
                    <a:bodyPr/>
                    <a:lstStyle/>
                    <a:p>
                      <a:pPr algn="ctr"/>
                      <a:r>
                        <a:rPr sz="1200" dirty="0"/>
                        <a:t>2021</a:t>
                      </a:r>
                    </a:p>
                  </a:txBody>
                  <a:tcPr/>
                </a:tc>
                <a:tc>
                  <a:txBody>
                    <a:bodyPr/>
                    <a:lstStyle/>
                    <a:p>
                      <a:pPr algn="ctr"/>
                      <a:r>
                        <a:rPr sz="1200" dirty="0"/>
                        <a:t>2022</a:t>
                      </a:r>
                    </a:p>
                  </a:txBody>
                  <a:tcPr/>
                </a:tc>
                <a:extLst>
                  <a:ext uri="{0D108BD9-81ED-4DB2-BD59-A6C34878D82A}">
                    <a16:rowId xmlns:a16="http://schemas.microsoft.com/office/drawing/2014/main" val="10000"/>
                  </a:ext>
                </a:extLst>
              </a:tr>
              <a:tr h="248911">
                <a:tc>
                  <a:txBody>
                    <a:bodyPr/>
                    <a:lstStyle/>
                    <a:p>
                      <a:r>
                        <a:rPr sz="1200"/>
                        <a:t>Marketing</a:t>
                      </a:r>
                    </a:p>
                  </a:txBody>
                  <a:tcPr/>
                </a:tc>
                <a:tc>
                  <a:txBody>
                    <a:bodyPr/>
                    <a:lstStyle/>
                    <a:p>
                      <a:r>
                        <a:rPr sz="1200" dirty="0"/>
                        <a:t>TV</a:t>
                      </a:r>
                    </a:p>
                  </a:txBody>
                  <a:tcPr/>
                </a:tc>
                <a:tc>
                  <a:txBody>
                    <a:bodyPr/>
                    <a:lstStyle/>
                    <a:p>
                      <a:pPr algn="ctr" fontAlgn="b"/>
                      <a:r>
                        <a:rPr lang="en-IN" sz="1200" b="0" i="0" u="none" strike="noStrike" dirty="0">
                          <a:solidFill>
                            <a:srgbClr val="000000"/>
                          </a:solidFill>
                          <a:effectLst/>
                          <a:latin typeface="Calibri" panose="020F0502020204030204" pitchFamily="34" charset="0"/>
                        </a:rPr>
                        <a:t>1.95%</a:t>
                      </a:r>
                    </a:p>
                  </a:txBody>
                  <a:tcPr marL="6350" marR="6350" marT="6350" marB="0" anchor="ctr"/>
                </a:tc>
                <a:tc>
                  <a:txBody>
                    <a:bodyPr/>
                    <a:lstStyle/>
                    <a:p>
                      <a:pPr algn="ctr" fontAlgn="b"/>
                      <a:r>
                        <a:rPr lang="en-IN" sz="1200" b="0" i="0" u="none" strike="noStrike">
                          <a:solidFill>
                            <a:srgbClr val="000000"/>
                          </a:solidFill>
                          <a:effectLst/>
                          <a:latin typeface="Calibri" panose="020F0502020204030204" pitchFamily="34" charset="0"/>
                        </a:rPr>
                        <a:t>2.07%</a:t>
                      </a:r>
                    </a:p>
                  </a:txBody>
                  <a:tcPr marL="6350" marR="6350" marT="6350" marB="0" anchor="ctr"/>
                </a:tc>
                <a:tc>
                  <a:txBody>
                    <a:bodyPr/>
                    <a:lstStyle/>
                    <a:p>
                      <a:pPr algn="ctr" fontAlgn="b"/>
                      <a:r>
                        <a:rPr lang="en-IN" sz="1200" b="0" i="0" u="none" strike="noStrike">
                          <a:solidFill>
                            <a:srgbClr val="000000"/>
                          </a:solidFill>
                          <a:effectLst/>
                          <a:latin typeface="Calibri" panose="020F0502020204030204" pitchFamily="34" charset="0"/>
                        </a:rPr>
                        <a:t>1.38%</a:t>
                      </a:r>
                    </a:p>
                  </a:txBody>
                  <a:tcPr marL="6350" marR="6350" marT="6350" marB="0" anchor="ctr"/>
                </a:tc>
                <a:tc>
                  <a:txBody>
                    <a:bodyPr/>
                    <a:lstStyle/>
                    <a:p>
                      <a:pPr algn="ctr" fontAlgn="b"/>
                      <a:r>
                        <a:rPr lang="en-IN" sz="1200" b="0" i="0" u="none" strike="noStrike">
                          <a:solidFill>
                            <a:srgbClr val="000000"/>
                          </a:solidFill>
                          <a:effectLst/>
                          <a:latin typeface="Calibri" panose="020F0502020204030204" pitchFamily="34" charset="0"/>
                        </a:rPr>
                        <a:t>1.17%</a:t>
                      </a:r>
                    </a:p>
                  </a:txBody>
                  <a:tcPr marL="6350" marR="6350" marT="6350" marB="0" anchor="ctr"/>
                </a:tc>
                <a:extLst>
                  <a:ext uri="{0D108BD9-81ED-4DB2-BD59-A6C34878D82A}">
                    <a16:rowId xmlns:a16="http://schemas.microsoft.com/office/drawing/2014/main" val="10001"/>
                  </a:ext>
                </a:extLst>
              </a:tr>
              <a:tr h="248911">
                <a:tc>
                  <a:txBody>
                    <a:bodyPr/>
                    <a:lstStyle/>
                    <a:p>
                      <a:r>
                        <a:rPr sz="1200"/>
                        <a:t>Marketing</a:t>
                      </a:r>
                    </a:p>
                  </a:txBody>
                  <a:tcPr/>
                </a:tc>
                <a:tc>
                  <a:txBody>
                    <a:bodyPr/>
                    <a:lstStyle/>
                    <a:p>
                      <a:r>
                        <a:rPr sz="1200" dirty="0"/>
                        <a:t>Newspaper</a:t>
                      </a:r>
                    </a:p>
                  </a:txBody>
                  <a:tcPr/>
                </a:tc>
                <a:tc>
                  <a:txBody>
                    <a:bodyPr/>
                    <a:lstStyle/>
                    <a:p>
                      <a:pPr algn="ctr" fontAlgn="b"/>
                      <a:r>
                        <a:rPr lang="en-IN" sz="1200" b="0" i="0" u="none" strike="noStrike" dirty="0">
                          <a:solidFill>
                            <a:srgbClr val="000000"/>
                          </a:solidFill>
                          <a:effectLst/>
                          <a:latin typeface="Calibri" panose="020F0502020204030204" pitchFamily="34" charset="0"/>
                        </a:rPr>
                        <a:t>3.13%</a:t>
                      </a:r>
                    </a:p>
                  </a:txBody>
                  <a:tcPr marL="6350" marR="6350" marT="6350" marB="0" anchor="ctr"/>
                </a:tc>
                <a:tc>
                  <a:txBody>
                    <a:bodyPr/>
                    <a:lstStyle/>
                    <a:p>
                      <a:pPr algn="ctr" fontAlgn="b"/>
                      <a:r>
                        <a:rPr lang="en-IN" sz="1200" b="0" i="0" u="none" strike="noStrike">
                          <a:solidFill>
                            <a:srgbClr val="000000"/>
                          </a:solidFill>
                          <a:effectLst/>
                          <a:latin typeface="Calibri" panose="020F0502020204030204" pitchFamily="34" charset="0"/>
                        </a:rPr>
                        <a:t>1.58%</a:t>
                      </a:r>
                    </a:p>
                  </a:txBody>
                  <a:tcPr marL="6350" marR="6350" marT="6350" marB="0" anchor="ctr"/>
                </a:tc>
                <a:tc>
                  <a:txBody>
                    <a:bodyPr/>
                    <a:lstStyle/>
                    <a:p>
                      <a:pPr algn="ctr" fontAlgn="b"/>
                      <a:r>
                        <a:rPr lang="en-IN" sz="1200" b="0" i="0" u="none" strike="noStrike">
                          <a:solidFill>
                            <a:srgbClr val="000000"/>
                          </a:solidFill>
                          <a:effectLst/>
                          <a:latin typeface="Calibri" panose="020F0502020204030204" pitchFamily="34" charset="0"/>
                        </a:rPr>
                        <a:t>0.71%</a:t>
                      </a:r>
                    </a:p>
                  </a:txBody>
                  <a:tcPr marL="6350" marR="6350" marT="6350" marB="0" anchor="ctr"/>
                </a:tc>
                <a:tc>
                  <a:txBody>
                    <a:bodyPr/>
                    <a:lstStyle/>
                    <a:p>
                      <a:pPr algn="ctr" fontAlgn="b"/>
                      <a:r>
                        <a:rPr lang="en-IN" sz="1200" b="0" i="0" u="none" strike="noStrike">
                          <a:solidFill>
                            <a:srgbClr val="000000"/>
                          </a:solidFill>
                          <a:effectLst/>
                          <a:latin typeface="Calibri" panose="020F0502020204030204" pitchFamily="34" charset="0"/>
                        </a:rPr>
                        <a:t>1.58%</a:t>
                      </a:r>
                    </a:p>
                  </a:txBody>
                  <a:tcPr marL="6350" marR="6350" marT="6350" marB="0" anchor="ctr"/>
                </a:tc>
                <a:extLst>
                  <a:ext uri="{0D108BD9-81ED-4DB2-BD59-A6C34878D82A}">
                    <a16:rowId xmlns:a16="http://schemas.microsoft.com/office/drawing/2014/main" val="10002"/>
                  </a:ext>
                </a:extLst>
              </a:tr>
              <a:tr h="248911">
                <a:tc>
                  <a:txBody>
                    <a:bodyPr/>
                    <a:lstStyle/>
                    <a:p>
                      <a:r>
                        <a:rPr sz="1200"/>
                        <a:t>Marketing</a:t>
                      </a:r>
                    </a:p>
                  </a:txBody>
                  <a:tcPr/>
                </a:tc>
                <a:tc>
                  <a:txBody>
                    <a:bodyPr/>
                    <a:lstStyle/>
                    <a:p>
                      <a:r>
                        <a:rPr sz="1200"/>
                        <a:t>Fb_Ig</a:t>
                      </a:r>
                    </a:p>
                  </a:txBody>
                  <a:tcPr/>
                </a:tc>
                <a:tc>
                  <a:txBody>
                    <a:bodyPr/>
                    <a:lstStyle/>
                    <a:p>
                      <a:pPr algn="ctr" fontAlgn="b"/>
                      <a:r>
                        <a:rPr lang="en-IN" sz="1200" b="0" i="0" u="none" strike="noStrike" dirty="0">
                          <a:solidFill>
                            <a:srgbClr val="000000"/>
                          </a:solidFill>
                          <a:effectLst/>
                          <a:latin typeface="Calibri" panose="020F0502020204030204" pitchFamily="34" charset="0"/>
                        </a:rPr>
                        <a:t>0.73%</a:t>
                      </a:r>
                    </a:p>
                  </a:txBody>
                  <a:tcPr marL="6350" marR="6350" marT="6350" marB="0" anchor="ctr"/>
                </a:tc>
                <a:tc>
                  <a:txBody>
                    <a:bodyPr/>
                    <a:lstStyle/>
                    <a:p>
                      <a:pPr algn="ctr" fontAlgn="b"/>
                      <a:r>
                        <a:rPr lang="en-IN" sz="1200" b="0" i="0" u="none" strike="noStrike">
                          <a:solidFill>
                            <a:srgbClr val="000000"/>
                          </a:solidFill>
                          <a:effectLst/>
                          <a:latin typeface="Calibri" panose="020F0502020204030204" pitchFamily="34" charset="0"/>
                        </a:rPr>
                        <a:t>2.77%</a:t>
                      </a:r>
                    </a:p>
                  </a:txBody>
                  <a:tcPr marL="6350" marR="6350" marT="6350" marB="0" anchor="ctr"/>
                </a:tc>
                <a:tc>
                  <a:txBody>
                    <a:bodyPr/>
                    <a:lstStyle/>
                    <a:p>
                      <a:pPr algn="ctr" fontAlgn="b"/>
                      <a:r>
                        <a:rPr lang="en-IN" sz="1200" b="0" i="0" u="none" strike="noStrike">
                          <a:solidFill>
                            <a:srgbClr val="000000"/>
                          </a:solidFill>
                          <a:effectLst/>
                          <a:latin typeface="Calibri" panose="020F0502020204030204" pitchFamily="34" charset="0"/>
                        </a:rPr>
                        <a:t>0.40%</a:t>
                      </a:r>
                    </a:p>
                  </a:txBody>
                  <a:tcPr marL="6350" marR="6350" marT="6350" marB="0" anchor="ctr"/>
                </a:tc>
                <a:tc>
                  <a:txBody>
                    <a:bodyPr/>
                    <a:lstStyle/>
                    <a:p>
                      <a:pPr algn="ctr" fontAlgn="b"/>
                      <a:r>
                        <a:rPr lang="en-IN" sz="1200" b="0" i="0" u="none" strike="noStrike">
                          <a:solidFill>
                            <a:srgbClr val="000000"/>
                          </a:solidFill>
                          <a:effectLst/>
                          <a:latin typeface="Calibri" panose="020F0502020204030204" pitchFamily="34" charset="0"/>
                        </a:rPr>
                        <a:t>1.08%</a:t>
                      </a:r>
                    </a:p>
                  </a:txBody>
                  <a:tcPr marL="6350" marR="6350" marT="6350" marB="0" anchor="ctr"/>
                </a:tc>
                <a:extLst>
                  <a:ext uri="{0D108BD9-81ED-4DB2-BD59-A6C34878D82A}">
                    <a16:rowId xmlns:a16="http://schemas.microsoft.com/office/drawing/2014/main" val="10003"/>
                  </a:ext>
                </a:extLst>
              </a:tr>
              <a:tr h="248911">
                <a:tc>
                  <a:txBody>
                    <a:bodyPr/>
                    <a:lstStyle/>
                    <a:p>
                      <a:r>
                        <a:rPr sz="1200"/>
                        <a:t>Marketing</a:t>
                      </a:r>
                    </a:p>
                  </a:txBody>
                  <a:tcPr/>
                </a:tc>
                <a:tc>
                  <a:txBody>
                    <a:bodyPr/>
                    <a:lstStyle/>
                    <a:p>
                      <a:r>
                        <a:rPr sz="1200"/>
                        <a:t>Whatsapp</a:t>
                      </a:r>
                    </a:p>
                  </a:txBody>
                  <a:tcPr/>
                </a:tc>
                <a:tc>
                  <a:txBody>
                    <a:bodyPr/>
                    <a:lstStyle/>
                    <a:p>
                      <a:pPr algn="ctr" fontAlgn="b"/>
                      <a:r>
                        <a:rPr lang="en-IN" sz="1200" b="0" i="0" u="none" strike="noStrike" dirty="0">
                          <a:solidFill>
                            <a:schemeClr val="tx1"/>
                          </a:solidFill>
                          <a:effectLst/>
                          <a:latin typeface="Calibri" panose="020F0502020204030204" pitchFamily="34" charset="0"/>
                        </a:rPr>
                        <a:t>0.00%</a:t>
                      </a:r>
                    </a:p>
                  </a:txBody>
                  <a:tcPr marL="6350" marR="6350" marT="6350" marB="0" anchor="ctr"/>
                </a:tc>
                <a:tc>
                  <a:txBody>
                    <a:bodyPr/>
                    <a:lstStyle/>
                    <a:p>
                      <a:pPr algn="ctr" fontAlgn="b"/>
                      <a:r>
                        <a:rPr lang="en-IN" sz="1200" b="0" i="0" u="none" strike="noStrike">
                          <a:solidFill>
                            <a:srgbClr val="000000"/>
                          </a:solidFill>
                          <a:effectLst/>
                          <a:latin typeface="Calibri" panose="020F0502020204030204" pitchFamily="34" charset="0"/>
                        </a:rPr>
                        <a:t>0.07%</a:t>
                      </a:r>
                    </a:p>
                  </a:txBody>
                  <a:tcPr marL="6350" marR="6350" marT="6350" marB="0" anchor="ctr"/>
                </a:tc>
                <a:tc>
                  <a:txBody>
                    <a:bodyPr/>
                    <a:lstStyle/>
                    <a:p>
                      <a:pPr algn="ctr" fontAlgn="b"/>
                      <a:r>
                        <a:rPr lang="en-IN" sz="1200" b="0" i="0" u="none" strike="noStrike">
                          <a:solidFill>
                            <a:srgbClr val="000000"/>
                          </a:solidFill>
                          <a:effectLst/>
                          <a:latin typeface="Calibri" panose="020F0502020204030204" pitchFamily="34" charset="0"/>
                        </a:rPr>
                        <a:t>0.00%</a:t>
                      </a:r>
                    </a:p>
                  </a:txBody>
                  <a:tcPr marL="6350" marR="6350" marT="6350" marB="0" anchor="ctr"/>
                </a:tc>
                <a:tc>
                  <a:txBody>
                    <a:bodyPr/>
                    <a:lstStyle/>
                    <a:p>
                      <a:pPr algn="ctr" fontAlgn="b"/>
                      <a:r>
                        <a:rPr lang="en-IN" sz="1200" b="0" i="0" u="none" strike="noStrike">
                          <a:solidFill>
                            <a:srgbClr val="000000"/>
                          </a:solidFill>
                          <a:effectLst/>
                          <a:latin typeface="Calibri" panose="020F0502020204030204" pitchFamily="34" charset="0"/>
                        </a:rPr>
                        <a:t>0.00%</a:t>
                      </a:r>
                    </a:p>
                  </a:txBody>
                  <a:tcPr marL="6350" marR="6350" marT="6350" marB="0" anchor="ctr"/>
                </a:tc>
                <a:extLst>
                  <a:ext uri="{0D108BD9-81ED-4DB2-BD59-A6C34878D82A}">
                    <a16:rowId xmlns:a16="http://schemas.microsoft.com/office/drawing/2014/main" val="10004"/>
                  </a:ext>
                </a:extLst>
              </a:tr>
              <a:tr h="248911">
                <a:tc>
                  <a:txBody>
                    <a:bodyPr/>
                    <a:lstStyle/>
                    <a:p>
                      <a:r>
                        <a:rPr sz="1200"/>
                        <a:t>Marketing</a:t>
                      </a:r>
                    </a:p>
                  </a:txBody>
                  <a:tcPr/>
                </a:tc>
                <a:tc>
                  <a:txBody>
                    <a:bodyPr/>
                    <a:lstStyle/>
                    <a:p>
                      <a:r>
                        <a:rPr sz="1200"/>
                        <a:t>Youtube</a:t>
                      </a:r>
                    </a:p>
                  </a:txBody>
                  <a:tcPr/>
                </a:tc>
                <a:tc>
                  <a:txBody>
                    <a:bodyPr/>
                    <a:lstStyle/>
                    <a:p>
                      <a:pPr algn="ctr" fontAlgn="b"/>
                      <a:r>
                        <a:rPr lang="en-IN" sz="1200" b="0" i="0" u="none" strike="noStrike">
                          <a:solidFill>
                            <a:srgbClr val="000000"/>
                          </a:solidFill>
                          <a:effectLst/>
                          <a:latin typeface="Calibri" panose="020F0502020204030204" pitchFamily="34" charset="0"/>
                        </a:rPr>
                        <a:t>0.24%</a:t>
                      </a:r>
                    </a:p>
                  </a:txBody>
                  <a:tcPr marL="6350" marR="6350" marT="6350" marB="0" anchor="ctr"/>
                </a:tc>
                <a:tc>
                  <a:txBody>
                    <a:bodyPr/>
                    <a:lstStyle/>
                    <a:p>
                      <a:pPr algn="ctr" fontAlgn="b"/>
                      <a:r>
                        <a:rPr lang="en-IN" sz="1200" b="0" i="0" u="none" strike="noStrike">
                          <a:solidFill>
                            <a:srgbClr val="000000"/>
                          </a:solidFill>
                          <a:effectLst/>
                          <a:latin typeface="Calibri" panose="020F0502020204030204" pitchFamily="34" charset="0"/>
                        </a:rPr>
                        <a:t>0.54%</a:t>
                      </a:r>
                    </a:p>
                  </a:txBody>
                  <a:tcPr marL="6350" marR="6350" marT="6350" marB="0" anchor="ctr"/>
                </a:tc>
                <a:tc>
                  <a:txBody>
                    <a:bodyPr/>
                    <a:lstStyle/>
                    <a:p>
                      <a:pPr algn="ctr" fontAlgn="b"/>
                      <a:r>
                        <a:rPr lang="en-IN" sz="1200" b="0" i="0" u="none" strike="noStrike">
                          <a:solidFill>
                            <a:srgbClr val="000000"/>
                          </a:solidFill>
                          <a:effectLst/>
                          <a:latin typeface="Calibri" panose="020F0502020204030204" pitchFamily="34" charset="0"/>
                        </a:rPr>
                        <a:t>0.11%</a:t>
                      </a:r>
                    </a:p>
                  </a:txBody>
                  <a:tcPr marL="6350" marR="6350" marT="6350" marB="0" anchor="ctr"/>
                </a:tc>
                <a:tc>
                  <a:txBody>
                    <a:bodyPr/>
                    <a:lstStyle/>
                    <a:p>
                      <a:pPr algn="ctr" fontAlgn="b"/>
                      <a:r>
                        <a:rPr lang="en-IN" sz="1200" b="0" i="0" u="none" strike="noStrike">
                          <a:solidFill>
                            <a:srgbClr val="000000"/>
                          </a:solidFill>
                          <a:effectLst/>
                          <a:latin typeface="Calibri" panose="020F0502020204030204" pitchFamily="34" charset="0"/>
                        </a:rPr>
                        <a:t>0.17%</a:t>
                      </a:r>
                    </a:p>
                  </a:txBody>
                  <a:tcPr marL="6350" marR="6350" marT="6350" marB="0" anchor="ctr"/>
                </a:tc>
                <a:extLst>
                  <a:ext uri="{0D108BD9-81ED-4DB2-BD59-A6C34878D82A}">
                    <a16:rowId xmlns:a16="http://schemas.microsoft.com/office/drawing/2014/main" val="10005"/>
                  </a:ext>
                </a:extLst>
              </a:tr>
              <a:tr h="248911">
                <a:tc>
                  <a:txBody>
                    <a:bodyPr/>
                    <a:lstStyle/>
                    <a:p>
                      <a:r>
                        <a:rPr sz="1200"/>
                        <a:t>Marketing</a:t>
                      </a:r>
                    </a:p>
                  </a:txBody>
                  <a:tcPr/>
                </a:tc>
                <a:tc>
                  <a:txBody>
                    <a:bodyPr/>
                    <a:lstStyle/>
                    <a:p>
                      <a:r>
                        <a:rPr sz="1200"/>
                        <a:t>Hotstar</a:t>
                      </a:r>
                    </a:p>
                  </a:txBody>
                  <a:tcPr/>
                </a:tc>
                <a:tc>
                  <a:txBody>
                    <a:bodyPr/>
                    <a:lstStyle/>
                    <a:p>
                      <a:pPr algn="ctr" fontAlgn="b"/>
                      <a:r>
                        <a:rPr lang="en-IN" sz="1200" b="0" i="0" u="none" strike="noStrike">
                          <a:solidFill>
                            <a:srgbClr val="000000"/>
                          </a:solidFill>
                          <a:effectLst/>
                          <a:latin typeface="Calibri" panose="020F0502020204030204" pitchFamily="34" charset="0"/>
                        </a:rPr>
                        <a:t>0.76%</a:t>
                      </a:r>
                    </a:p>
                  </a:txBody>
                  <a:tcPr marL="6350" marR="6350" marT="6350" marB="0" anchor="ctr"/>
                </a:tc>
                <a:tc>
                  <a:txBody>
                    <a:bodyPr/>
                    <a:lstStyle/>
                    <a:p>
                      <a:pPr algn="ctr" fontAlgn="b"/>
                      <a:r>
                        <a:rPr lang="en-IN" sz="1200" b="0" i="0" u="none" strike="noStrike">
                          <a:solidFill>
                            <a:srgbClr val="000000"/>
                          </a:solidFill>
                          <a:effectLst/>
                          <a:latin typeface="Calibri" panose="020F0502020204030204" pitchFamily="34" charset="0"/>
                        </a:rPr>
                        <a:t>1.85%</a:t>
                      </a:r>
                    </a:p>
                  </a:txBody>
                  <a:tcPr marL="6350" marR="6350" marT="6350" marB="0" anchor="ctr"/>
                </a:tc>
                <a:tc>
                  <a:txBody>
                    <a:bodyPr/>
                    <a:lstStyle/>
                    <a:p>
                      <a:pPr algn="ctr" fontAlgn="b"/>
                      <a:r>
                        <a:rPr lang="en-IN" sz="1200" b="0" i="0" u="none" strike="noStrike">
                          <a:solidFill>
                            <a:srgbClr val="000000"/>
                          </a:solidFill>
                          <a:effectLst/>
                          <a:latin typeface="Calibri" panose="020F0502020204030204" pitchFamily="34" charset="0"/>
                        </a:rPr>
                        <a:t>0.61%</a:t>
                      </a:r>
                    </a:p>
                  </a:txBody>
                  <a:tcPr marL="6350" marR="6350" marT="6350" marB="0" anchor="ctr"/>
                </a:tc>
                <a:tc>
                  <a:txBody>
                    <a:bodyPr/>
                    <a:lstStyle/>
                    <a:p>
                      <a:pPr algn="ctr" fontAlgn="b"/>
                      <a:r>
                        <a:rPr lang="en-IN" sz="1200" b="0" i="0" u="none" strike="noStrike">
                          <a:solidFill>
                            <a:srgbClr val="000000"/>
                          </a:solidFill>
                          <a:effectLst/>
                          <a:latin typeface="Calibri" panose="020F0502020204030204" pitchFamily="34" charset="0"/>
                        </a:rPr>
                        <a:t>0.76%</a:t>
                      </a:r>
                    </a:p>
                  </a:txBody>
                  <a:tcPr marL="6350" marR="6350" marT="6350" marB="0" anchor="ctr"/>
                </a:tc>
                <a:extLst>
                  <a:ext uri="{0D108BD9-81ED-4DB2-BD59-A6C34878D82A}">
                    <a16:rowId xmlns:a16="http://schemas.microsoft.com/office/drawing/2014/main" val="10006"/>
                  </a:ext>
                </a:extLst>
              </a:tr>
              <a:tr h="248911">
                <a:tc>
                  <a:txBody>
                    <a:bodyPr/>
                    <a:lstStyle/>
                    <a:p>
                      <a:r>
                        <a:rPr sz="1200"/>
                        <a:t>Marketing</a:t>
                      </a:r>
                    </a:p>
                  </a:txBody>
                  <a:tcPr/>
                </a:tc>
                <a:tc>
                  <a:txBody>
                    <a:bodyPr/>
                    <a:lstStyle/>
                    <a:p>
                      <a:r>
                        <a:rPr sz="1200"/>
                        <a:t>Jio</a:t>
                      </a:r>
                    </a:p>
                  </a:txBody>
                  <a:tcPr/>
                </a:tc>
                <a:tc>
                  <a:txBody>
                    <a:bodyPr/>
                    <a:lstStyle/>
                    <a:p>
                      <a:pPr algn="ctr" fontAlgn="b"/>
                      <a:r>
                        <a:rPr lang="en-IN" sz="1200" b="0" i="0" u="none" strike="noStrike">
                          <a:solidFill>
                            <a:srgbClr val="000000"/>
                          </a:solidFill>
                          <a:effectLst/>
                          <a:latin typeface="Calibri" panose="020F0502020204030204" pitchFamily="34" charset="0"/>
                        </a:rPr>
                        <a:t>0.02%</a:t>
                      </a:r>
                    </a:p>
                  </a:txBody>
                  <a:tcPr marL="6350" marR="6350" marT="6350" marB="0" anchor="ctr"/>
                </a:tc>
                <a:tc>
                  <a:txBody>
                    <a:bodyPr/>
                    <a:lstStyle/>
                    <a:p>
                      <a:pPr algn="ctr" fontAlgn="b"/>
                      <a:r>
                        <a:rPr lang="en-IN" sz="1200" b="0" i="0" u="none" strike="noStrike">
                          <a:solidFill>
                            <a:srgbClr val="000000"/>
                          </a:solidFill>
                          <a:effectLst/>
                          <a:latin typeface="Calibri" panose="020F0502020204030204" pitchFamily="34" charset="0"/>
                        </a:rPr>
                        <a:t>0.56%</a:t>
                      </a:r>
                    </a:p>
                  </a:txBody>
                  <a:tcPr marL="6350" marR="6350" marT="6350" marB="0" anchor="ctr"/>
                </a:tc>
                <a:tc>
                  <a:txBody>
                    <a:bodyPr/>
                    <a:lstStyle/>
                    <a:p>
                      <a:pPr algn="ctr" fontAlgn="b"/>
                      <a:r>
                        <a:rPr lang="en-IN" sz="1200" b="0" i="0" u="none" strike="noStrike">
                          <a:solidFill>
                            <a:srgbClr val="000000"/>
                          </a:solidFill>
                          <a:effectLst/>
                          <a:latin typeface="Calibri" panose="020F0502020204030204" pitchFamily="34" charset="0"/>
                        </a:rPr>
                        <a:t>0.21%</a:t>
                      </a:r>
                    </a:p>
                  </a:txBody>
                  <a:tcPr marL="6350" marR="6350" marT="6350" marB="0" anchor="ctr"/>
                </a:tc>
                <a:tc>
                  <a:txBody>
                    <a:bodyPr/>
                    <a:lstStyle/>
                    <a:p>
                      <a:pPr algn="ctr" fontAlgn="b"/>
                      <a:r>
                        <a:rPr lang="en-IN" sz="1200" b="0" i="0" u="none" strike="noStrike">
                          <a:solidFill>
                            <a:srgbClr val="000000"/>
                          </a:solidFill>
                          <a:effectLst/>
                          <a:latin typeface="Calibri" panose="020F0502020204030204" pitchFamily="34" charset="0"/>
                        </a:rPr>
                        <a:t>0.02%</a:t>
                      </a:r>
                    </a:p>
                  </a:txBody>
                  <a:tcPr marL="6350" marR="6350" marT="6350" marB="0" anchor="ctr"/>
                </a:tc>
                <a:extLst>
                  <a:ext uri="{0D108BD9-81ED-4DB2-BD59-A6C34878D82A}">
                    <a16:rowId xmlns:a16="http://schemas.microsoft.com/office/drawing/2014/main" val="10007"/>
                  </a:ext>
                </a:extLst>
              </a:tr>
              <a:tr h="295773">
                <a:tc>
                  <a:txBody>
                    <a:bodyPr/>
                    <a:lstStyle/>
                    <a:p>
                      <a:r>
                        <a:rPr sz="1200" dirty="0"/>
                        <a:t>Marketing</a:t>
                      </a:r>
                    </a:p>
                  </a:txBody>
                  <a:tcPr/>
                </a:tc>
                <a:tc>
                  <a:txBody>
                    <a:bodyPr/>
                    <a:lstStyle/>
                    <a:p>
                      <a:r>
                        <a:rPr sz="1200"/>
                        <a:t>Google_Display</a:t>
                      </a:r>
                    </a:p>
                  </a:txBody>
                  <a:tcPr/>
                </a:tc>
                <a:tc>
                  <a:txBody>
                    <a:bodyPr/>
                    <a:lstStyle/>
                    <a:p>
                      <a:pPr algn="ctr" fontAlgn="b"/>
                      <a:r>
                        <a:rPr lang="en-IN" sz="1200" b="0" i="0" u="none" strike="noStrike">
                          <a:solidFill>
                            <a:srgbClr val="000000"/>
                          </a:solidFill>
                          <a:effectLst/>
                          <a:latin typeface="Calibri" panose="020F0502020204030204" pitchFamily="34" charset="0"/>
                        </a:rPr>
                        <a:t>1.28%</a:t>
                      </a:r>
                    </a:p>
                  </a:txBody>
                  <a:tcPr marL="6350" marR="6350" marT="6350" marB="0" anchor="ctr"/>
                </a:tc>
                <a:tc>
                  <a:txBody>
                    <a:bodyPr/>
                    <a:lstStyle/>
                    <a:p>
                      <a:pPr algn="ctr" fontAlgn="b"/>
                      <a:r>
                        <a:rPr lang="en-IN" sz="1200" b="0" i="0" u="none" strike="noStrike">
                          <a:solidFill>
                            <a:srgbClr val="000000"/>
                          </a:solidFill>
                          <a:effectLst/>
                          <a:latin typeface="Calibri" panose="020F0502020204030204" pitchFamily="34" charset="0"/>
                        </a:rPr>
                        <a:t>0.53%</a:t>
                      </a:r>
                    </a:p>
                  </a:txBody>
                  <a:tcPr marL="6350" marR="6350" marT="6350" marB="0" anchor="ctr"/>
                </a:tc>
                <a:tc>
                  <a:txBody>
                    <a:bodyPr/>
                    <a:lstStyle/>
                    <a:p>
                      <a:pPr algn="ctr" fontAlgn="b"/>
                      <a:r>
                        <a:rPr lang="en-IN" sz="1200" b="0" i="0" u="none" strike="noStrike">
                          <a:solidFill>
                            <a:srgbClr val="000000"/>
                          </a:solidFill>
                          <a:effectLst/>
                          <a:latin typeface="Calibri" panose="020F0502020204030204" pitchFamily="34" charset="0"/>
                        </a:rPr>
                        <a:t>0.99%</a:t>
                      </a:r>
                    </a:p>
                  </a:txBody>
                  <a:tcPr marL="6350" marR="6350" marT="6350" marB="0" anchor="ctr"/>
                </a:tc>
                <a:tc>
                  <a:txBody>
                    <a:bodyPr/>
                    <a:lstStyle/>
                    <a:p>
                      <a:pPr algn="ctr" fontAlgn="b"/>
                      <a:r>
                        <a:rPr lang="en-IN" sz="1200" b="0" i="0" u="none" strike="noStrike">
                          <a:solidFill>
                            <a:srgbClr val="000000"/>
                          </a:solidFill>
                          <a:effectLst/>
                          <a:latin typeface="Calibri" panose="020F0502020204030204" pitchFamily="34" charset="0"/>
                        </a:rPr>
                        <a:t>0.45%</a:t>
                      </a:r>
                    </a:p>
                  </a:txBody>
                  <a:tcPr marL="6350" marR="6350" marT="6350" marB="0" anchor="ctr"/>
                </a:tc>
                <a:extLst>
                  <a:ext uri="{0D108BD9-81ED-4DB2-BD59-A6C34878D82A}">
                    <a16:rowId xmlns:a16="http://schemas.microsoft.com/office/drawing/2014/main" val="10008"/>
                  </a:ext>
                </a:extLst>
              </a:tr>
              <a:tr h="295609">
                <a:tc>
                  <a:txBody>
                    <a:bodyPr/>
                    <a:lstStyle/>
                    <a:p>
                      <a:r>
                        <a:rPr sz="1200" dirty="0"/>
                        <a:t>Marketing</a:t>
                      </a:r>
                    </a:p>
                  </a:txBody>
                  <a:tcPr/>
                </a:tc>
                <a:tc>
                  <a:txBody>
                    <a:bodyPr/>
                    <a:lstStyle/>
                    <a:p>
                      <a:r>
                        <a:rPr sz="1200"/>
                        <a:t>Ventes_Avenue</a:t>
                      </a:r>
                    </a:p>
                  </a:txBody>
                  <a:tcPr/>
                </a:tc>
                <a:tc>
                  <a:txBody>
                    <a:bodyPr/>
                    <a:lstStyle/>
                    <a:p>
                      <a:pPr algn="ctr" fontAlgn="b"/>
                      <a:r>
                        <a:rPr lang="en-IN" sz="1200" b="0" i="0" u="none" strike="noStrike">
                          <a:solidFill>
                            <a:srgbClr val="000000"/>
                          </a:solidFill>
                          <a:effectLst/>
                          <a:latin typeface="Calibri" panose="020F0502020204030204" pitchFamily="34" charset="0"/>
                        </a:rPr>
                        <a:t>1.46%</a:t>
                      </a:r>
                    </a:p>
                  </a:txBody>
                  <a:tcPr marL="6350" marR="6350" marT="6350" marB="0" anchor="ctr"/>
                </a:tc>
                <a:tc>
                  <a:txBody>
                    <a:bodyPr/>
                    <a:lstStyle/>
                    <a:p>
                      <a:pPr algn="ctr" fontAlgn="b"/>
                      <a:r>
                        <a:rPr lang="en-IN" sz="1200" b="0" i="0" u="none" strike="noStrike">
                          <a:solidFill>
                            <a:srgbClr val="000000"/>
                          </a:solidFill>
                          <a:effectLst/>
                          <a:latin typeface="Calibri" panose="020F0502020204030204" pitchFamily="34" charset="0"/>
                        </a:rPr>
                        <a:t>2.48%</a:t>
                      </a:r>
                    </a:p>
                  </a:txBody>
                  <a:tcPr marL="6350" marR="6350" marT="6350" marB="0" anchor="ctr"/>
                </a:tc>
                <a:tc>
                  <a:txBody>
                    <a:bodyPr/>
                    <a:lstStyle/>
                    <a:p>
                      <a:pPr algn="ctr" fontAlgn="b"/>
                      <a:r>
                        <a:rPr lang="en-IN" sz="1200" b="0" i="0" u="none" strike="noStrike">
                          <a:solidFill>
                            <a:srgbClr val="000000"/>
                          </a:solidFill>
                          <a:effectLst/>
                          <a:latin typeface="Calibri" panose="020F0502020204030204" pitchFamily="34" charset="0"/>
                        </a:rPr>
                        <a:t>1.75%</a:t>
                      </a:r>
                    </a:p>
                  </a:txBody>
                  <a:tcPr marL="6350" marR="6350" marT="6350" marB="0" anchor="ctr"/>
                </a:tc>
                <a:tc>
                  <a:txBody>
                    <a:bodyPr/>
                    <a:lstStyle/>
                    <a:p>
                      <a:pPr algn="ctr" fontAlgn="b"/>
                      <a:r>
                        <a:rPr lang="en-IN" sz="1200" b="0" i="0" u="none" strike="noStrike">
                          <a:solidFill>
                            <a:srgbClr val="000000"/>
                          </a:solidFill>
                          <a:effectLst/>
                          <a:latin typeface="Calibri" panose="020F0502020204030204" pitchFamily="34" charset="0"/>
                        </a:rPr>
                        <a:t>1.66%</a:t>
                      </a:r>
                    </a:p>
                  </a:txBody>
                  <a:tcPr marL="6350" marR="6350" marT="6350" marB="0" anchor="ctr"/>
                </a:tc>
                <a:extLst>
                  <a:ext uri="{0D108BD9-81ED-4DB2-BD59-A6C34878D82A}">
                    <a16:rowId xmlns:a16="http://schemas.microsoft.com/office/drawing/2014/main" val="10009"/>
                  </a:ext>
                </a:extLst>
              </a:tr>
              <a:tr h="317216">
                <a:tc>
                  <a:txBody>
                    <a:bodyPr/>
                    <a:lstStyle/>
                    <a:p>
                      <a:r>
                        <a:rPr sz="1200" dirty="0"/>
                        <a:t>Promotions</a:t>
                      </a:r>
                    </a:p>
                  </a:txBody>
                  <a:tcPr/>
                </a:tc>
                <a:tc>
                  <a:txBody>
                    <a:bodyPr/>
                    <a:lstStyle/>
                    <a:p>
                      <a:r>
                        <a:rPr lang="en-US" sz="1100" dirty="0" err="1"/>
                        <a:t>Consumer</a:t>
                      </a:r>
                      <a:r>
                        <a:rPr sz="1100" dirty="0" err="1"/>
                        <a:t>_promotion</a:t>
                      </a:r>
                      <a:endParaRPr sz="1100" dirty="0"/>
                    </a:p>
                  </a:txBody>
                  <a:tcPr/>
                </a:tc>
                <a:tc>
                  <a:txBody>
                    <a:bodyPr/>
                    <a:lstStyle/>
                    <a:p>
                      <a:pPr algn="ctr" fontAlgn="b"/>
                      <a:r>
                        <a:rPr lang="en-IN" sz="1200" b="0" i="0" u="none" strike="noStrike">
                          <a:solidFill>
                            <a:srgbClr val="000000"/>
                          </a:solidFill>
                          <a:effectLst/>
                          <a:latin typeface="Calibri" panose="020F0502020204030204" pitchFamily="34" charset="0"/>
                        </a:rPr>
                        <a:t>0.23%</a:t>
                      </a:r>
                    </a:p>
                  </a:txBody>
                  <a:tcPr marL="6350" marR="6350" marT="6350" marB="0" anchor="ctr"/>
                </a:tc>
                <a:tc>
                  <a:txBody>
                    <a:bodyPr/>
                    <a:lstStyle/>
                    <a:p>
                      <a:pPr algn="ctr" fontAlgn="b"/>
                      <a:r>
                        <a:rPr lang="en-IN" sz="1200" b="0" i="0" u="none" strike="noStrike">
                          <a:solidFill>
                            <a:srgbClr val="000000"/>
                          </a:solidFill>
                          <a:effectLst/>
                          <a:latin typeface="Calibri" panose="020F0502020204030204" pitchFamily="34" charset="0"/>
                        </a:rPr>
                        <a:t>0.55%</a:t>
                      </a:r>
                    </a:p>
                  </a:txBody>
                  <a:tcPr marL="6350" marR="6350" marT="6350" marB="0" anchor="ctr"/>
                </a:tc>
                <a:tc>
                  <a:txBody>
                    <a:bodyPr/>
                    <a:lstStyle/>
                    <a:p>
                      <a:pPr algn="ctr" fontAlgn="b"/>
                      <a:r>
                        <a:rPr lang="en-IN" sz="1200" b="0" i="0" u="none" strike="noStrike">
                          <a:solidFill>
                            <a:srgbClr val="000000"/>
                          </a:solidFill>
                          <a:effectLst/>
                          <a:latin typeface="Calibri" panose="020F0502020204030204" pitchFamily="34" charset="0"/>
                        </a:rPr>
                        <a:t>0.51%</a:t>
                      </a:r>
                    </a:p>
                  </a:txBody>
                  <a:tcPr marL="6350" marR="6350" marT="6350" marB="0" anchor="ctr"/>
                </a:tc>
                <a:tc>
                  <a:txBody>
                    <a:bodyPr/>
                    <a:lstStyle/>
                    <a:p>
                      <a:pPr algn="ctr" fontAlgn="b"/>
                      <a:r>
                        <a:rPr lang="en-IN" sz="1200" b="0" i="0" u="none" strike="noStrike">
                          <a:solidFill>
                            <a:srgbClr val="000000"/>
                          </a:solidFill>
                          <a:effectLst/>
                          <a:latin typeface="Calibri" panose="020F0502020204030204" pitchFamily="34" charset="0"/>
                        </a:rPr>
                        <a:t>0.74%</a:t>
                      </a:r>
                    </a:p>
                  </a:txBody>
                  <a:tcPr marL="6350" marR="6350" marT="6350" marB="0" anchor="ctr"/>
                </a:tc>
                <a:extLst>
                  <a:ext uri="{0D108BD9-81ED-4DB2-BD59-A6C34878D82A}">
                    <a16:rowId xmlns:a16="http://schemas.microsoft.com/office/drawing/2014/main" val="932610879"/>
                  </a:ext>
                </a:extLst>
              </a:tr>
              <a:tr h="317216">
                <a:tc>
                  <a:txBody>
                    <a:bodyPr/>
                    <a:lstStyle/>
                    <a:p>
                      <a:r>
                        <a:rPr sz="1200" dirty="0"/>
                        <a:t>Promotions</a:t>
                      </a:r>
                    </a:p>
                  </a:txBody>
                  <a:tcPr/>
                </a:tc>
                <a:tc>
                  <a:txBody>
                    <a:bodyPr/>
                    <a:lstStyle/>
                    <a:p>
                      <a:r>
                        <a:rPr sz="1200" dirty="0" err="1"/>
                        <a:t>Trade_promotion</a:t>
                      </a:r>
                      <a:endParaRPr sz="1200" dirty="0"/>
                    </a:p>
                  </a:txBody>
                  <a:tcPr/>
                </a:tc>
                <a:tc>
                  <a:txBody>
                    <a:bodyPr/>
                    <a:lstStyle/>
                    <a:p>
                      <a:pPr algn="ctr" fontAlgn="b"/>
                      <a:r>
                        <a:rPr lang="en-IN" sz="1200" b="0" i="0" u="none" strike="noStrike">
                          <a:solidFill>
                            <a:srgbClr val="000000"/>
                          </a:solidFill>
                          <a:effectLst/>
                          <a:latin typeface="Calibri" panose="020F0502020204030204" pitchFamily="34" charset="0"/>
                        </a:rPr>
                        <a:t>2.43%</a:t>
                      </a:r>
                    </a:p>
                  </a:txBody>
                  <a:tcPr marL="6350" marR="6350" marT="6350" marB="0" anchor="ctr"/>
                </a:tc>
                <a:tc>
                  <a:txBody>
                    <a:bodyPr/>
                    <a:lstStyle/>
                    <a:p>
                      <a:pPr algn="ctr" fontAlgn="b"/>
                      <a:r>
                        <a:rPr lang="en-IN" sz="1200" b="0" i="0" u="none" strike="noStrike">
                          <a:solidFill>
                            <a:srgbClr val="000000"/>
                          </a:solidFill>
                          <a:effectLst/>
                          <a:latin typeface="Calibri" panose="020F0502020204030204" pitchFamily="34" charset="0"/>
                        </a:rPr>
                        <a:t>2.45%</a:t>
                      </a:r>
                    </a:p>
                  </a:txBody>
                  <a:tcPr marL="6350" marR="6350" marT="6350" marB="0" anchor="ctr"/>
                </a:tc>
                <a:tc>
                  <a:txBody>
                    <a:bodyPr/>
                    <a:lstStyle/>
                    <a:p>
                      <a:pPr algn="ctr" fontAlgn="b"/>
                      <a:r>
                        <a:rPr lang="en-IN" sz="1200" b="0" i="0" u="none" strike="noStrike">
                          <a:solidFill>
                            <a:srgbClr val="000000"/>
                          </a:solidFill>
                          <a:effectLst/>
                          <a:latin typeface="Calibri" panose="020F0502020204030204" pitchFamily="34" charset="0"/>
                        </a:rPr>
                        <a:t>2.59%</a:t>
                      </a:r>
                    </a:p>
                  </a:txBody>
                  <a:tcPr marL="6350" marR="6350" marT="6350" marB="0" anchor="ctr"/>
                </a:tc>
                <a:tc>
                  <a:txBody>
                    <a:bodyPr/>
                    <a:lstStyle/>
                    <a:p>
                      <a:pPr algn="ctr" fontAlgn="b"/>
                      <a:r>
                        <a:rPr lang="en-IN" sz="1200" b="0" i="0" u="none" strike="noStrike">
                          <a:solidFill>
                            <a:srgbClr val="000000"/>
                          </a:solidFill>
                          <a:effectLst/>
                          <a:latin typeface="Calibri" panose="020F0502020204030204" pitchFamily="34" charset="0"/>
                        </a:rPr>
                        <a:t>2.66%</a:t>
                      </a:r>
                    </a:p>
                  </a:txBody>
                  <a:tcPr marL="6350" marR="6350" marT="6350" marB="0" anchor="ctr"/>
                </a:tc>
                <a:extLst>
                  <a:ext uri="{0D108BD9-81ED-4DB2-BD59-A6C34878D82A}">
                    <a16:rowId xmlns:a16="http://schemas.microsoft.com/office/drawing/2014/main" val="10010"/>
                  </a:ext>
                </a:extLst>
              </a:tr>
              <a:tr h="248911">
                <a:tc>
                  <a:txBody>
                    <a:bodyPr/>
                    <a:lstStyle/>
                    <a:p>
                      <a:r>
                        <a:rPr sz="1200" dirty="0"/>
                        <a:t>Base</a:t>
                      </a:r>
                    </a:p>
                  </a:txBody>
                  <a:tcPr/>
                </a:tc>
                <a:tc>
                  <a:txBody>
                    <a:bodyPr/>
                    <a:lstStyle/>
                    <a:p>
                      <a:r>
                        <a:rPr sz="1200"/>
                        <a:t>Price</a:t>
                      </a:r>
                    </a:p>
                  </a:txBody>
                  <a:tcPr/>
                </a:tc>
                <a:tc>
                  <a:txBody>
                    <a:bodyPr/>
                    <a:lstStyle/>
                    <a:p>
                      <a:pPr algn="ctr" fontAlgn="b"/>
                      <a:r>
                        <a:rPr lang="en-IN" sz="1200" b="0" i="0" u="none" strike="noStrike">
                          <a:solidFill>
                            <a:srgbClr val="000000"/>
                          </a:solidFill>
                          <a:effectLst/>
                          <a:latin typeface="Calibri" panose="020F0502020204030204" pitchFamily="34" charset="0"/>
                        </a:rPr>
                        <a:t>-74.62%</a:t>
                      </a:r>
                    </a:p>
                  </a:txBody>
                  <a:tcPr marL="6350" marR="6350" marT="6350" marB="0" anchor="ctr"/>
                </a:tc>
                <a:tc>
                  <a:txBody>
                    <a:bodyPr/>
                    <a:lstStyle/>
                    <a:p>
                      <a:pPr algn="ctr" fontAlgn="b"/>
                      <a:r>
                        <a:rPr lang="en-IN" sz="1200" b="0" i="0" u="none" strike="noStrike">
                          <a:solidFill>
                            <a:srgbClr val="000000"/>
                          </a:solidFill>
                          <a:effectLst/>
                          <a:latin typeface="Calibri" panose="020F0502020204030204" pitchFamily="34" charset="0"/>
                        </a:rPr>
                        <a:t>-81.90%</a:t>
                      </a:r>
                    </a:p>
                  </a:txBody>
                  <a:tcPr marL="6350" marR="6350" marT="6350" marB="0" anchor="ctr"/>
                </a:tc>
                <a:tc>
                  <a:txBody>
                    <a:bodyPr/>
                    <a:lstStyle/>
                    <a:p>
                      <a:pPr algn="ctr" fontAlgn="b"/>
                      <a:r>
                        <a:rPr lang="en-IN" sz="1200" b="0" i="0" u="none" strike="noStrike">
                          <a:solidFill>
                            <a:srgbClr val="000000"/>
                          </a:solidFill>
                          <a:effectLst/>
                          <a:latin typeface="Calibri" panose="020F0502020204030204" pitchFamily="34" charset="0"/>
                        </a:rPr>
                        <a:t>-52.37%</a:t>
                      </a:r>
                    </a:p>
                  </a:txBody>
                  <a:tcPr marL="6350" marR="6350" marT="6350" marB="0" anchor="ctr"/>
                </a:tc>
                <a:tc>
                  <a:txBody>
                    <a:bodyPr/>
                    <a:lstStyle/>
                    <a:p>
                      <a:pPr algn="ctr" fontAlgn="b"/>
                      <a:r>
                        <a:rPr lang="en-IN" sz="1200" b="0" i="0" u="none" strike="noStrike">
                          <a:solidFill>
                            <a:srgbClr val="000000"/>
                          </a:solidFill>
                          <a:effectLst/>
                          <a:latin typeface="Calibri" panose="020F0502020204030204" pitchFamily="34" charset="0"/>
                        </a:rPr>
                        <a:t>-47.33%</a:t>
                      </a:r>
                    </a:p>
                  </a:txBody>
                  <a:tcPr marL="6350" marR="6350" marT="6350" marB="0" anchor="ctr"/>
                </a:tc>
                <a:extLst>
                  <a:ext uri="{0D108BD9-81ED-4DB2-BD59-A6C34878D82A}">
                    <a16:rowId xmlns:a16="http://schemas.microsoft.com/office/drawing/2014/main" val="10011"/>
                  </a:ext>
                </a:extLst>
              </a:tr>
              <a:tr h="277627">
                <a:tc>
                  <a:txBody>
                    <a:bodyPr/>
                    <a:lstStyle/>
                    <a:p>
                      <a:r>
                        <a:rPr sz="1200"/>
                        <a:t>Base</a:t>
                      </a:r>
                    </a:p>
                  </a:txBody>
                  <a:tcPr/>
                </a:tc>
                <a:tc>
                  <a:txBody>
                    <a:bodyPr/>
                    <a:lstStyle/>
                    <a:p>
                      <a:r>
                        <a:rPr sz="1200" dirty="0"/>
                        <a:t>Num</a:t>
                      </a:r>
                      <a:r>
                        <a:rPr lang="en-IN" sz="1200" dirty="0"/>
                        <a:t>eric</a:t>
                      </a:r>
                      <a:r>
                        <a:rPr sz="1200" dirty="0"/>
                        <a:t>_</a:t>
                      </a:r>
                      <a:r>
                        <a:rPr sz="1200" dirty="0" err="1"/>
                        <a:t>Dist</a:t>
                      </a:r>
                      <a:endParaRPr sz="1200" dirty="0"/>
                    </a:p>
                  </a:txBody>
                  <a:tcPr/>
                </a:tc>
                <a:tc>
                  <a:txBody>
                    <a:bodyPr/>
                    <a:lstStyle/>
                    <a:p>
                      <a:pPr algn="ctr" fontAlgn="b"/>
                      <a:r>
                        <a:rPr lang="en-IN" sz="1200" b="0" i="0" u="none" strike="noStrike">
                          <a:solidFill>
                            <a:srgbClr val="000000"/>
                          </a:solidFill>
                          <a:effectLst/>
                          <a:latin typeface="Calibri" panose="020F0502020204030204" pitchFamily="34" charset="0"/>
                        </a:rPr>
                        <a:t>114.86%</a:t>
                      </a:r>
                    </a:p>
                  </a:txBody>
                  <a:tcPr marL="6350" marR="6350" marT="6350" marB="0" anchor="ctr"/>
                </a:tc>
                <a:tc>
                  <a:txBody>
                    <a:bodyPr/>
                    <a:lstStyle/>
                    <a:p>
                      <a:pPr algn="ctr" fontAlgn="b"/>
                      <a:r>
                        <a:rPr lang="en-IN" sz="1200" b="0" i="0" u="none" strike="noStrike">
                          <a:solidFill>
                            <a:srgbClr val="000000"/>
                          </a:solidFill>
                          <a:effectLst/>
                          <a:latin typeface="Calibri" panose="020F0502020204030204" pitchFamily="34" charset="0"/>
                        </a:rPr>
                        <a:t>125.30%</a:t>
                      </a:r>
                    </a:p>
                  </a:txBody>
                  <a:tcPr marL="6350" marR="6350" marT="6350" marB="0" anchor="ctr"/>
                </a:tc>
                <a:tc>
                  <a:txBody>
                    <a:bodyPr/>
                    <a:lstStyle/>
                    <a:p>
                      <a:pPr algn="ctr" fontAlgn="b"/>
                      <a:r>
                        <a:rPr lang="en-IN" sz="1200" b="0" i="0" u="none" strike="noStrike">
                          <a:solidFill>
                            <a:srgbClr val="000000"/>
                          </a:solidFill>
                          <a:effectLst/>
                          <a:latin typeface="Calibri" panose="020F0502020204030204" pitchFamily="34" charset="0"/>
                        </a:rPr>
                        <a:t>102.81%</a:t>
                      </a:r>
                    </a:p>
                  </a:txBody>
                  <a:tcPr marL="6350" marR="6350" marT="6350" marB="0" anchor="ctr"/>
                </a:tc>
                <a:tc>
                  <a:txBody>
                    <a:bodyPr/>
                    <a:lstStyle/>
                    <a:p>
                      <a:pPr algn="ctr" fontAlgn="b"/>
                      <a:r>
                        <a:rPr lang="en-IN" sz="1200" b="0" i="0" u="none" strike="noStrike">
                          <a:solidFill>
                            <a:srgbClr val="000000"/>
                          </a:solidFill>
                          <a:effectLst/>
                          <a:latin typeface="Calibri" panose="020F0502020204030204" pitchFamily="34" charset="0"/>
                        </a:rPr>
                        <a:t>101.78%</a:t>
                      </a:r>
                    </a:p>
                  </a:txBody>
                  <a:tcPr marL="6350" marR="6350" marT="6350" marB="0" anchor="ctr"/>
                </a:tc>
                <a:extLst>
                  <a:ext uri="{0D108BD9-81ED-4DB2-BD59-A6C34878D82A}">
                    <a16:rowId xmlns:a16="http://schemas.microsoft.com/office/drawing/2014/main" val="10012"/>
                  </a:ext>
                </a:extLst>
              </a:tr>
              <a:tr h="315686">
                <a:tc>
                  <a:txBody>
                    <a:bodyPr/>
                    <a:lstStyle/>
                    <a:p>
                      <a:r>
                        <a:rPr sz="1200"/>
                        <a:t>Base</a:t>
                      </a:r>
                    </a:p>
                  </a:txBody>
                  <a:tcPr/>
                </a:tc>
                <a:tc>
                  <a:txBody>
                    <a:bodyPr/>
                    <a:lstStyle/>
                    <a:p>
                      <a:r>
                        <a:rPr sz="1200" dirty="0"/>
                        <a:t>Comp2_Tv_GRP</a:t>
                      </a:r>
                    </a:p>
                  </a:txBody>
                  <a:tcPr/>
                </a:tc>
                <a:tc>
                  <a:txBody>
                    <a:bodyPr/>
                    <a:lstStyle/>
                    <a:p>
                      <a:pPr algn="ctr" fontAlgn="b"/>
                      <a:r>
                        <a:rPr lang="en-IN" sz="1200" b="0" i="0" u="none" strike="noStrike">
                          <a:solidFill>
                            <a:srgbClr val="000000"/>
                          </a:solidFill>
                          <a:effectLst/>
                          <a:latin typeface="Calibri" panose="020F0502020204030204" pitchFamily="34" charset="0"/>
                        </a:rPr>
                        <a:t>-7.56%</a:t>
                      </a:r>
                    </a:p>
                  </a:txBody>
                  <a:tcPr marL="6350" marR="6350" marT="6350" marB="0" anchor="ctr"/>
                </a:tc>
                <a:tc>
                  <a:txBody>
                    <a:bodyPr/>
                    <a:lstStyle/>
                    <a:p>
                      <a:pPr algn="ctr" fontAlgn="b"/>
                      <a:r>
                        <a:rPr lang="en-IN" sz="1200" b="0" i="0" u="none" strike="noStrike">
                          <a:solidFill>
                            <a:srgbClr val="000000"/>
                          </a:solidFill>
                          <a:effectLst/>
                          <a:latin typeface="Calibri" panose="020F0502020204030204" pitchFamily="34" charset="0"/>
                        </a:rPr>
                        <a:t>-18.31%</a:t>
                      </a:r>
                    </a:p>
                  </a:txBody>
                  <a:tcPr marL="6350" marR="6350" marT="6350" marB="0" anchor="ctr"/>
                </a:tc>
                <a:tc>
                  <a:txBody>
                    <a:bodyPr/>
                    <a:lstStyle/>
                    <a:p>
                      <a:pPr algn="ctr" fontAlgn="b"/>
                      <a:r>
                        <a:rPr lang="en-IN" sz="1200" b="0" i="0" u="none" strike="noStrike">
                          <a:solidFill>
                            <a:srgbClr val="000000"/>
                          </a:solidFill>
                          <a:effectLst/>
                          <a:latin typeface="Calibri" panose="020F0502020204030204" pitchFamily="34" charset="0"/>
                        </a:rPr>
                        <a:t>-1.99%</a:t>
                      </a:r>
                    </a:p>
                  </a:txBody>
                  <a:tcPr marL="6350" marR="6350" marT="6350" marB="0" anchor="ctr"/>
                </a:tc>
                <a:tc>
                  <a:txBody>
                    <a:bodyPr/>
                    <a:lstStyle/>
                    <a:p>
                      <a:pPr algn="ctr" fontAlgn="b"/>
                      <a:r>
                        <a:rPr lang="en-IN" sz="1200" b="0" i="0" u="none" strike="noStrike">
                          <a:solidFill>
                            <a:srgbClr val="000000"/>
                          </a:solidFill>
                          <a:effectLst/>
                          <a:latin typeface="Calibri" panose="020F0502020204030204" pitchFamily="34" charset="0"/>
                        </a:rPr>
                        <a:t>-4.72%</a:t>
                      </a:r>
                    </a:p>
                  </a:txBody>
                  <a:tcPr marL="6350" marR="6350" marT="6350" marB="0" anchor="ctr"/>
                </a:tc>
                <a:extLst>
                  <a:ext uri="{0D108BD9-81ED-4DB2-BD59-A6C34878D82A}">
                    <a16:rowId xmlns:a16="http://schemas.microsoft.com/office/drawing/2014/main" val="10013"/>
                  </a:ext>
                </a:extLst>
              </a:tr>
              <a:tr h="248911">
                <a:tc>
                  <a:txBody>
                    <a:bodyPr/>
                    <a:lstStyle/>
                    <a:p>
                      <a:r>
                        <a:rPr sz="1200"/>
                        <a:t>Base</a:t>
                      </a:r>
                    </a:p>
                  </a:txBody>
                  <a:tcPr/>
                </a:tc>
                <a:tc>
                  <a:txBody>
                    <a:bodyPr/>
                    <a:lstStyle/>
                    <a:p>
                      <a:r>
                        <a:rPr sz="1200"/>
                        <a:t>Seasonality</a:t>
                      </a:r>
                    </a:p>
                  </a:txBody>
                  <a:tcPr/>
                </a:tc>
                <a:tc>
                  <a:txBody>
                    <a:bodyPr/>
                    <a:lstStyle/>
                    <a:p>
                      <a:pPr algn="ctr" fontAlgn="b"/>
                      <a:r>
                        <a:rPr lang="en-IN" sz="1200" b="0" i="0" u="none" strike="noStrike">
                          <a:solidFill>
                            <a:srgbClr val="000000"/>
                          </a:solidFill>
                          <a:effectLst/>
                          <a:latin typeface="Calibri" panose="020F0502020204030204" pitchFamily="34" charset="0"/>
                        </a:rPr>
                        <a:t>19.52%</a:t>
                      </a:r>
                    </a:p>
                  </a:txBody>
                  <a:tcPr marL="6350" marR="6350" marT="6350" marB="0" anchor="ctr"/>
                </a:tc>
                <a:tc>
                  <a:txBody>
                    <a:bodyPr/>
                    <a:lstStyle/>
                    <a:p>
                      <a:pPr algn="ctr" fontAlgn="b"/>
                      <a:r>
                        <a:rPr lang="en-IN" sz="1200" b="0" i="0" u="none" strike="noStrike">
                          <a:solidFill>
                            <a:srgbClr val="000000"/>
                          </a:solidFill>
                          <a:effectLst/>
                          <a:latin typeface="Calibri" panose="020F0502020204030204" pitchFamily="34" charset="0"/>
                        </a:rPr>
                        <a:t>21.06%</a:t>
                      </a:r>
                    </a:p>
                  </a:txBody>
                  <a:tcPr marL="6350" marR="6350" marT="6350" marB="0" anchor="ctr"/>
                </a:tc>
                <a:tc>
                  <a:txBody>
                    <a:bodyPr/>
                    <a:lstStyle/>
                    <a:p>
                      <a:pPr algn="ctr" fontAlgn="b"/>
                      <a:r>
                        <a:rPr lang="en-IN" sz="1200" b="0" i="0" u="none" strike="noStrike">
                          <a:solidFill>
                            <a:srgbClr val="000000"/>
                          </a:solidFill>
                          <a:effectLst/>
                          <a:latin typeface="Calibri" panose="020F0502020204030204" pitchFamily="34" charset="0"/>
                        </a:rPr>
                        <a:t>14.98%</a:t>
                      </a:r>
                    </a:p>
                  </a:txBody>
                  <a:tcPr marL="6350" marR="6350" marT="6350" marB="0" anchor="ctr"/>
                </a:tc>
                <a:tc>
                  <a:txBody>
                    <a:bodyPr/>
                    <a:lstStyle/>
                    <a:p>
                      <a:pPr algn="ctr" fontAlgn="b"/>
                      <a:r>
                        <a:rPr lang="en-IN" sz="1200" b="0" i="0" u="none" strike="noStrike">
                          <a:solidFill>
                            <a:srgbClr val="000000"/>
                          </a:solidFill>
                          <a:effectLst/>
                          <a:latin typeface="Calibri" panose="020F0502020204030204" pitchFamily="34" charset="0"/>
                        </a:rPr>
                        <a:t>14.17%</a:t>
                      </a:r>
                    </a:p>
                  </a:txBody>
                  <a:tcPr marL="6350" marR="6350" marT="6350" marB="0" anchor="ctr"/>
                </a:tc>
                <a:extLst>
                  <a:ext uri="{0D108BD9-81ED-4DB2-BD59-A6C34878D82A}">
                    <a16:rowId xmlns:a16="http://schemas.microsoft.com/office/drawing/2014/main" val="10014"/>
                  </a:ext>
                </a:extLst>
              </a:tr>
              <a:tr h="248911">
                <a:tc>
                  <a:txBody>
                    <a:bodyPr/>
                    <a:lstStyle/>
                    <a:p>
                      <a:r>
                        <a:rPr sz="1200"/>
                        <a:t>Base</a:t>
                      </a:r>
                    </a:p>
                  </a:txBody>
                  <a:tcPr/>
                </a:tc>
                <a:tc>
                  <a:txBody>
                    <a:bodyPr/>
                    <a:lstStyle/>
                    <a:p>
                      <a:r>
                        <a:rPr sz="1200"/>
                        <a:t>Intercept</a:t>
                      </a:r>
                    </a:p>
                  </a:txBody>
                  <a:tcPr/>
                </a:tc>
                <a:tc>
                  <a:txBody>
                    <a:bodyPr/>
                    <a:lstStyle/>
                    <a:p>
                      <a:pPr algn="ctr" fontAlgn="b"/>
                      <a:r>
                        <a:rPr lang="en-IN" sz="1200" b="0" i="0" u="none" strike="noStrike">
                          <a:solidFill>
                            <a:srgbClr val="000000"/>
                          </a:solidFill>
                          <a:effectLst/>
                          <a:latin typeface="Calibri" panose="020F0502020204030204" pitchFamily="34" charset="0"/>
                        </a:rPr>
                        <a:t>35.58%</a:t>
                      </a:r>
                    </a:p>
                  </a:txBody>
                  <a:tcPr marL="6350" marR="6350" marT="6350" marB="0" anchor="ctr"/>
                </a:tc>
                <a:tc>
                  <a:txBody>
                    <a:bodyPr/>
                    <a:lstStyle/>
                    <a:p>
                      <a:pPr algn="ctr" fontAlgn="b"/>
                      <a:r>
                        <a:rPr lang="en-IN" sz="1200" b="0" i="0" u="none" strike="noStrike">
                          <a:solidFill>
                            <a:srgbClr val="000000"/>
                          </a:solidFill>
                          <a:effectLst/>
                          <a:latin typeface="Calibri" panose="020F0502020204030204" pitchFamily="34" charset="0"/>
                        </a:rPr>
                        <a:t>38.40%</a:t>
                      </a:r>
                    </a:p>
                  </a:txBody>
                  <a:tcPr marL="6350" marR="6350" marT="6350" marB="0" anchor="ctr"/>
                </a:tc>
                <a:tc>
                  <a:txBody>
                    <a:bodyPr/>
                    <a:lstStyle/>
                    <a:p>
                      <a:pPr algn="ctr" fontAlgn="b"/>
                      <a:r>
                        <a:rPr lang="en-IN" sz="1200" b="0" i="0" u="none" strike="noStrike">
                          <a:solidFill>
                            <a:srgbClr val="000000"/>
                          </a:solidFill>
                          <a:effectLst/>
                          <a:latin typeface="Calibri" panose="020F0502020204030204" pitchFamily="34" charset="0"/>
                        </a:rPr>
                        <a:t>27.31%</a:t>
                      </a:r>
                    </a:p>
                  </a:txBody>
                  <a:tcPr marL="6350" marR="6350" marT="6350" marB="0" anchor="ctr"/>
                </a:tc>
                <a:tc>
                  <a:txBody>
                    <a:bodyPr/>
                    <a:lstStyle/>
                    <a:p>
                      <a:pPr algn="ctr" fontAlgn="b"/>
                      <a:r>
                        <a:rPr lang="en-IN" sz="1200" b="0" i="0" u="none" strike="noStrike" dirty="0">
                          <a:solidFill>
                            <a:srgbClr val="000000"/>
                          </a:solidFill>
                          <a:effectLst/>
                          <a:latin typeface="Calibri" panose="020F0502020204030204" pitchFamily="34" charset="0"/>
                        </a:rPr>
                        <a:t>25.83%</a:t>
                      </a:r>
                    </a:p>
                  </a:txBody>
                  <a:tcPr marL="6350" marR="6350" marT="6350" marB="0" anchor="ctr"/>
                </a:tc>
                <a:extLst>
                  <a:ext uri="{0D108BD9-81ED-4DB2-BD59-A6C34878D82A}">
                    <a16:rowId xmlns:a16="http://schemas.microsoft.com/office/drawing/2014/main" val="10015"/>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198" y="87086"/>
            <a:ext cx="8229600" cy="574448"/>
          </a:xfrm>
        </p:spPr>
        <p:txBody>
          <a:bodyPr>
            <a:normAutofit fontScale="90000"/>
          </a:bodyPr>
          <a:lstStyle/>
          <a:p>
            <a:r>
              <a:rPr lang="en-IN" u="sng" dirty="0"/>
              <a:t>ROAS Analysis (2019–2022)</a:t>
            </a:r>
            <a:endParaRPr u="sng" dirty="0"/>
          </a:p>
        </p:txBody>
      </p:sp>
      <p:graphicFrame>
        <p:nvGraphicFramePr>
          <p:cNvPr id="4" name="Table 3"/>
          <p:cNvGraphicFramePr>
            <a:graphicFrameLocks noGrp="1"/>
          </p:cNvGraphicFramePr>
          <p:nvPr>
            <p:extLst>
              <p:ext uri="{D42A27DB-BD31-4B8C-83A1-F6EECF244321}">
                <p14:modId xmlns:p14="http://schemas.microsoft.com/office/powerpoint/2010/main" val="2055028076"/>
              </p:ext>
            </p:extLst>
          </p:nvPr>
        </p:nvGraphicFramePr>
        <p:xfrm>
          <a:off x="457198" y="3331029"/>
          <a:ext cx="8556174" cy="3434896"/>
        </p:xfrm>
        <a:graphic>
          <a:graphicData uri="http://schemas.openxmlformats.org/drawingml/2006/table">
            <a:tbl>
              <a:tblPr firstRow="1" bandRow="1">
                <a:tableStyleId>{5C22544A-7EE6-4342-B048-85BDC9FD1C3A}</a:tableStyleId>
              </a:tblPr>
              <a:tblGrid>
                <a:gridCol w="1426029">
                  <a:extLst>
                    <a:ext uri="{9D8B030D-6E8A-4147-A177-3AD203B41FA5}">
                      <a16:colId xmlns:a16="http://schemas.microsoft.com/office/drawing/2014/main" val="20000"/>
                    </a:ext>
                  </a:extLst>
                </a:gridCol>
                <a:gridCol w="1426029">
                  <a:extLst>
                    <a:ext uri="{9D8B030D-6E8A-4147-A177-3AD203B41FA5}">
                      <a16:colId xmlns:a16="http://schemas.microsoft.com/office/drawing/2014/main" val="20001"/>
                    </a:ext>
                  </a:extLst>
                </a:gridCol>
                <a:gridCol w="1426029">
                  <a:extLst>
                    <a:ext uri="{9D8B030D-6E8A-4147-A177-3AD203B41FA5}">
                      <a16:colId xmlns:a16="http://schemas.microsoft.com/office/drawing/2014/main" val="20002"/>
                    </a:ext>
                  </a:extLst>
                </a:gridCol>
                <a:gridCol w="1426029">
                  <a:extLst>
                    <a:ext uri="{9D8B030D-6E8A-4147-A177-3AD203B41FA5}">
                      <a16:colId xmlns:a16="http://schemas.microsoft.com/office/drawing/2014/main" val="20003"/>
                    </a:ext>
                  </a:extLst>
                </a:gridCol>
                <a:gridCol w="1426029">
                  <a:extLst>
                    <a:ext uri="{9D8B030D-6E8A-4147-A177-3AD203B41FA5}">
                      <a16:colId xmlns:a16="http://schemas.microsoft.com/office/drawing/2014/main" val="20004"/>
                    </a:ext>
                  </a:extLst>
                </a:gridCol>
                <a:gridCol w="1426029">
                  <a:extLst>
                    <a:ext uri="{9D8B030D-6E8A-4147-A177-3AD203B41FA5}">
                      <a16:colId xmlns:a16="http://schemas.microsoft.com/office/drawing/2014/main" val="20005"/>
                    </a:ext>
                  </a:extLst>
                </a:gridCol>
              </a:tblGrid>
              <a:tr h="528410">
                <a:tc>
                  <a:txBody>
                    <a:bodyPr/>
                    <a:lstStyle/>
                    <a:p>
                      <a:r>
                        <a:rPr sz="1800" dirty="0"/>
                        <a:t>Type</a:t>
                      </a:r>
                    </a:p>
                  </a:txBody>
                  <a:tcPr/>
                </a:tc>
                <a:tc>
                  <a:txBody>
                    <a:bodyPr/>
                    <a:lstStyle/>
                    <a:p>
                      <a:r>
                        <a:rPr sz="1800" dirty="0"/>
                        <a:t>Tactics</a:t>
                      </a:r>
                    </a:p>
                  </a:txBody>
                  <a:tcPr/>
                </a:tc>
                <a:tc>
                  <a:txBody>
                    <a:bodyPr/>
                    <a:lstStyle/>
                    <a:p>
                      <a:r>
                        <a:rPr sz="1800" dirty="0"/>
                        <a:t>2019</a:t>
                      </a:r>
                    </a:p>
                  </a:txBody>
                  <a:tcPr/>
                </a:tc>
                <a:tc>
                  <a:txBody>
                    <a:bodyPr/>
                    <a:lstStyle/>
                    <a:p>
                      <a:r>
                        <a:rPr sz="1800" dirty="0"/>
                        <a:t>2020</a:t>
                      </a:r>
                    </a:p>
                  </a:txBody>
                  <a:tcPr/>
                </a:tc>
                <a:tc>
                  <a:txBody>
                    <a:bodyPr/>
                    <a:lstStyle/>
                    <a:p>
                      <a:r>
                        <a:rPr sz="1800" dirty="0"/>
                        <a:t>2021</a:t>
                      </a:r>
                    </a:p>
                  </a:txBody>
                  <a:tcPr/>
                </a:tc>
                <a:tc>
                  <a:txBody>
                    <a:bodyPr/>
                    <a:lstStyle/>
                    <a:p>
                      <a:r>
                        <a:rPr sz="1800" dirty="0"/>
                        <a:t>2022</a:t>
                      </a:r>
                    </a:p>
                  </a:txBody>
                  <a:tcPr/>
                </a:tc>
                <a:extLst>
                  <a:ext uri="{0D108BD9-81ED-4DB2-BD59-A6C34878D82A}">
                    <a16:rowId xmlns:a16="http://schemas.microsoft.com/office/drawing/2014/main" val="10000"/>
                  </a:ext>
                </a:extLst>
              </a:tr>
              <a:tr h="302821">
                <a:tc>
                  <a:txBody>
                    <a:bodyPr/>
                    <a:lstStyle/>
                    <a:p>
                      <a:r>
                        <a:rPr sz="1400" dirty="0"/>
                        <a:t>Marketing</a:t>
                      </a:r>
                    </a:p>
                  </a:txBody>
                  <a:tcPr/>
                </a:tc>
                <a:tc>
                  <a:txBody>
                    <a:bodyPr/>
                    <a:lstStyle/>
                    <a:p>
                      <a:r>
                        <a:rPr sz="1400" dirty="0"/>
                        <a:t>TV</a:t>
                      </a:r>
                    </a:p>
                  </a:txBody>
                  <a:tcPr/>
                </a:tc>
                <a:tc>
                  <a:txBody>
                    <a:bodyPr/>
                    <a:lstStyle/>
                    <a:p>
                      <a:pPr algn="ctr" fontAlgn="b"/>
                      <a:r>
                        <a:rPr lang="en-IN" sz="1400" b="0" i="0" u="none" strike="noStrike" dirty="0">
                          <a:solidFill>
                            <a:srgbClr val="000000"/>
                          </a:solidFill>
                          <a:effectLst/>
                          <a:latin typeface="Calibri" panose="020F0502020204030204" pitchFamily="34" charset="0"/>
                        </a:rPr>
                        <a:t>0.24</a:t>
                      </a:r>
                    </a:p>
                  </a:txBody>
                  <a:tcPr marL="6350" marR="6350" marT="6350" marB="0" anchor="ctr"/>
                </a:tc>
                <a:tc>
                  <a:txBody>
                    <a:bodyPr/>
                    <a:lstStyle/>
                    <a:p>
                      <a:pPr algn="ctr" fontAlgn="b"/>
                      <a:r>
                        <a:rPr lang="en-IN" sz="1400" b="0" i="0" u="none" strike="noStrike" dirty="0">
                          <a:solidFill>
                            <a:srgbClr val="000000"/>
                          </a:solidFill>
                          <a:effectLst/>
                          <a:latin typeface="Calibri" panose="020F0502020204030204" pitchFamily="34" charset="0"/>
                        </a:rPr>
                        <a:t>0.29</a:t>
                      </a:r>
                    </a:p>
                  </a:txBody>
                  <a:tcPr marL="6350" marR="6350" marT="6350" marB="0" anchor="ctr"/>
                </a:tc>
                <a:tc>
                  <a:txBody>
                    <a:bodyPr/>
                    <a:lstStyle/>
                    <a:p>
                      <a:pPr algn="ctr" fontAlgn="b"/>
                      <a:r>
                        <a:rPr lang="en-IN" sz="1400" b="0" i="0" u="none" strike="noStrike" dirty="0">
                          <a:solidFill>
                            <a:srgbClr val="000000"/>
                          </a:solidFill>
                          <a:effectLst/>
                          <a:latin typeface="Calibri" panose="020F0502020204030204" pitchFamily="34" charset="0"/>
                        </a:rPr>
                        <a:t>0.30</a:t>
                      </a:r>
                    </a:p>
                  </a:txBody>
                  <a:tcPr marL="6350" marR="6350" marT="6350" marB="0" anchor="ctr"/>
                </a:tc>
                <a:tc>
                  <a:txBody>
                    <a:bodyPr/>
                    <a:lstStyle/>
                    <a:p>
                      <a:pPr algn="ctr" fontAlgn="b"/>
                      <a:r>
                        <a:rPr lang="en-IN" sz="1400" b="0" i="0" u="none" strike="noStrike" dirty="0">
                          <a:solidFill>
                            <a:srgbClr val="000000"/>
                          </a:solidFill>
                          <a:effectLst/>
                          <a:latin typeface="Calibri" panose="020F0502020204030204" pitchFamily="34" charset="0"/>
                        </a:rPr>
                        <a:t>0.32</a:t>
                      </a:r>
                    </a:p>
                  </a:txBody>
                  <a:tcPr marL="6350" marR="6350" marT="6350" marB="0" anchor="ctr"/>
                </a:tc>
                <a:extLst>
                  <a:ext uri="{0D108BD9-81ED-4DB2-BD59-A6C34878D82A}">
                    <a16:rowId xmlns:a16="http://schemas.microsoft.com/office/drawing/2014/main" val="10001"/>
                  </a:ext>
                </a:extLst>
              </a:tr>
              <a:tr h="302821">
                <a:tc>
                  <a:txBody>
                    <a:bodyPr/>
                    <a:lstStyle/>
                    <a:p>
                      <a:r>
                        <a:rPr sz="1400"/>
                        <a:t>Marketing</a:t>
                      </a:r>
                    </a:p>
                  </a:txBody>
                  <a:tcPr/>
                </a:tc>
                <a:tc>
                  <a:txBody>
                    <a:bodyPr/>
                    <a:lstStyle/>
                    <a:p>
                      <a:r>
                        <a:rPr sz="1400" dirty="0"/>
                        <a:t>Newspaper</a:t>
                      </a:r>
                    </a:p>
                  </a:txBody>
                  <a:tcPr/>
                </a:tc>
                <a:tc>
                  <a:txBody>
                    <a:bodyPr/>
                    <a:lstStyle/>
                    <a:p>
                      <a:pPr algn="ctr" fontAlgn="b"/>
                      <a:r>
                        <a:rPr lang="en-IN" sz="1400" b="0" i="0" u="none" strike="noStrike" dirty="0">
                          <a:solidFill>
                            <a:srgbClr val="000000"/>
                          </a:solidFill>
                          <a:effectLst/>
                          <a:latin typeface="Calibri" panose="020F0502020204030204" pitchFamily="34" charset="0"/>
                        </a:rPr>
                        <a:t>2.34</a:t>
                      </a:r>
                    </a:p>
                  </a:txBody>
                  <a:tcPr marL="6350" marR="6350" marT="6350" marB="0" anchor="ctr"/>
                </a:tc>
                <a:tc>
                  <a:txBody>
                    <a:bodyPr/>
                    <a:lstStyle/>
                    <a:p>
                      <a:pPr algn="ctr" fontAlgn="b"/>
                      <a:r>
                        <a:rPr lang="en-IN" sz="1400" b="0" i="0" u="none" strike="noStrike" dirty="0">
                          <a:solidFill>
                            <a:srgbClr val="000000"/>
                          </a:solidFill>
                          <a:effectLst/>
                          <a:latin typeface="Calibri" panose="020F0502020204030204" pitchFamily="34" charset="0"/>
                        </a:rPr>
                        <a:t>1.82</a:t>
                      </a:r>
                    </a:p>
                  </a:txBody>
                  <a:tcPr marL="6350" marR="6350" marT="6350" marB="0" anchor="ctr"/>
                </a:tc>
                <a:tc>
                  <a:txBody>
                    <a:bodyPr/>
                    <a:lstStyle/>
                    <a:p>
                      <a:pPr algn="ctr" fontAlgn="b"/>
                      <a:endParaRPr lang="en-IN" sz="1400" b="0" i="0" u="none" strike="noStrike" dirty="0">
                        <a:solidFill>
                          <a:srgbClr val="000000"/>
                        </a:solidFill>
                        <a:effectLst/>
                        <a:latin typeface="Calibri" panose="020F0502020204030204" pitchFamily="34" charset="0"/>
                      </a:endParaRPr>
                    </a:p>
                  </a:txBody>
                  <a:tcPr marL="6350" marR="6350" marT="6350" marB="0" anchor="ctr"/>
                </a:tc>
                <a:tc>
                  <a:txBody>
                    <a:bodyPr/>
                    <a:lstStyle/>
                    <a:p>
                      <a:pPr algn="ctr" fontAlgn="b"/>
                      <a:r>
                        <a:rPr lang="en-IN" sz="1400" b="0" i="0" u="none" strike="noStrike" dirty="0">
                          <a:solidFill>
                            <a:srgbClr val="000000"/>
                          </a:solidFill>
                          <a:effectLst/>
                          <a:latin typeface="Calibri" panose="020F0502020204030204" pitchFamily="34" charset="0"/>
                        </a:rPr>
                        <a:t>3.80</a:t>
                      </a:r>
                    </a:p>
                  </a:txBody>
                  <a:tcPr marL="6350" marR="6350" marT="6350" marB="0" anchor="ctr"/>
                </a:tc>
                <a:extLst>
                  <a:ext uri="{0D108BD9-81ED-4DB2-BD59-A6C34878D82A}">
                    <a16:rowId xmlns:a16="http://schemas.microsoft.com/office/drawing/2014/main" val="10002"/>
                  </a:ext>
                </a:extLst>
              </a:tr>
              <a:tr h="291935">
                <a:tc>
                  <a:txBody>
                    <a:bodyPr/>
                    <a:lstStyle/>
                    <a:p>
                      <a:r>
                        <a:rPr sz="1400"/>
                        <a:t>Marketing</a:t>
                      </a:r>
                    </a:p>
                  </a:txBody>
                  <a:tcPr/>
                </a:tc>
                <a:tc>
                  <a:txBody>
                    <a:bodyPr/>
                    <a:lstStyle/>
                    <a:p>
                      <a:r>
                        <a:rPr sz="1400"/>
                        <a:t>Fb_Ig</a:t>
                      </a:r>
                    </a:p>
                  </a:txBody>
                  <a:tcPr/>
                </a:tc>
                <a:tc>
                  <a:txBody>
                    <a:bodyPr/>
                    <a:lstStyle/>
                    <a:p>
                      <a:pPr algn="ctr" fontAlgn="b"/>
                      <a:r>
                        <a:rPr lang="en-IN" sz="1400" b="0" i="0" u="none" strike="noStrike" dirty="0">
                          <a:solidFill>
                            <a:srgbClr val="000000"/>
                          </a:solidFill>
                          <a:effectLst/>
                          <a:latin typeface="Calibri" panose="020F0502020204030204" pitchFamily="34" charset="0"/>
                        </a:rPr>
                        <a:t>9.96</a:t>
                      </a:r>
                    </a:p>
                  </a:txBody>
                  <a:tcPr marL="6350" marR="6350" marT="6350" marB="0" anchor="ctr"/>
                </a:tc>
                <a:tc>
                  <a:txBody>
                    <a:bodyPr/>
                    <a:lstStyle/>
                    <a:p>
                      <a:pPr algn="ctr" fontAlgn="b"/>
                      <a:r>
                        <a:rPr lang="en-IN" sz="1400" b="0" i="0" u="none" strike="noStrike" dirty="0">
                          <a:solidFill>
                            <a:srgbClr val="000000"/>
                          </a:solidFill>
                          <a:effectLst/>
                          <a:latin typeface="Calibri" panose="020F0502020204030204" pitchFamily="34" charset="0"/>
                        </a:rPr>
                        <a:t>7.28</a:t>
                      </a:r>
                    </a:p>
                  </a:txBody>
                  <a:tcPr marL="6350" marR="6350" marT="6350" marB="0" anchor="ctr"/>
                </a:tc>
                <a:tc>
                  <a:txBody>
                    <a:bodyPr/>
                    <a:lstStyle/>
                    <a:p>
                      <a:pPr algn="ctr" fontAlgn="b"/>
                      <a:r>
                        <a:rPr lang="en-IN" sz="1400" b="0" i="0" u="none" strike="noStrike" dirty="0">
                          <a:solidFill>
                            <a:srgbClr val="000000"/>
                          </a:solidFill>
                          <a:effectLst/>
                          <a:latin typeface="Calibri" panose="020F0502020204030204" pitchFamily="34" charset="0"/>
                        </a:rPr>
                        <a:t>586.42</a:t>
                      </a:r>
                    </a:p>
                  </a:txBody>
                  <a:tcPr marL="6350" marR="6350" marT="6350" marB="0" anchor="ctr"/>
                </a:tc>
                <a:tc>
                  <a:txBody>
                    <a:bodyPr/>
                    <a:lstStyle/>
                    <a:p>
                      <a:pPr algn="ctr" fontAlgn="b"/>
                      <a:r>
                        <a:rPr lang="en-IN" sz="1400" b="0" i="0" u="none" strike="noStrike" dirty="0">
                          <a:solidFill>
                            <a:srgbClr val="000000"/>
                          </a:solidFill>
                          <a:effectLst/>
                          <a:latin typeface="Calibri" panose="020F0502020204030204" pitchFamily="34" charset="0"/>
                        </a:rPr>
                        <a:t>5.24</a:t>
                      </a:r>
                    </a:p>
                  </a:txBody>
                  <a:tcPr marL="6350" marR="6350" marT="6350" marB="0" anchor="ctr"/>
                </a:tc>
                <a:extLst>
                  <a:ext uri="{0D108BD9-81ED-4DB2-BD59-A6C34878D82A}">
                    <a16:rowId xmlns:a16="http://schemas.microsoft.com/office/drawing/2014/main" val="10003"/>
                  </a:ext>
                </a:extLst>
              </a:tr>
              <a:tr h="335478">
                <a:tc>
                  <a:txBody>
                    <a:bodyPr/>
                    <a:lstStyle/>
                    <a:p>
                      <a:r>
                        <a:rPr sz="1400" dirty="0"/>
                        <a:t>Marketing</a:t>
                      </a:r>
                    </a:p>
                  </a:txBody>
                  <a:tcPr/>
                </a:tc>
                <a:tc>
                  <a:txBody>
                    <a:bodyPr/>
                    <a:lstStyle/>
                    <a:p>
                      <a:r>
                        <a:rPr sz="1400"/>
                        <a:t>Whatsapp</a:t>
                      </a:r>
                    </a:p>
                  </a:txBody>
                  <a:tcPr/>
                </a:tc>
                <a:tc>
                  <a:txBody>
                    <a:bodyPr/>
                    <a:lstStyle/>
                    <a:p>
                      <a:pPr algn="ctr" fontAlgn="b"/>
                      <a:endParaRPr lang="en-IN" sz="1400" b="0" i="0" u="none" strike="noStrike" dirty="0">
                        <a:solidFill>
                          <a:srgbClr val="000000"/>
                        </a:solidFill>
                        <a:effectLst/>
                        <a:latin typeface="Calibri" panose="020F0502020204030204" pitchFamily="34" charset="0"/>
                      </a:endParaRPr>
                    </a:p>
                  </a:txBody>
                  <a:tcPr marL="6350" marR="6350" marT="6350" marB="0" anchor="ctr"/>
                </a:tc>
                <a:tc>
                  <a:txBody>
                    <a:bodyPr/>
                    <a:lstStyle/>
                    <a:p>
                      <a:pPr algn="ctr" fontAlgn="b"/>
                      <a:r>
                        <a:rPr lang="en-IN" sz="1400" b="0" i="0" u="none" strike="noStrike" dirty="0">
                          <a:solidFill>
                            <a:srgbClr val="000000"/>
                          </a:solidFill>
                          <a:effectLst/>
                          <a:latin typeface="Calibri" panose="020F0502020204030204" pitchFamily="34" charset="0"/>
                        </a:rPr>
                        <a:t>1.51</a:t>
                      </a:r>
                    </a:p>
                  </a:txBody>
                  <a:tcPr marL="6350" marR="6350" marT="6350" marB="0" anchor="ctr"/>
                </a:tc>
                <a:tc>
                  <a:txBody>
                    <a:bodyPr/>
                    <a:lstStyle/>
                    <a:p>
                      <a:pPr algn="ctr" fontAlgn="b"/>
                      <a:endParaRPr lang="en-IN" sz="1400" b="0" i="0" u="none" strike="noStrike" dirty="0">
                        <a:solidFill>
                          <a:srgbClr val="000000"/>
                        </a:solidFill>
                        <a:effectLst/>
                        <a:latin typeface="Calibri" panose="020F0502020204030204" pitchFamily="34" charset="0"/>
                      </a:endParaRPr>
                    </a:p>
                  </a:txBody>
                  <a:tcPr marL="6350" marR="6350" marT="6350" marB="0" anchor="ctr"/>
                </a:tc>
                <a:tc>
                  <a:txBody>
                    <a:bodyPr/>
                    <a:lstStyle/>
                    <a:p>
                      <a:pPr algn="ctr" fontAlgn="b"/>
                      <a:endParaRPr lang="en-IN" sz="1400" b="0" i="0" u="none" strike="noStrike" dirty="0">
                        <a:solidFill>
                          <a:srgbClr val="000000"/>
                        </a:solidFill>
                        <a:effectLst/>
                        <a:latin typeface="Calibri" panose="020F0502020204030204" pitchFamily="34" charset="0"/>
                      </a:endParaRPr>
                    </a:p>
                  </a:txBody>
                  <a:tcPr marL="6350" marR="6350" marT="6350" marB="0" anchor="ctr"/>
                </a:tc>
                <a:extLst>
                  <a:ext uri="{0D108BD9-81ED-4DB2-BD59-A6C34878D82A}">
                    <a16:rowId xmlns:a16="http://schemas.microsoft.com/office/drawing/2014/main" val="10004"/>
                  </a:ext>
                </a:extLst>
              </a:tr>
              <a:tr h="304800">
                <a:tc>
                  <a:txBody>
                    <a:bodyPr/>
                    <a:lstStyle/>
                    <a:p>
                      <a:r>
                        <a:rPr sz="1400"/>
                        <a:t>Marketing</a:t>
                      </a:r>
                    </a:p>
                  </a:txBody>
                  <a:tcPr/>
                </a:tc>
                <a:tc>
                  <a:txBody>
                    <a:bodyPr/>
                    <a:lstStyle/>
                    <a:p>
                      <a:r>
                        <a:rPr sz="1400"/>
                        <a:t>Youtube</a:t>
                      </a:r>
                    </a:p>
                  </a:txBody>
                  <a:tcPr/>
                </a:tc>
                <a:tc>
                  <a:txBody>
                    <a:bodyPr/>
                    <a:lstStyle/>
                    <a:p>
                      <a:pPr algn="ctr" fontAlgn="b"/>
                      <a:r>
                        <a:rPr lang="en-IN" sz="1400" b="0" i="0" u="none" strike="noStrike" dirty="0">
                          <a:solidFill>
                            <a:srgbClr val="000000"/>
                          </a:solidFill>
                          <a:effectLst/>
                          <a:latin typeface="Calibri" panose="020F0502020204030204" pitchFamily="34" charset="0"/>
                        </a:rPr>
                        <a:t>0.44</a:t>
                      </a:r>
                    </a:p>
                  </a:txBody>
                  <a:tcPr marL="6350" marR="6350" marT="6350" marB="0" anchor="ctr"/>
                </a:tc>
                <a:tc>
                  <a:txBody>
                    <a:bodyPr/>
                    <a:lstStyle/>
                    <a:p>
                      <a:pPr algn="ctr" fontAlgn="b"/>
                      <a:r>
                        <a:rPr lang="en-IN" sz="1400" b="0" i="0" u="none" strike="noStrike" dirty="0">
                          <a:solidFill>
                            <a:srgbClr val="000000"/>
                          </a:solidFill>
                          <a:effectLst/>
                          <a:latin typeface="Calibri" panose="020F0502020204030204" pitchFamily="34" charset="0"/>
                        </a:rPr>
                        <a:t>0.41</a:t>
                      </a:r>
                    </a:p>
                  </a:txBody>
                  <a:tcPr marL="6350" marR="6350" marT="6350" marB="0" anchor="ctr"/>
                </a:tc>
                <a:tc>
                  <a:txBody>
                    <a:bodyPr/>
                    <a:lstStyle/>
                    <a:p>
                      <a:pPr algn="ctr" fontAlgn="b"/>
                      <a:r>
                        <a:rPr lang="en-IN" sz="1400" b="0" i="0" u="none" strike="noStrike" dirty="0">
                          <a:solidFill>
                            <a:srgbClr val="000000"/>
                          </a:solidFill>
                          <a:effectLst/>
                          <a:latin typeface="Calibri" panose="020F0502020204030204" pitchFamily="34" charset="0"/>
                        </a:rPr>
                        <a:t>1.05</a:t>
                      </a:r>
                    </a:p>
                  </a:txBody>
                  <a:tcPr marL="6350" marR="6350" marT="6350" marB="0" anchor="ctr"/>
                </a:tc>
                <a:tc>
                  <a:txBody>
                    <a:bodyPr/>
                    <a:lstStyle/>
                    <a:p>
                      <a:pPr algn="ctr" fontAlgn="b"/>
                      <a:r>
                        <a:rPr lang="en-IN" sz="1400" b="0" i="0" u="none" strike="noStrike" dirty="0">
                          <a:solidFill>
                            <a:srgbClr val="000000"/>
                          </a:solidFill>
                          <a:effectLst/>
                          <a:latin typeface="Calibri" panose="020F0502020204030204" pitchFamily="34" charset="0"/>
                        </a:rPr>
                        <a:t>0.68</a:t>
                      </a:r>
                    </a:p>
                  </a:txBody>
                  <a:tcPr marL="6350" marR="6350" marT="6350" marB="0" anchor="ctr"/>
                </a:tc>
                <a:extLst>
                  <a:ext uri="{0D108BD9-81ED-4DB2-BD59-A6C34878D82A}">
                    <a16:rowId xmlns:a16="http://schemas.microsoft.com/office/drawing/2014/main" val="10005"/>
                  </a:ext>
                </a:extLst>
              </a:tr>
              <a:tr h="293915">
                <a:tc>
                  <a:txBody>
                    <a:bodyPr/>
                    <a:lstStyle/>
                    <a:p>
                      <a:r>
                        <a:rPr sz="1400"/>
                        <a:t>Marketing</a:t>
                      </a:r>
                    </a:p>
                  </a:txBody>
                  <a:tcPr/>
                </a:tc>
                <a:tc>
                  <a:txBody>
                    <a:bodyPr/>
                    <a:lstStyle/>
                    <a:p>
                      <a:r>
                        <a:rPr sz="1400"/>
                        <a:t>Hotstar</a:t>
                      </a:r>
                    </a:p>
                  </a:txBody>
                  <a:tcPr/>
                </a:tc>
                <a:tc>
                  <a:txBody>
                    <a:bodyPr/>
                    <a:lstStyle/>
                    <a:p>
                      <a:pPr algn="ctr" fontAlgn="b"/>
                      <a:r>
                        <a:rPr lang="en-IN" sz="1400" b="0" i="0" u="none" strike="noStrike" dirty="0">
                          <a:solidFill>
                            <a:srgbClr val="000000"/>
                          </a:solidFill>
                          <a:effectLst/>
                          <a:latin typeface="Calibri" panose="020F0502020204030204" pitchFamily="34" charset="0"/>
                        </a:rPr>
                        <a:t>61.03</a:t>
                      </a:r>
                    </a:p>
                  </a:txBody>
                  <a:tcPr marL="6350" marR="6350" marT="6350" marB="0" anchor="ctr"/>
                </a:tc>
                <a:tc>
                  <a:txBody>
                    <a:bodyPr/>
                    <a:lstStyle/>
                    <a:p>
                      <a:pPr algn="ctr" fontAlgn="b"/>
                      <a:r>
                        <a:rPr lang="en-IN" sz="1400" b="0" i="0" u="none" strike="noStrike" dirty="0">
                          <a:solidFill>
                            <a:srgbClr val="000000"/>
                          </a:solidFill>
                          <a:effectLst/>
                          <a:latin typeface="Calibri" panose="020F0502020204030204" pitchFamily="34" charset="0"/>
                        </a:rPr>
                        <a:t>8.72</a:t>
                      </a:r>
                    </a:p>
                  </a:txBody>
                  <a:tcPr marL="6350" marR="6350" marT="6350" marB="0" anchor="ctr"/>
                </a:tc>
                <a:tc>
                  <a:txBody>
                    <a:bodyPr/>
                    <a:lstStyle/>
                    <a:p>
                      <a:pPr algn="ctr" fontAlgn="b"/>
                      <a:endParaRPr lang="en-IN" sz="1400" b="0" i="0" u="none" strike="noStrike" dirty="0">
                        <a:solidFill>
                          <a:srgbClr val="000000"/>
                        </a:solidFill>
                        <a:effectLst/>
                        <a:latin typeface="Calibri" panose="020F0502020204030204" pitchFamily="34" charset="0"/>
                      </a:endParaRPr>
                    </a:p>
                  </a:txBody>
                  <a:tcPr marL="6350" marR="6350" marT="6350" marB="0" anchor="ctr"/>
                </a:tc>
                <a:tc>
                  <a:txBody>
                    <a:bodyPr/>
                    <a:lstStyle/>
                    <a:p>
                      <a:pPr algn="ctr" fontAlgn="b"/>
                      <a:r>
                        <a:rPr lang="en-IN" sz="1400" b="0" i="0" u="none" strike="noStrike" dirty="0">
                          <a:solidFill>
                            <a:srgbClr val="000000"/>
                          </a:solidFill>
                          <a:effectLst/>
                          <a:latin typeface="Calibri" panose="020F0502020204030204" pitchFamily="34" charset="0"/>
                        </a:rPr>
                        <a:t>25.68</a:t>
                      </a:r>
                    </a:p>
                  </a:txBody>
                  <a:tcPr marL="6350" marR="6350" marT="6350" marB="0" anchor="ctr"/>
                </a:tc>
                <a:extLst>
                  <a:ext uri="{0D108BD9-81ED-4DB2-BD59-A6C34878D82A}">
                    <a16:rowId xmlns:a16="http://schemas.microsoft.com/office/drawing/2014/main" val="10006"/>
                  </a:ext>
                </a:extLst>
              </a:tr>
              <a:tr h="283029">
                <a:tc>
                  <a:txBody>
                    <a:bodyPr/>
                    <a:lstStyle/>
                    <a:p>
                      <a:r>
                        <a:rPr sz="1400"/>
                        <a:t>Marketing</a:t>
                      </a:r>
                    </a:p>
                  </a:txBody>
                  <a:tcPr/>
                </a:tc>
                <a:tc>
                  <a:txBody>
                    <a:bodyPr/>
                    <a:lstStyle/>
                    <a:p>
                      <a:r>
                        <a:rPr sz="1400"/>
                        <a:t>Jio</a:t>
                      </a:r>
                    </a:p>
                  </a:txBody>
                  <a:tcPr/>
                </a:tc>
                <a:tc>
                  <a:txBody>
                    <a:bodyPr/>
                    <a:lstStyle/>
                    <a:p>
                      <a:pPr algn="ctr" fontAlgn="b"/>
                      <a:r>
                        <a:rPr lang="en-IN" sz="1400" b="0" i="0" u="none" strike="noStrike" dirty="0">
                          <a:solidFill>
                            <a:srgbClr val="000000"/>
                          </a:solidFill>
                          <a:effectLst/>
                          <a:latin typeface="Calibri" panose="020F0502020204030204" pitchFamily="34" charset="0"/>
                        </a:rPr>
                        <a:t>0.72</a:t>
                      </a:r>
                    </a:p>
                  </a:txBody>
                  <a:tcPr marL="6350" marR="6350" marT="6350" marB="0" anchor="ctr"/>
                </a:tc>
                <a:tc>
                  <a:txBody>
                    <a:bodyPr/>
                    <a:lstStyle/>
                    <a:p>
                      <a:pPr algn="ctr" fontAlgn="b"/>
                      <a:r>
                        <a:rPr lang="en-IN" sz="1400" b="0" i="0" u="none" strike="noStrike" dirty="0">
                          <a:solidFill>
                            <a:srgbClr val="000000"/>
                          </a:solidFill>
                          <a:effectLst/>
                          <a:latin typeface="Calibri" panose="020F0502020204030204" pitchFamily="34" charset="0"/>
                        </a:rPr>
                        <a:t>2.78</a:t>
                      </a:r>
                    </a:p>
                  </a:txBody>
                  <a:tcPr marL="6350" marR="6350" marT="6350" marB="0" anchor="ctr"/>
                </a:tc>
                <a:tc>
                  <a:txBody>
                    <a:bodyPr/>
                    <a:lstStyle/>
                    <a:p>
                      <a:pPr algn="ctr" fontAlgn="b"/>
                      <a:endParaRPr lang="en-IN" sz="1400" b="0" i="0" u="none" strike="noStrike" dirty="0">
                        <a:solidFill>
                          <a:srgbClr val="000000"/>
                        </a:solidFill>
                        <a:effectLst/>
                        <a:latin typeface="Calibri" panose="020F0502020204030204" pitchFamily="34" charset="0"/>
                      </a:endParaRPr>
                    </a:p>
                  </a:txBody>
                  <a:tcPr marL="6350" marR="6350" marT="6350" marB="0" anchor="ctr"/>
                </a:tc>
                <a:tc>
                  <a:txBody>
                    <a:bodyPr/>
                    <a:lstStyle/>
                    <a:p>
                      <a:pPr algn="ctr" fontAlgn="b"/>
                      <a:endParaRPr lang="en-IN" sz="1400" b="0" i="0" u="none" strike="noStrike" dirty="0">
                        <a:solidFill>
                          <a:srgbClr val="000000"/>
                        </a:solidFill>
                        <a:effectLst/>
                        <a:latin typeface="Calibri" panose="020F0502020204030204" pitchFamily="34" charset="0"/>
                      </a:endParaRPr>
                    </a:p>
                  </a:txBody>
                  <a:tcPr marL="6350" marR="6350" marT="6350" marB="0" anchor="ctr"/>
                </a:tc>
                <a:extLst>
                  <a:ext uri="{0D108BD9-81ED-4DB2-BD59-A6C34878D82A}">
                    <a16:rowId xmlns:a16="http://schemas.microsoft.com/office/drawing/2014/main" val="10007"/>
                  </a:ext>
                </a:extLst>
              </a:tr>
              <a:tr h="326572">
                <a:tc>
                  <a:txBody>
                    <a:bodyPr/>
                    <a:lstStyle/>
                    <a:p>
                      <a:r>
                        <a:rPr sz="1400"/>
                        <a:t>Marketing</a:t>
                      </a:r>
                    </a:p>
                  </a:txBody>
                  <a:tcPr/>
                </a:tc>
                <a:tc>
                  <a:txBody>
                    <a:bodyPr/>
                    <a:lstStyle/>
                    <a:p>
                      <a:r>
                        <a:rPr sz="1400" dirty="0" err="1"/>
                        <a:t>Google_Display</a:t>
                      </a:r>
                      <a:endParaRPr sz="1400" dirty="0"/>
                    </a:p>
                  </a:txBody>
                  <a:tcPr/>
                </a:tc>
                <a:tc>
                  <a:txBody>
                    <a:bodyPr/>
                    <a:lstStyle/>
                    <a:p>
                      <a:pPr algn="ctr" fontAlgn="b"/>
                      <a:r>
                        <a:rPr lang="en-IN" sz="1400" b="0" i="0" u="none" strike="noStrike" dirty="0">
                          <a:solidFill>
                            <a:srgbClr val="000000"/>
                          </a:solidFill>
                          <a:effectLst/>
                          <a:latin typeface="Calibri" panose="020F0502020204030204" pitchFamily="34" charset="0"/>
                        </a:rPr>
                        <a:t>114.05</a:t>
                      </a:r>
                    </a:p>
                  </a:txBody>
                  <a:tcPr marL="6350" marR="6350" marT="6350" marB="0" anchor="ctr"/>
                </a:tc>
                <a:tc>
                  <a:txBody>
                    <a:bodyPr/>
                    <a:lstStyle/>
                    <a:p>
                      <a:pPr algn="ctr" fontAlgn="b"/>
                      <a:endParaRPr lang="en-IN" sz="1400" b="0" i="0" u="none" strike="noStrike" dirty="0">
                        <a:solidFill>
                          <a:srgbClr val="000000"/>
                        </a:solidFill>
                        <a:effectLst/>
                        <a:latin typeface="Calibri" panose="020F0502020204030204" pitchFamily="34" charset="0"/>
                      </a:endParaRPr>
                    </a:p>
                  </a:txBody>
                  <a:tcPr marL="6350" marR="6350" marT="6350" marB="0" anchor="ctr"/>
                </a:tc>
                <a:tc>
                  <a:txBody>
                    <a:bodyPr/>
                    <a:lstStyle/>
                    <a:p>
                      <a:pPr algn="ctr" fontAlgn="b"/>
                      <a:r>
                        <a:rPr lang="en-IN" sz="1400" b="0" i="0" u="none" strike="noStrike" dirty="0">
                          <a:solidFill>
                            <a:srgbClr val="000000"/>
                          </a:solidFill>
                          <a:effectLst/>
                          <a:latin typeface="Calibri" panose="020F0502020204030204" pitchFamily="34" charset="0"/>
                        </a:rPr>
                        <a:t>220.17</a:t>
                      </a:r>
                    </a:p>
                  </a:txBody>
                  <a:tcPr marL="6350" marR="6350" marT="6350" marB="0" anchor="ctr"/>
                </a:tc>
                <a:tc>
                  <a:txBody>
                    <a:bodyPr/>
                    <a:lstStyle/>
                    <a:p>
                      <a:pPr algn="ctr" fontAlgn="b"/>
                      <a:endParaRPr lang="en-IN" sz="1400" b="0" i="0" u="none" strike="noStrike" dirty="0">
                        <a:solidFill>
                          <a:srgbClr val="000000"/>
                        </a:solidFill>
                        <a:effectLst/>
                        <a:latin typeface="Calibri" panose="020F0502020204030204" pitchFamily="34" charset="0"/>
                      </a:endParaRPr>
                    </a:p>
                  </a:txBody>
                  <a:tcPr marL="6350" marR="6350" marT="6350" marB="0" anchor="ctr"/>
                </a:tc>
                <a:extLst>
                  <a:ext uri="{0D108BD9-81ED-4DB2-BD59-A6C34878D82A}">
                    <a16:rowId xmlns:a16="http://schemas.microsoft.com/office/drawing/2014/main" val="10008"/>
                  </a:ext>
                </a:extLst>
              </a:tr>
              <a:tr h="415636">
                <a:tc>
                  <a:txBody>
                    <a:bodyPr/>
                    <a:lstStyle/>
                    <a:p>
                      <a:r>
                        <a:rPr sz="1400"/>
                        <a:t>Marketing</a:t>
                      </a:r>
                    </a:p>
                  </a:txBody>
                  <a:tcPr/>
                </a:tc>
                <a:tc>
                  <a:txBody>
                    <a:bodyPr/>
                    <a:lstStyle/>
                    <a:p>
                      <a:r>
                        <a:rPr sz="1400"/>
                        <a:t>Ventes_Avenue</a:t>
                      </a:r>
                    </a:p>
                  </a:txBody>
                  <a:tcPr/>
                </a:tc>
                <a:tc>
                  <a:txBody>
                    <a:bodyPr/>
                    <a:lstStyle/>
                    <a:p>
                      <a:pPr algn="ctr" fontAlgn="b"/>
                      <a:r>
                        <a:rPr lang="en-IN" sz="1400" b="0" i="0" u="none" strike="noStrike" dirty="0">
                          <a:solidFill>
                            <a:srgbClr val="000000"/>
                          </a:solidFill>
                          <a:effectLst/>
                          <a:latin typeface="Calibri" panose="020F0502020204030204" pitchFamily="34" charset="0"/>
                        </a:rPr>
                        <a:t>49.09</a:t>
                      </a:r>
                    </a:p>
                  </a:txBody>
                  <a:tcPr marL="6350" marR="6350" marT="6350" marB="0" anchor="ctr"/>
                </a:tc>
                <a:tc>
                  <a:txBody>
                    <a:bodyPr/>
                    <a:lstStyle/>
                    <a:p>
                      <a:pPr algn="ctr" fontAlgn="b"/>
                      <a:endParaRPr lang="en-IN" sz="1400" b="0" i="0" u="none" strike="noStrike" dirty="0">
                        <a:solidFill>
                          <a:srgbClr val="000000"/>
                        </a:solidFill>
                        <a:effectLst/>
                        <a:latin typeface="Calibri" panose="020F0502020204030204" pitchFamily="34" charset="0"/>
                      </a:endParaRPr>
                    </a:p>
                  </a:txBody>
                  <a:tcPr marL="6350" marR="6350" marT="6350" marB="0" anchor="ctr"/>
                </a:tc>
                <a:tc>
                  <a:txBody>
                    <a:bodyPr/>
                    <a:lstStyle/>
                    <a:p>
                      <a:pPr algn="ctr" fontAlgn="b"/>
                      <a:endParaRPr lang="en-IN" sz="1400" b="0" i="0" u="none" strike="noStrike" dirty="0">
                        <a:solidFill>
                          <a:srgbClr val="000000"/>
                        </a:solidFill>
                        <a:effectLst/>
                        <a:latin typeface="Calibri" panose="020F0502020204030204" pitchFamily="34" charset="0"/>
                      </a:endParaRPr>
                    </a:p>
                  </a:txBody>
                  <a:tcPr marL="6350" marR="6350" marT="6350" marB="0" anchor="ctr"/>
                </a:tc>
                <a:tc>
                  <a:txBody>
                    <a:bodyPr/>
                    <a:lstStyle/>
                    <a:p>
                      <a:pPr algn="ctr" fontAlgn="b"/>
                      <a:endParaRPr lang="en-IN" sz="1400" b="0" i="0" u="none" strike="noStrike" dirty="0">
                        <a:solidFill>
                          <a:srgbClr val="000000"/>
                        </a:solidFill>
                        <a:effectLst/>
                        <a:latin typeface="Calibri" panose="020F0502020204030204" pitchFamily="34" charset="0"/>
                      </a:endParaRPr>
                    </a:p>
                  </a:txBody>
                  <a:tcPr marL="6350" marR="6350" marT="6350" marB="0" anchor="ctr"/>
                </a:tc>
                <a:extLst>
                  <a:ext uri="{0D108BD9-81ED-4DB2-BD59-A6C34878D82A}">
                    <a16:rowId xmlns:a16="http://schemas.microsoft.com/office/drawing/2014/main" val="10009"/>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1971283098"/>
              </p:ext>
            </p:extLst>
          </p:nvPr>
        </p:nvGraphicFramePr>
        <p:xfrm>
          <a:off x="457199" y="2471057"/>
          <a:ext cx="8556175" cy="783772"/>
        </p:xfrm>
        <a:graphic>
          <a:graphicData uri="http://schemas.openxmlformats.org/drawingml/2006/table">
            <a:tbl>
              <a:tblPr firstRow="1" bandRow="1">
                <a:tableStyleId>{5C22544A-7EE6-4342-B048-85BDC9FD1C3A}</a:tableStyleId>
              </a:tblPr>
              <a:tblGrid>
                <a:gridCol w="1711235">
                  <a:extLst>
                    <a:ext uri="{9D8B030D-6E8A-4147-A177-3AD203B41FA5}">
                      <a16:colId xmlns:a16="http://schemas.microsoft.com/office/drawing/2014/main" val="20000"/>
                    </a:ext>
                  </a:extLst>
                </a:gridCol>
                <a:gridCol w="1711235">
                  <a:extLst>
                    <a:ext uri="{9D8B030D-6E8A-4147-A177-3AD203B41FA5}">
                      <a16:colId xmlns:a16="http://schemas.microsoft.com/office/drawing/2014/main" val="20001"/>
                    </a:ext>
                  </a:extLst>
                </a:gridCol>
                <a:gridCol w="1711235">
                  <a:extLst>
                    <a:ext uri="{9D8B030D-6E8A-4147-A177-3AD203B41FA5}">
                      <a16:colId xmlns:a16="http://schemas.microsoft.com/office/drawing/2014/main" val="20002"/>
                    </a:ext>
                  </a:extLst>
                </a:gridCol>
                <a:gridCol w="1711235">
                  <a:extLst>
                    <a:ext uri="{9D8B030D-6E8A-4147-A177-3AD203B41FA5}">
                      <a16:colId xmlns:a16="http://schemas.microsoft.com/office/drawing/2014/main" val="20003"/>
                    </a:ext>
                  </a:extLst>
                </a:gridCol>
                <a:gridCol w="1711235">
                  <a:extLst>
                    <a:ext uri="{9D8B030D-6E8A-4147-A177-3AD203B41FA5}">
                      <a16:colId xmlns:a16="http://schemas.microsoft.com/office/drawing/2014/main" val="20004"/>
                    </a:ext>
                  </a:extLst>
                </a:gridCol>
              </a:tblGrid>
              <a:tr h="374339">
                <a:tc>
                  <a:txBody>
                    <a:bodyPr/>
                    <a:lstStyle/>
                    <a:p>
                      <a:r>
                        <a:rPr lang="en-IN"/>
                        <a:t>Category</a:t>
                      </a:r>
                      <a:endParaRPr lang="en-IN" dirty="0"/>
                    </a:p>
                  </a:txBody>
                  <a:tcPr/>
                </a:tc>
                <a:tc>
                  <a:txBody>
                    <a:bodyPr/>
                    <a:lstStyle/>
                    <a:p>
                      <a:r>
                        <a:rPr lang="en-IN"/>
                        <a:t>2019</a:t>
                      </a:r>
                    </a:p>
                  </a:txBody>
                  <a:tcPr/>
                </a:tc>
                <a:tc>
                  <a:txBody>
                    <a:bodyPr/>
                    <a:lstStyle/>
                    <a:p>
                      <a:r>
                        <a:rPr lang="en-IN"/>
                        <a:t>2020</a:t>
                      </a:r>
                    </a:p>
                  </a:txBody>
                  <a:tcPr/>
                </a:tc>
                <a:tc>
                  <a:txBody>
                    <a:bodyPr/>
                    <a:lstStyle/>
                    <a:p>
                      <a:r>
                        <a:rPr lang="en-IN"/>
                        <a:t>2021</a:t>
                      </a:r>
                    </a:p>
                  </a:txBody>
                  <a:tcPr/>
                </a:tc>
                <a:tc>
                  <a:txBody>
                    <a:bodyPr/>
                    <a:lstStyle/>
                    <a:p>
                      <a:r>
                        <a:rPr lang="en-IN"/>
                        <a:t>2022</a:t>
                      </a:r>
                    </a:p>
                  </a:txBody>
                  <a:tcPr/>
                </a:tc>
                <a:extLst>
                  <a:ext uri="{0D108BD9-81ED-4DB2-BD59-A6C34878D82A}">
                    <a16:rowId xmlns:a16="http://schemas.microsoft.com/office/drawing/2014/main" val="10000"/>
                  </a:ext>
                </a:extLst>
              </a:tr>
              <a:tr h="409433">
                <a:tc>
                  <a:txBody>
                    <a:bodyPr/>
                    <a:lstStyle/>
                    <a:p>
                      <a:r>
                        <a:rPr lang="en-IN"/>
                        <a:t>Marketing</a:t>
                      </a:r>
                    </a:p>
                  </a:txBody>
                  <a:tcPr/>
                </a:tc>
                <a:tc>
                  <a:txBody>
                    <a:bodyPr/>
                    <a:lstStyle/>
                    <a:p>
                      <a:r>
                        <a:rPr lang="en-IN" dirty="0"/>
                        <a:t>0.95</a:t>
                      </a:r>
                    </a:p>
                  </a:txBody>
                  <a:tcPr/>
                </a:tc>
                <a:tc>
                  <a:txBody>
                    <a:bodyPr/>
                    <a:lstStyle/>
                    <a:p>
                      <a:r>
                        <a:rPr lang="en-IN" dirty="0"/>
                        <a:t>1.21</a:t>
                      </a:r>
                    </a:p>
                  </a:txBody>
                  <a:tcPr/>
                </a:tc>
                <a:tc>
                  <a:txBody>
                    <a:bodyPr/>
                    <a:lstStyle/>
                    <a:p>
                      <a:r>
                        <a:rPr lang="en-IN" dirty="0"/>
                        <a:t>1.31</a:t>
                      </a:r>
                    </a:p>
                  </a:txBody>
                  <a:tcPr/>
                </a:tc>
                <a:tc>
                  <a:txBody>
                    <a:bodyPr/>
                    <a:lstStyle/>
                    <a:p>
                      <a:r>
                        <a:rPr lang="en-IN" dirty="0"/>
                        <a:t>1.53</a:t>
                      </a:r>
                    </a:p>
                  </a:txBody>
                  <a:tcPr/>
                </a:tc>
                <a:extLst>
                  <a:ext uri="{0D108BD9-81ED-4DB2-BD59-A6C34878D82A}">
                    <a16:rowId xmlns:a16="http://schemas.microsoft.com/office/drawing/2014/main" val="10001"/>
                  </a:ext>
                </a:extLst>
              </a:tr>
            </a:tbl>
          </a:graphicData>
        </a:graphic>
      </p:graphicFrame>
      <p:graphicFrame>
        <p:nvGraphicFramePr>
          <p:cNvPr id="3" name="Chart 2"/>
          <p:cNvGraphicFramePr>
            <a:graphicFrameLocks noGrp="1"/>
          </p:cNvGraphicFramePr>
          <p:nvPr>
            <p:extLst>
              <p:ext uri="{D42A27DB-BD31-4B8C-83A1-F6EECF244321}">
                <p14:modId xmlns:p14="http://schemas.microsoft.com/office/powerpoint/2010/main" val="1548339288"/>
              </p:ext>
            </p:extLst>
          </p:nvPr>
        </p:nvGraphicFramePr>
        <p:xfrm>
          <a:off x="990601" y="661534"/>
          <a:ext cx="6553200" cy="1933462"/>
        </p:xfrm>
        <a:graphic>
          <a:graphicData uri="http://schemas.openxmlformats.org/drawingml/2006/chart">
            <c:chart xmlns:c="http://schemas.openxmlformats.org/drawingml/2006/chart" xmlns:r="http://schemas.openxmlformats.org/officeDocument/2006/relationships" r:id="rId2"/>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664028"/>
            <a:ext cx="8229600" cy="753609"/>
          </a:xfrm>
        </p:spPr>
        <p:txBody>
          <a:bodyPr>
            <a:normAutofit/>
          </a:bodyPr>
          <a:lstStyle/>
          <a:p>
            <a:r>
              <a:rPr lang="en-IN" sz="1800" u="sng" dirty="0"/>
              <a:t>For a Fixed Budget Scenario, if we allocate spend as stated below, then we can get a 7.47% increase in marketing sales in 2023 based on these Marketing Tactics</a:t>
            </a:r>
            <a:endParaRPr sz="1800" u="sng" dirty="0"/>
          </a:p>
        </p:txBody>
      </p:sp>
      <p:graphicFrame>
        <p:nvGraphicFramePr>
          <p:cNvPr id="3" name="Table 2"/>
          <p:cNvGraphicFramePr>
            <a:graphicFrameLocks noGrp="1"/>
          </p:cNvGraphicFramePr>
          <p:nvPr>
            <p:extLst>
              <p:ext uri="{D42A27DB-BD31-4B8C-83A1-F6EECF244321}">
                <p14:modId xmlns:p14="http://schemas.microsoft.com/office/powerpoint/2010/main" val="4257241217"/>
              </p:ext>
            </p:extLst>
          </p:nvPr>
        </p:nvGraphicFramePr>
        <p:xfrm>
          <a:off x="141514" y="1371600"/>
          <a:ext cx="8871856" cy="3091543"/>
        </p:xfrm>
        <a:graphic>
          <a:graphicData uri="http://schemas.openxmlformats.org/drawingml/2006/table">
            <a:tbl>
              <a:tblPr firstRow="1" bandRow="1">
                <a:tableStyleId>{5C22544A-7EE6-4342-B048-85BDC9FD1C3A}</a:tableStyleId>
              </a:tblPr>
              <a:tblGrid>
                <a:gridCol w="1267408">
                  <a:extLst>
                    <a:ext uri="{9D8B030D-6E8A-4147-A177-3AD203B41FA5}">
                      <a16:colId xmlns:a16="http://schemas.microsoft.com/office/drawing/2014/main" val="20000"/>
                    </a:ext>
                  </a:extLst>
                </a:gridCol>
                <a:gridCol w="1267408">
                  <a:extLst>
                    <a:ext uri="{9D8B030D-6E8A-4147-A177-3AD203B41FA5}">
                      <a16:colId xmlns:a16="http://schemas.microsoft.com/office/drawing/2014/main" val="20001"/>
                    </a:ext>
                  </a:extLst>
                </a:gridCol>
                <a:gridCol w="1267408">
                  <a:extLst>
                    <a:ext uri="{9D8B030D-6E8A-4147-A177-3AD203B41FA5}">
                      <a16:colId xmlns:a16="http://schemas.microsoft.com/office/drawing/2014/main" val="20002"/>
                    </a:ext>
                  </a:extLst>
                </a:gridCol>
                <a:gridCol w="1267408">
                  <a:extLst>
                    <a:ext uri="{9D8B030D-6E8A-4147-A177-3AD203B41FA5}">
                      <a16:colId xmlns:a16="http://schemas.microsoft.com/office/drawing/2014/main" val="20003"/>
                    </a:ext>
                  </a:extLst>
                </a:gridCol>
                <a:gridCol w="1267408">
                  <a:extLst>
                    <a:ext uri="{9D8B030D-6E8A-4147-A177-3AD203B41FA5}">
                      <a16:colId xmlns:a16="http://schemas.microsoft.com/office/drawing/2014/main" val="20004"/>
                    </a:ext>
                  </a:extLst>
                </a:gridCol>
                <a:gridCol w="1267408">
                  <a:extLst>
                    <a:ext uri="{9D8B030D-6E8A-4147-A177-3AD203B41FA5}">
                      <a16:colId xmlns:a16="http://schemas.microsoft.com/office/drawing/2014/main" val="20005"/>
                    </a:ext>
                  </a:extLst>
                </a:gridCol>
                <a:gridCol w="1267408">
                  <a:extLst>
                    <a:ext uri="{9D8B030D-6E8A-4147-A177-3AD203B41FA5}">
                      <a16:colId xmlns:a16="http://schemas.microsoft.com/office/drawing/2014/main" val="20006"/>
                    </a:ext>
                  </a:extLst>
                </a:gridCol>
              </a:tblGrid>
              <a:tr h="580084">
                <a:tc>
                  <a:txBody>
                    <a:bodyPr/>
                    <a:lstStyle/>
                    <a:p>
                      <a:r>
                        <a:t>Tactic</a:t>
                      </a:r>
                    </a:p>
                  </a:txBody>
                  <a:tcPr/>
                </a:tc>
                <a:tc>
                  <a:txBody>
                    <a:bodyPr/>
                    <a:lstStyle/>
                    <a:p>
                      <a:r>
                        <a:t>Current Spend</a:t>
                      </a:r>
                    </a:p>
                  </a:txBody>
                  <a:tcPr/>
                </a:tc>
                <a:tc>
                  <a:txBody>
                    <a:bodyPr/>
                    <a:lstStyle/>
                    <a:p>
                      <a:r>
                        <a:rPr dirty="0"/>
                        <a:t>Optimum Spend</a:t>
                      </a:r>
                    </a:p>
                  </a:txBody>
                  <a:tcPr/>
                </a:tc>
                <a:tc>
                  <a:txBody>
                    <a:bodyPr/>
                    <a:lstStyle/>
                    <a:p>
                      <a:r>
                        <a:rPr dirty="0"/>
                        <a:t>% Ch</a:t>
                      </a:r>
                      <a:r>
                        <a:rPr lang="en-IN" dirty="0"/>
                        <a:t>an</a:t>
                      </a:r>
                      <a:r>
                        <a:rPr dirty="0"/>
                        <a:t>g</a:t>
                      </a:r>
                      <a:r>
                        <a:rPr lang="en-IN" dirty="0"/>
                        <a:t>e</a:t>
                      </a:r>
                      <a:r>
                        <a:rPr dirty="0"/>
                        <a:t> Spend</a:t>
                      </a:r>
                    </a:p>
                  </a:txBody>
                  <a:tcPr/>
                </a:tc>
                <a:tc>
                  <a:txBody>
                    <a:bodyPr/>
                    <a:lstStyle/>
                    <a:p>
                      <a:r>
                        <a:t>Current Sales</a:t>
                      </a:r>
                    </a:p>
                  </a:txBody>
                  <a:tcPr/>
                </a:tc>
                <a:tc>
                  <a:txBody>
                    <a:bodyPr/>
                    <a:lstStyle/>
                    <a:p>
                      <a:r>
                        <a:t>Optimum Sales</a:t>
                      </a:r>
                    </a:p>
                  </a:txBody>
                  <a:tcPr/>
                </a:tc>
                <a:tc>
                  <a:txBody>
                    <a:bodyPr/>
                    <a:lstStyle/>
                    <a:p>
                      <a:r>
                        <a:rPr dirty="0"/>
                        <a:t>% Ch</a:t>
                      </a:r>
                      <a:r>
                        <a:rPr lang="en-IN" dirty="0"/>
                        <a:t>an</a:t>
                      </a:r>
                      <a:r>
                        <a:rPr dirty="0"/>
                        <a:t>g</a:t>
                      </a:r>
                      <a:r>
                        <a:rPr lang="en-IN" dirty="0"/>
                        <a:t>e</a:t>
                      </a:r>
                      <a:r>
                        <a:rPr dirty="0"/>
                        <a:t> Sales</a:t>
                      </a:r>
                    </a:p>
                  </a:txBody>
                  <a:tcPr/>
                </a:tc>
                <a:extLst>
                  <a:ext uri="{0D108BD9-81ED-4DB2-BD59-A6C34878D82A}">
                    <a16:rowId xmlns:a16="http://schemas.microsoft.com/office/drawing/2014/main" val="10000"/>
                  </a:ext>
                </a:extLst>
              </a:tr>
              <a:tr h="345288">
                <a:tc>
                  <a:txBody>
                    <a:bodyPr/>
                    <a:lstStyle/>
                    <a:p>
                      <a:r>
                        <a:rPr lang="en-IN" dirty="0"/>
                        <a:t>TV</a:t>
                      </a:r>
                      <a:endParaRPr dirty="0"/>
                    </a:p>
                  </a:txBody>
                  <a:tcPr/>
                </a:tc>
                <a:tc>
                  <a:txBody>
                    <a:bodyPr/>
                    <a:lstStyle/>
                    <a:p>
                      <a:pPr algn="ctr" fontAlgn="b"/>
                      <a:r>
                        <a:rPr lang="en-IN" sz="1400" b="0" i="0" u="none" strike="noStrike" dirty="0">
                          <a:solidFill>
                            <a:srgbClr val="000000"/>
                          </a:solidFill>
                          <a:effectLst/>
                          <a:latin typeface="Courier New" panose="02070309020205020404" pitchFamily="49" charset="0"/>
                        </a:rPr>
                        <a:t> 151.89 </a:t>
                      </a:r>
                    </a:p>
                  </a:txBody>
                  <a:tcPr marL="0" marR="0" marT="0" marB="0" anchor="ctr"/>
                </a:tc>
                <a:tc>
                  <a:txBody>
                    <a:bodyPr/>
                    <a:lstStyle/>
                    <a:p>
                      <a:pPr algn="ctr" fontAlgn="b"/>
                      <a:r>
                        <a:rPr lang="en-IN" sz="1400" b="0" i="0" u="none" strike="noStrike" dirty="0">
                          <a:solidFill>
                            <a:srgbClr val="000000"/>
                          </a:solidFill>
                          <a:effectLst/>
                          <a:latin typeface="Courier New" panose="02070309020205020404" pitchFamily="49" charset="0"/>
                        </a:rPr>
                        <a:t> 142.43 </a:t>
                      </a:r>
                    </a:p>
                  </a:txBody>
                  <a:tcPr marL="0" marR="0" marT="0" marB="0" anchor="ctr"/>
                </a:tc>
                <a:tc>
                  <a:txBody>
                    <a:bodyPr/>
                    <a:lstStyle/>
                    <a:p>
                      <a:pPr algn="ctr" fontAlgn="b"/>
                      <a:r>
                        <a:rPr lang="en-IN" sz="1400" b="0" i="0" u="none" strike="noStrike" dirty="0">
                          <a:solidFill>
                            <a:srgbClr val="000000"/>
                          </a:solidFill>
                          <a:effectLst/>
                          <a:latin typeface="Courier New" panose="02070309020205020404" pitchFamily="49" charset="0"/>
                        </a:rPr>
                        <a:t>(6.2%)</a:t>
                      </a:r>
                    </a:p>
                  </a:txBody>
                  <a:tcPr marL="0" marR="0" marT="0" marB="0" anchor="ctr"/>
                </a:tc>
                <a:tc>
                  <a:txBody>
                    <a:bodyPr/>
                    <a:lstStyle/>
                    <a:p>
                      <a:pPr algn="ctr" fontAlgn="b"/>
                      <a:r>
                        <a:rPr lang="en-IN" sz="1400" b="0" i="0" u="none" strike="noStrike" dirty="0">
                          <a:solidFill>
                            <a:srgbClr val="000000"/>
                          </a:solidFill>
                          <a:effectLst/>
                          <a:latin typeface="Courier New" panose="02070309020205020404" pitchFamily="49" charset="0"/>
                        </a:rPr>
                        <a:t>49.1</a:t>
                      </a:r>
                    </a:p>
                  </a:txBody>
                  <a:tcPr marL="0" marR="0" marT="0" marB="0" anchor="ctr"/>
                </a:tc>
                <a:tc>
                  <a:txBody>
                    <a:bodyPr/>
                    <a:lstStyle/>
                    <a:p>
                      <a:pPr algn="ctr" fontAlgn="b"/>
                      <a:r>
                        <a:rPr lang="en-IN" sz="1400" b="0" i="0" u="none" strike="noStrike" dirty="0">
                          <a:solidFill>
                            <a:srgbClr val="000000"/>
                          </a:solidFill>
                          <a:effectLst/>
                          <a:latin typeface="Courier New" panose="02070309020205020404" pitchFamily="49" charset="0"/>
                        </a:rPr>
                        <a:t>47.9</a:t>
                      </a:r>
                    </a:p>
                  </a:txBody>
                  <a:tcPr marL="0" marR="0" marT="0" marB="0" anchor="ctr"/>
                </a:tc>
                <a:tc>
                  <a:txBody>
                    <a:bodyPr/>
                    <a:lstStyle/>
                    <a:p>
                      <a:pPr algn="ctr" fontAlgn="b"/>
                      <a:r>
                        <a:rPr lang="en-IN" sz="1400" b="0" i="0" u="none" strike="noStrike" dirty="0">
                          <a:solidFill>
                            <a:srgbClr val="000000"/>
                          </a:solidFill>
                          <a:effectLst/>
                          <a:latin typeface="Courier New" panose="02070309020205020404" pitchFamily="49" charset="0"/>
                        </a:rPr>
                        <a:t>(2.5%)</a:t>
                      </a:r>
                    </a:p>
                  </a:txBody>
                  <a:tcPr marL="0" marR="0" marT="0" marB="0" anchor="ctr"/>
                </a:tc>
                <a:extLst>
                  <a:ext uri="{0D108BD9-81ED-4DB2-BD59-A6C34878D82A}">
                    <a16:rowId xmlns:a16="http://schemas.microsoft.com/office/drawing/2014/main" val="10001"/>
                  </a:ext>
                </a:extLst>
              </a:tr>
              <a:tr h="354874">
                <a:tc>
                  <a:txBody>
                    <a:bodyPr/>
                    <a:lstStyle/>
                    <a:p>
                      <a:r>
                        <a:rPr lang="en-IN" dirty="0"/>
                        <a:t>N</a:t>
                      </a:r>
                      <a:r>
                        <a:rPr dirty="0" err="1"/>
                        <a:t>ewspap</a:t>
                      </a:r>
                      <a:r>
                        <a:rPr lang="en-IN" dirty="0"/>
                        <a:t>e</a:t>
                      </a:r>
                      <a:r>
                        <a:rPr dirty="0"/>
                        <a:t>r</a:t>
                      </a:r>
                    </a:p>
                  </a:txBody>
                  <a:tcPr/>
                </a:tc>
                <a:tc>
                  <a:txBody>
                    <a:bodyPr/>
                    <a:lstStyle/>
                    <a:p>
                      <a:pPr algn="ctr" fontAlgn="b"/>
                      <a:r>
                        <a:rPr lang="en-IN" sz="1400" b="0" i="0" u="none" strike="noStrike" dirty="0">
                          <a:solidFill>
                            <a:srgbClr val="000000"/>
                          </a:solidFill>
                          <a:effectLst/>
                          <a:latin typeface="Courier New" panose="02070309020205020404" pitchFamily="49" charset="0"/>
                        </a:rPr>
                        <a:t> 17.49 </a:t>
                      </a:r>
                    </a:p>
                  </a:txBody>
                  <a:tcPr marL="0" marR="0" marT="0" marB="0" anchor="ctr"/>
                </a:tc>
                <a:tc>
                  <a:txBody>
                    <a:bodyPr/>
                    <a:lstStyle/>
                    <a:p>
                      <a:pPr algn="ctr" fontAlgn="b"/>
                      <a:r>
                        <a:rPr lang="en-IN" sz="1400" b="0" i="0" u="none" strike="noStrike" dirty="0">
                          <a:solidFill>
                            <a:srgbClr val="000000"/>
                          </a:solidFill>
                          <a:effectLst/>
                          <a:latin typeface="Courier New" panose="02070309020205020404" pitchFamily="49" charset="0"/>
                        </a:rPr>
                        <a:t> 21.86 </a:t>
                      </a:r>
                    </a:p>
                  </a:txBody>
                  <a:tcPr marL="0" marR="0" marT="0" marB="0" anchor="ctr"/>
                </a:tc>
                <a:tc>
                  <a:txBody>
                    <a:bodyPr/>
                    <a:lstStyle/>
                    <a:p>
                      <a:pPr algn="ctr" fontAlgn="b"/>
                      <a:r>
                        <a:rPr lang="en-IN" sz="1400" b="0" i="0" u="none" strike="noStrike">
                          <a:solidFill>
                            <a:srgbClr val="000000"/>
                          </a:solidFill>
                          <a:effectLst/>
                          <a:latin typeface="Courier New" panose="02070309020205020404" pitchFamily="49" charset="0"/>
                        </a:rPr>
                        <a:t>25.0%</a:t>
                      </a:r>
                    </a:p>
                  </a:txBody>
                  <a:tcPr marL="0" marR="0" marT="0" marB="0" anchor="ctr"/>
                </a:tc>
                <a:tc>
                  <a:txBody>
                    <a:bodyPr/>
                    <a:lstStyle/>
                    <a:p>
                      <a:pPr algn="ctr" fontAlgn="b"/>
                      <a:r>
                        <a:rPr lang="en-IN" sz="1400" b="0" i="0" u="none" strike="noStrike" dirty="0">
                          <a:solidFill>
                            <a:srgbClr val="000000"/>
                          </a:solidFill>
                          <a:effectLst/>
                          <a:latin typeface="Courier New" panose="02070309020205020404" pitchFamily="49" charset="0"/>
                        </a:rPr>
                        <a:t>65.7</a:t>
                      </a:r>
                    </a:p>
                  </a:txBody>
                  <a:tcPr marL="0" marR="0" marT="0" marB="0" anchor="ctr"/>
                </a:tc>
                <a:tc>
                  <a:txBody>
                    <a:bodyPr/>
                    <a:lstStyle/>
                    <a:p>
                      <a:pPr algn="ctr" fontAlgn="b"/>
                      <a:r>
                        <a:rPr lang="en-IN" sz="1400" b="0" i="0" u="none" strike="noStrike" dirty="0">
                          <a:solidFill>
                            <a:srgbClr val="000000"/>
                          </a:solidFill>
                          <a:effectLst/>
                          <a:latin typeface="Courier New" panose="02070309020205020404" pitchFamily="49" charset="0"/>
                        </a:rPr>
                        <a:t>73.6</a:t>
                      </a:r>
                    </a:p>
                  </a:txBody>
                  <a:tcPr marL="0" marR="0" marT="0" marB="0" anchor="ctr"/>
                </a:tc>
                <a:tc>
                  <a:txBody>
                    <a:bodyPr/>
                    <a:lstStyle/>
                    <a:p>
                      <a:pPr algn="ctr" fontAlgn="b"/>
                      <a:r>
                        <a:rPr lang="en-IN" sz="1400" b="0" i="0" u="none" strike="noStrike">
                          <a:solidFill>
                            <a:srgbClr val="000000"/>
                          </a:solidFill>
                          <a:effectLst/>
                          <a:latin typeface="Courier New" panose="02070309020205020404" pitchFamily="49" charset="0"/>
                        </a:rPr>
                        <a:t>12.1%</a:t>
                      </a:r>
                    </a:p>
                  </a:txBody>
                  <a:tcPr marL="0" marR="0" marT="0" marB="0" anchor="ctr"/>
                </a:tc>
                <a:extLst>
                  <a:ext uri="{0D108BD9-81ED-4DB2-BD59-A6C34878D82A}">
                    <a16:rowId xmlns:a16="http://schemas.microsoft.com/office/drawing/2014/main" val="10002"/>
                  </a:ext>
                </a:extLst>
              </a:tr>
              <a:tr h="457200">
                <a:tc>
                  <a:txBody>
                    <a:bodyPr/>
                    <a:lstStyle/>
                    <a:p>
                      <a:r>
                        <a:rPr lang="en-IN" dirty="0"/>
                        <a:t>F</a:t>
                      </a:r>
                      <a:r>
                        <a:rPr dirty="0"/>
                        <a:t>b</a:t>
                      </a:r>
                      <a:r>
                        <a:rPr lang="en-IN" dirty="0"/>
                        <a:t> &amp; I</a:t>
                      </a:r>
                      <a:r>
                        <a:rPr dirty="0"/>
                        <a:t>g</a:t>
                      </a:r>
                    </a:p>
                  </a:txBody>
                  <a:tcPr/>
                </a:tc>
                <a:tc>
                  <a:txBody>
                    <a:bodyPr/>
                    <a:lstStyle/>
                    <a:p>
                      <a:pPr algn="ctr" fontAlgn="b"/>
                      <a:r>
                        <a:rPr lang="en-IN" sz="1400" b="0" i="0" u="none" strike="noStrike" dirty="0">
                          <a:solidFill>
                            <a:srgbClr val="000000"/>
                          </a:solidFill>
                          <a:effectLst/>
                          <a:latin typeface="Courier New" panose="02070309020205020404" pitchFamily="49" charset="0"/>
                        </a:rPr>
                        <a:t> 8.69 </a:t>
                      </a:r>
                    </a:p>
                  </a:txBody>
                  <a:tcPr marL="0" marR="0" marT="0" marB="0" anchor="ctr"/>
                </a:tc>
                <a:tc>
                  <a:txBody>
                    <a:bodyPr/>
                    <a:lstStyle/>
                    <a:p>
                      <a:pPr algn="ctr" fontAlgn="b"/>
                      <a:r>
                        <a:rPr lang="en-IN" sz="1400" b="0" i="0" u="none" strike="noStrike" dirty="0">
                          <a:solidFill>
                            <a:srgbClr val="000000"/>
                          </a:solidFill>
                          <a:effectLst/>
                          <a:latin typeface="Courier New" panose="02070309020205020404" pitchFamily="49" charset="0"/>
                        </a:rPr>
                        <a:t> 10.86 </a:t>
                      </a:r>
                    </a:p>
                  </a:txBody>
                  <a:tcPr marL="0" marR="0" marT="0" marB="0" anchor="ctr"/>
                </a:tc>
                <a:tc>
                  <a:txBody>
                    <a:bodyPr/>
                    <a:lstStyle/>
                    <a:p>
                      <a:pPr algn="ctr" fontAlgn="b"/>
                      <a:r>
                        <a:rPr lang="en-IN" sz="1400" b="0" i="0" u="none" strike="noStrike">
                          <a:solidFill>
                            <a:srgbClr val="000000"/>
                          </a:solidFill>
                          <a:effectLst/>
                          <a:latin typeface="Courier New" panose="02070309020205020404" pitchFamily="49" charset="0"/>
                        </a:rPr>
                        <a:t>25.0%</a:t>
                      </a:r>
                    </a:p>
                  </a:txBody>
                  <a:tcPr marL="0" marR="0" marT="0" marB="0" anchor="ctr"/>
                </a:tc>
                <a:tc>
                  <a:txBody>
                    <a:bodyPr/>
                    <a:lstStyle/>
                    <a:p>
                      <a:pPr algn="ctr" fontAlgn="b"/>
                      <a:r>
                        <a:rPr lang="en-IN" sz="1400" b="0" i="0" u="none" strike="noStrike" dirty="0">
                          <a:solidFill>
                            <a:srgbClr val="000000"/>
                          </a:solidFill>
                          <a:effectLst/>
                          <a:latin typeface="Courier New" panose="02070309020205020404" pitchFamily="49" charset="0"/>
                        </a:rPr>
                        <a:t>45.6</a:t>
                      </a:r>
                    </a:p>
                  </a:txBody>
                  <a:tcPr marL="0" marR="0" marT="0" marB="0" anchor="ctr"/>
                </a:tc>
                <a:tc>
                  <a:txBody>
                    <a:bodyPr/>
                    <a:lstStyle/>
                    <a:p>
                      <a:pPr algn="ctr" fontAlgn="b"/>
                      <a:r>
                        <a:rPr lang="en-IN" sz="1400" b="0" i="0" u="none" strike="noStrike" dirty="0">
                          <a:solidFill>
                            <a:srgbClr val="000000"/>
                          </a:solidFill>
                          <a:effectLst/>
                          <a:latin typeface="Courier New" panose="02070309020205020404" pitchFamily="49" charset="0"/>
                        </a:rPr>
                        <a:t>50.2</a:t>
                      </a:r>
                    </a:p>
                  </a:txBody>
                  <a:tcPr marL="0" marR="0" marT="0" marB="0" anchor="ctr"/>
                </a:tc>
                <a:tc>
                  <a:txBody>
                    <a:bodyPr/>
                    <a:lstStyle/>
                    <a:p>
                      <a:pPr algn="ctr" fontAlgn="b"/>
                      <a:r>
                        <a:rPr lang="en-IN" sz="1400" b="0" i="0" u="none" strike="noStrike">
                          <a:solidFill>
                            <a:srgbClr val="000000"/>
                          </a:solidFill>
                          <a:effectLst/>
                          <a:latin typeface="Courier New" panose="02070309020205020404" pitchFamily="49" charset="0"/>
                        </a:rPr>
                        <a:t>10.1%</a:t>
                      </a:r>
                    </a:p>
                  </a:txBody>
                  <a:tcPr marL="0" marR="0" marT="0" marB="0" anchor="ctr"/>
                </a:tc>
                <a:extLst>
                  <a:ext uri="{0D108BD9-81ED-4DB2-BD59-A6C34878D82A}">
                    <a16:rowId xmlns:a16="http://schemas.microsoft.com/office/drawing/2014/main" val="10003"/>
                  </a:ext>
                </a:extLst>
              </a:tr>
              <a:tr h="381000">
                <a:tc>
                  <a:txBody>
                    <a:bodyPr/>
                    <a:lstStyle/>
                    <a:p>
                      <a:r>
                        <a:rPr lang="en-IN" dirty="0"/>
                        <a:t>Y</a:t>
                      </a:r>
                      <a:r>
                        <a:rPr dirty="0" err="1"/>
                        <a:t>ou</a:t>
                      </a:r>
                      <a:r>
                        <a:rPr lang="en-IN" dirty="0"/>
                        <a:t>T</a:t>
                      </a:r>
                      <a:r>
                        <a:rPr dirty="0"/>
                        <a:t>ube</a:t>
                      </a:r>
                    </a:p>
                  </a:txBody>
                  <a:tcPr/>
                </a:tc>
                <a:tc>
                  <a:txBody>
                    <a:bodyPr/>
                    <a:lstStyle/>
                    <a:p>
                      <a:pPr algn="ctr" fontAlgn="b"/>
                      <a:r>
                        <a:rPr lang="en-IN" sz="1400" b="0" i="0" u="none" strike="noStrike" dirty="0">
                          <a:solidFill>
                            <a:srgbClr val="000000"/>
                          </a:solidFill>
                          <a:effectLst/>
                          <a:latin typeface="Courier New" panose="02070309020205020404" pitchFamily="49" charset="0"/>
                        </a:rPr>
                        <a:t> 10.42 </a:t>
                      </a:r>
                    </a:p>
                  </a:txBody>
                  <a:tcPr marL="0" marR="0" marT="0" marB="0" anchor="ctr"/>
                </a:tc>
                <a:tc>
                  <a:txBody>
                    <a:bodyPr/>
                    <a:lstStyle/>
                    <a:p>
                      <a:pPr algn="ctr" fontAlgn="b"/>
                      <a:r>
                        <a:rPr lang="en-IN" sz="1400" b="0" i="0" u="none" strike="noStrike" dirty="0">
                          <a:solidFill>
                            <a:srgbClr val="000000"/>
                          </a:solidFill>
                          <a:effectLst/>
                          <a:latin typeface="Courier New" panose="02070309020205020404" pitchFamily="49" charset="0"/>
                        </a:rPr>
                        <a:t> 13.03 </a:t>
                      </a:r>
                    </a:p>
                  </a:txBody>
                  <a:tcPr marL="0" marR="0" marT="0" marB="0" anchor="ctr"/>
                </a:tc>
                <a:tc>
                  <a:txBody>
                    <a:bodyPr/>
                    <a:lstStyle/>
                    <a:p>
                      <a:pPr algn="ctr" fontAlgn="b"/>
                      <a:r>
                        <a:rPr lang="en-IN" sz="1400" b="0" i="0" u="none" strike="noStrike">
                          <a:solidFill>
                            <a:srgbClr val="000000"/>
                          </a:solidFill>
                          <a:effectLst/>
                          <a:latin typeface="Courier New" panose="02070309020205020404" pitchFamily="49" charset="0"/>
                        </a:rPr>
                        <a:t>25.0%</a:t>
                      </a:r>
                    </a:p>
                  </a:txBody>
                  <a:tcPr marL="0" marR="0" marT="0" marB="0" anchor="ctr"/>
                </a:tc>
                <a:tc>
                  <a:txBody>
                    <a:bodyPr/>
                    <a:lstStyle/>
                    <a:p>
                      <a:pPr algn="ctr" fontAlgn="b"/>
                      <a:r>
                        <a:rPr lang="en-IN" sz="1400" b="0" i="0" u="none" strike="noStrike" dirty="0">
                          <a:solidFill>
                            <a:srgbClr val="000000"/>
                          </a:solidFill>
                          <a:effectLst/>
                          <a:latin typeface="Courier New" panose="02070309020205020404" pitchFamily="49" charset="0"/>
                        </a:rPr>
                        <a:t>7.1</a:t>
                      </a:r>
                    </a:p>
                  </a:txBody>
                  <a:tcPr marL="0" marR="0" marT="0" marB="0" anchor="ctr"/>
                </a:tc>
                <a:tc>
                  <a:txBody>
                    <a:bodyPr/>
                    <a:lstStyle/>
                    <a:p>
                      <a:pPr algn="ctr" fontAlgn="b"/>
                      <a:r>
                        <a:rPr lang="en-IN" sz="1400" b="0" i="0" u="none" strike="noStrike" dirty="0">
                          <a:solidFill>
                            <a:srgbClr val="000000"/>
                          </a:solidFill>
                          <a:effectLst/>
                          <a:latin typeface="Courier New" panose="02070309020205020404" pitchFamily="49" charset="0"/>
                        </a:rPr>
                        <a:t>8.0</a:t>
                      </a:r>
                    </a:p>
                  </a:txBody>
                  <a:tcPr marL="0" marR="0" marT="0" marB="0" anchor="ctr"/>
                </a:tc>
                <a:tc>
                  <a:txBody>
                    <a:bodyPr/>
                    <a:lstStyle/>
                    <a:p>
                      <a:pPr algn="ctr" fontAlgn="b"/>
                      <a:r>
                        <a:rPr lang="en-IN" sz="1400" b="0" i="0" u="none" strike="noStrike">
                          <a:solidFill>
                            <a:srgbClr val="000000"/>
                          </a:solidFill>
                          <a:effectLst/>
                          <a:latin typeface="Courier New" panose="02070309020205020404" pitchFamily="49" charset="0"/>
                        </a:rPr>
                        <a:t>12.9%</a:t>
                      </a:r>
                    </a:p>
                  </a:txBody>
                  <a:tcPr marL="0" marR="0" marT="0" marB="0" anchor="ctr"/>
                </a:tc>
                <a:extLst>
                  <a:ext uri="{0D108BD9-81ED-4DB2-BD59-A6C34878D82A}">
                    <a16:rowId xmlns:a16="http://schemas.microsoft.com/office/drawing/2014/main" val="10004"/>
                  </a:ext>
                </a:extLst>
              </a:tr>
              <a:tr h="446314">
                <a:tc>
                  <a:txBody>
                    <a:bodyPr/>
                    <a:lstStyle/>
                    <a:p>
                      <a:r>
                        <a:rPr lang="en-IN" dirty="0"/>
                        <a:t>H</a:t>
                      </a:r>
                      <a:r>
                        <a:rPr dirty="0" err="1"/>
                        <a:t>otstar</a:t>
                      </a:r>
                      <a:endParaRPr dirty="0"/>
                    </a:p>
                  </a:txBody>
                  <a:tcPr/>
                </a:tc>
                <a:tc>
                  <a:txBody>
                    <a:bodyPr/>
                    <a:lstStyle/>
                    <a:p>
                      <a:pPr algn="ctr" fontAlgn="b"/>
                      <a:r>
                        <a:rPr lang="en-IN" sz="1400" b="0" i="0" u="none" strike="noStrike" dirty="0">
                          <a:solidFill>
                            <a:srgbClr val="000000"/>
                          </a:solidFill>
                          <a:effectLst/>
                          <a:latin typeface="Courier New" panose="02070309020205020404" pitchFamily="49" charset="0"/>
                        </a:rPr>
                        <a:t> 1.24 </a:t>
                      </a:r>
                    </a:p>
                  </a:txBody>
                  <a:tcPr marL="0" marR="0" marT="0" marB="0" anchor="ctr"/>
                </a:tc>
                <a:tc>
                  <a:txBody>
                    <a:bodyPr/>
                    <a:lstStyle/>
                    <a:p>
                      <a:pPr algn="ctr" fontAlgn="b"/>
                      <a:r>
                        <a:rPr lang="en-IN" sz="1400" b="0" i="0" u="none" strike="noStrike" dirty="0">
                          <a:solidFill>
                            <a:srgbClr val="000000"/>
                          </a:solidFill>
                          <a:effectLst/>
                          <a:latin typeface="Courier New" panose="02070309020205020404" pitchFamily="49" charset="0"/>
                        </a:rPr>
                        <a:t> 1.55 </a:t>
                      </a:r>
                    </a:p>
                  </a:txBody>
                  <a:tcPr marL="0" marR="0" marT="0" marB="0" anchor="ctr"/>
                </a:tc>
                <a:tc>
                  <a:txBody>
                    <a:bodyPr/>
                    <a:lstStyle/>
                    <a:p>
                      <a:pPr algn="ctr" fontAlgn="b"/>
                      <a:r>
                        <a:rPr lang="en-IN" sz="1400" b="0" i="0" u="none" strike="noStrike">
                          <a:solidFill>
                            <a:srgbClr val="000000"/>
                          </a:solidFill>
                          <a:effectLst/>
                          <a:latin typeface="Courier New" panose="02070309020205020404" pitchFamily="49" charset="0"/>
                        </a:rPr>
                        <a:t>25.0%</a:t>
                      </a:r>
                    </a:p>
                  </a:txBody>
                  <a:tcPr marL="0" marR="0" marT="0" marB="0" anchor="ctr"/>
                </a:tc>
                <a:tc>
                  <a:txBody>
                    <a:bodyPr/>
                    <a:lstStyle/>
                    <a:p>
                      <a:pPr algn="ctr" fontAlgn="b"/>
                      <a:r>
                        <a:rPr lang="en-IN" sz="1400" b="0" i="0" u="none" strike="noStrike" dirty="0">
                          <a:solidFill>
                            <a:srgbClr val="000000"/>
                          </a:solidFill>
                          <a:effectLst/>
                          <a:latin typeface="Courier New" panose="02070309020205020404" pitchFamily="49" charset="0"/>
                        </a:rPr>
                        <a:t>31.8</a:t>
                      </a:r>
                    </a:p>
                  </a:txBody>
                  <a:tcPr marL="0" marR="0" marT="0" marB="0" anchor="ctr"/>
                </a:tc>
                <a:tc>
                  <a:txBody>
                    <a:bodyPr/>
                    <a:lstStyle/>
                    <a:p>
                      <a:pPr algn="ctr" fontAlgn="b"/>
                      <a:r>
                        <a:rPr lang="en-IN" sz="1400" b="0" i="0" u="none" strike="noStrike" dirty="0">
                          <a:solidFill>
                            <a:srgbClr val="000000"/>
                          </a:solidFill>
                          <a:effectLst/>
                          <a:latin typeface="Courier New" panose="02070309020205020404" pitchFamily="49" charset="0"/>
                        </a:rPr>
                        <a:t>34.5</a:t>
                      </a:r>
                    </a:p>
                  </a:txBody>
                  <a:tcPr marL="0" marR="0" marT="0" marB="0" anchor="ctr"/>
                </a:tc>
                <a:tc>
                  <a:txBody>
                    <a:bodyPr/>
                    <a:lstStyle/>
                    <a:p>
                      <a:pPr algn="ctr" fontAlgn="b"/>
                      <a:r>
                        <a:rPr lang="en-IN" sz="1400" b="0" i="0" u="none" strike="noStrike" dirty="0">
                          <a:solidFill>
                            <a:srgbClr val="000000"/>
                          </a:solidFill>
                          <a:effectLst/>
                          <a:latin typeface="Courier New" panose="02070309020205020404" pitchFamily="49" charset="0"/>
                        </a:rPr>
                        <a:t>8.4%</a:t>
                      </a:r>
                    </a:p>
                  </a:txBody>
                  <a:tcPr marL="0" marR="0" marT="0" marB="0" anchor="ctr"/>
                </a:tc>
                <a:extLst>
                  <a:ext uri="{0D108BD9-81ED-4DB2-BD59-A6C34878D82A}">
                    <a16:rowId xmlns:a16="http://schemas.microsoft.com/office/drawing/2014/main" val="10005"/>
                  </a:ext>
                </a:extLst>
              </a:tr>
              <a:tr h="435429">
                <a:tc>
                  <a:txBody>
                    <a:bodyPr/>
                    <a:lstStyle/>
                    <a:p>
                      <a:r>
                        <a:rPr dirty="0"/>
                        <a:t>Total</a:t>
                      </a:r>
                    </a:p>
                  </a:txBody>
                  <a:tcPr/>
                </a:tc>
                <a:tc>
                  <a:txBody>
                    <a:bodyPr/>
                    <a:lstStyle/>
                    <a:p>
                      <a:pPr algn="ctr" fontAlgn="b"/>
                      <a:r>
                        <a:rPr lang="en-IN" sz="1400" b="0" i="0" u="none" strike="noStrike" dirty="0">
                          <a:solidFill>
                            <a:srgbClr val="000000"/>
                          </a:solidFill>
                          <a:effectLst/>
                          <a:latin typeface="Courier New" panose="02070309020205020404" pitchFamily="49" charset="0"/>
                        </a:rPr>
                        <a:t> 189.73 </a:t>
                      </a:r>
                    </a:p>
                  </a:txBody>
                  <a:tcPr marL="0" marR="0" marT="0" marB="0" anchor="ctr"/>
                </a:tc>
                <a:tc>
                  <a:txBody>
                    <a:bodyPr/>
                    <a:lstStyle/>
                    <a:p>
                      <a:pPr algn="ctr" fontAlgn="b"/>
                      <a:r>
                        <a:rPr lang="en-IN" sz="1400" b="0" i="0" u="none" strike="noStrike" dirty="0">
                          <a:solidFill>
                            <a:srgbClr val="000000"/>
                          </a:solidFill>
                          <a:effectLst/>
                          <a:latin typeface="Courier New" panose="02070309020205020404" pitchFamily="49" charset="0"/>
                        </a:rPr>
                        <a:t> 189.73 </a:t>
                      </a:r>
                    </a:p>
                  </a:txBody>
                  <a:tcPr marL="0" marR="0" marT="0" marB="0" anchor="ctr"/>
                </a:tc>
                <a:tc>
                  <a:txBody>
                    <a:bodyPr/>
                    <a:lstStyle/>
                    <a:p>
                      <a:pPr algn="ctr" fontAlgn="b"/>
                      <a:r>
                        <a:rPr lang="en-IN" sz="1400" b="0" i="0" u="none" strike="noStrike" dirty="0">
                          <a:solidFill>
                            <a:srgbClr val="000000"/>
                          </a:solidFill>
                          <a:effectLst/>
                          <a:latin typeface="Courier New" panose="02070309020205020404" pitchFamily="49" charset="0"/>
                        </a:rPr>
                        <a:t>0.0%</a:t>
                      </a:r>
                    </a:p>
                  </a:txBody>
                  <a:tcPr marL="0" marR="0" marT="0" marB="0" anchor="ctr"/>
                </a:tc>
                <a:tc>
                  <a:txBody>
                    <a:bodyPr/>
                    <a:lstStyle/>
                    <a:p>
                      <a:pPr algn="ctr" fontAlgn="b"/>
                      <a:r>
                        <a:rPr lang="en-IN" sz="1400" b="0" i="0" u="none" strike="noStrike" dirty="0">
                          <a:solidFill>
                            <a:srgbClr val="000000"/>
                          </a:solidFill>
                          <a:effectLst/>
                          <a:latin typeface="Courier New" panose="02070309020205020404" pitchFamily="49" charset="0"/>
                        </a:rPr>
                        <a:t> 199.32 </a:t>
                      </a:r>
                    </a:p>
                  </a:txBody>
                  <a:tcPr marL="0" marR="0" marT="0" marB="0" anchor="ctr"/>
                </a:tc>
                <a:tc>
                  <a:txBody>
                    <a:bodyPr/>
                    <a:lstStyle/>
                    <a:p>
                      <a:pPr algn="ctr" fontAlgn="b"/>
                      <a:r>
                        <a:rPr lang="en-IN" sz="1400" b="0" i="0" u="none" strike="noStrike" dirty="0">
                          <a:solidFill>
                            <a:srgbClr val="000000"/>
                          </a:solidFill>
                          <a:effectLst/>
                          <a:latin typeface="Courier New" panose="02070309020205020404" pitchFamily="49" charset="0"/>
                        </a:rPr>
                        <a:t> 214.21 </a:t>
                      </a:r>
                    </a:p>
                  </a:txBody>
                  <a:tcPr marL="0" marR="0" marT="0" marB="0" anchor="ctr"/>
                </a:tc>
                <a:tc>
                  <a:txBody>
                    <a:bodyPr/>
                    <a:lstStyle/>
                    <a:p>
                      <a:pPr algn="ctr" fontAlgn="b"/>
                      <a:r>
                        <a:rPr lang="en-IN" sz="1400" b="0" i="0" u="none" strike="noStrike" dirty="0">
                          <a:solidFill>
                            <a:srgbClr val="000000"/>
                          </a:solidFill>
                          <a:effectLst/>
                          <a:latin typeface="Courier New" panose="02070309020205020404" pitchFamily="49" charset="0"/>
                        </a:rPr>
                        <a:t>7.47%</a:t>
                      </a:r>
                    </a:p>
                  </a:txBody>
                  <a:tcPr marL="0" marR="0" marT="0" marB="0" anchor="ctr"/>
                </a:tc>
                <a:extLst>
                  <a:ext uri="{0D108BD9-81ED-4DB2-BD59-A6C34878D82A}">
                    <a16:rowId xmlns:a16="http://schemas.microsoft.com/office/drawing/2014/main" val="3618223220"/>
                  </a:ext>
                </a:extLst>
              </a:tr>
            </a:tbl>
          </a:graphicData>
        </a:graphic>
      </p:graphicFrame>
      <p:sp>
        <p:nvSpPr>
          <p:cNvPr id="4" name="Title 1">
            <a:extLst>
              <a:ext uri="{FF2B5EF4-FFF2-40B4-BE49-F238E27FC236}">
                <a16:creationId xmlns:a16="http://schemas.microsoft.com/office/drawing/2014/main" id="{4C63BF02-9E17-64DA-BC49-47674850C596}"/>
              </a:ext>
            </a:extLst>
          </p:cNvPr>
          <p:cNvSpPr txBox="1">
            <a:spLocks/>
          </p:cNvSpPr>
          <p:nvPr/>
        </p:nvSpPr>
        <p:spPr>
          <a:xfrm>
            <a:off x="370112" y="73704"/>
            <a:ext cx="8229600" cy="753609"/>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4000" b="1" u="sng" dirty="0"/>
              <a:t>Budget Allocation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259</TotalTime>
  <Words>976</Words>
  <Application>Microsoft Office PowerPoint</Application>
  <PresentationFormat>On-screen Show (4:3)</PresentationFormat>
  <Paragraphs>261</Paragraphs>
  <Slides>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Arial</vt:lpstr>
      <vt:lpstr>Calibri</vt:lpstr>
      <vt:lpstr>Courier New</vt:lpstr>
      <vt:lpstr>Segoe Sans</vt:lpstr>
      <vt:lpstr>Office Theme</vt:lpstr>
      <vt:lpstr>Exploratory Data Analysis(EDA)</vt:lpstr>
      <vt:lpstr>Exploratory Data Analysis(EDA)</vt:lpstr>
      <vt:lpstr>OLS Based MMM Model</vt:lpstr>
      <vt:lpstr>Actual vs Predicted Sales(mn) (2019 to 2022)</vt:lpstr>
      <vt:lpstr>Overall Contributions by Category (2019-2022)</vt:lpstr>
      <vt:lpstr>Detailed Breakdown of Contribution by Tactic (2019-2022)</vt:lpstr>
      <vt:lpstr>ROAS Analysis (2019–2022)</vt:lpstr>
      <vt:lpstr>For a Fixed Budget Scenario, if we allocate spend as stated below, then we can get a 7.47% increase in marketing sales in 2023 based on these Marketing Tactics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Pritam Saha</cp:lastModifiedBy>
  <cp:revision>48</cp:revision>
  <dcterms:created xsi:type="dcterms:W3CDTF">2013-01-27T09:14:16Z</dcterms:created>
  <dcterms:modified xsi:type="dcterms:W3CDTF">2025-06-06T06:50:40Z</dcterms:modified>
  <cp:category/>
</cp:coreProperties>
</file>