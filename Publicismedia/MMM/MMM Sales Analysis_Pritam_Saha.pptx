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3" r:id="rId2"/>
    <p:sldId id="262" r:id="rId3"/>
    <p:sldId id="261" r:id="rId4"/>
    <p:sldId id="260" r:id="rId5"/>
    <p:sldId id="257" r:id="rId6"/>
    <p:sldId id="258" r:id="rId7"/>
    <p:sldId id="259" r:id="rId8"/>
    <p:sldId id="256"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59" d="100"/>
          <a:sy n="59" d="100"/>
        </p:scale>
        <p:origin x="1500" y="2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lineChart>
        <c:grouping val="standard"/>
        <c:varyColors val="0"/>
        <c:ser>
          <c:idx val="0"/>
          <c:order val="0"/>
          <c:tx>
            <c:strRef>
              <c:f>Sheet1!$B$1</c:f>
              <c:strCache>
                <c:ptCount val="1"/>
                <c:pt idx="0">
                  <c:v>Actual</c:v>
                </c:pt>
              </c:strCache>
            </c:strRef>
          </c:tx>
          <c:marker>
            <c:symbol val="none"/>
          </c:marker>
          <c:cat>
            <c:strRef>
              <c:f>Sheet1!$A$2:$A$49</c:f>
              <c:strCache>
                <c:ptCount val="48"/>
                <c:pt idx="0">
                  <c:v>Jan-19</c:v>
                </c:pt>
                <c:pt idx="1">
                  <c:v>Feb-19</c:v>
                </c:pt>
                <c:pt idx="2">
                  <c:v>Mar-19</c:v>
                </c:pt>
                <c:pt idx="3">
                  <c:v>Apr-19</c:v>
                </c:pt>
                <c:pt idx="4">
                  <c:v>May-19</c:v>
                </c:pt>
                <c:pt idx="5">
                  <c:v>Jun-19</c:v>
                </c:pt>
                <c:pt idx="6">
                  <c:v>Jul-19</c:v>
                </c:pt>
                <c:pt idx="7">
                  <c:v>Aug-19</c:v>
                </c:pt>
                <c:pt idx="8">
                  <c:v>Sep-19</c:v>
                </c:pt>
                <c:pt idx="9">
                  <c:v>Oct-19</c:v>
                </c:pt>
                <c:pt idx="10">
                  <c:v>Nov-19</c:v>
                </c:pt>
                <c:pt idx="11">
                  <c:v>Dec-19</c:v>
                </c:pt>
                <c:pt idx="12">
                  <c:v>Jan-20</c:v>
                </c:pt>
                <c:pt idx="13">
                  <c:v>Feb-20</c:v>
                </c:pt>
                <c:pt idx="14">
                  <c:v>Mar-20</c:v>
                </c:pt>
                <c:pt idx="15">
                  <c:v>Apr-20</c:v>
                </c:pt>
                <c:pt idx="16">
                  <c:v>May-20</c:v>
                </c:pt>
                <c:pt idx="17">
                  <c:v>Jun-20</c:v>
                </c:pt>
                <c:pt idx="18">
                  <c:v>Jul-20</c:v>
                </c:pt>
                <c:pt idx="19">
                  <c:v>Aug-20</c:v>
                </c:pt>
                <c:pt idx="20">
                  <c:v>Sep-20</c:v>
                </c:pt>
                <c:pt idx="21">
                  <c:v>Oct-20</c:v>
                </c:pt>
                <c:pt idx="22">
                  <c:v>Nov-20</c:v>
                </c:pt>
                <c:pt idx="23">
                  <c:v>Dec-20</c:v>
                </c:pt>
                <c:pt idx="24">
                  <c:v>Jan-21</c:v>
                </c:pt>
                <c:pt idx="25">
                  <c:v>Feb-21</c:v>
                </c:pt>
                <c:pt idx="26">
                  <c:v>Mar-21</c:v>
                </c:pt>
                <c:pt idx="27">
                  <c:v>Apr-21</c:v>
                </c:pt>
                <c:pt idx="28">
                  <c:v>May-21</c:v>
                </c:pt>
                <c:pt idx="29">
                  <c:v>Jun-21</c:v>
                </c:pt>
                <c:pt idx="30">
                  <c:v>Jul-21</c:v>
                </c:pt>
                <c:pt idx="31">
                  <c:v>Aug-21</c:v>
                </c:pt>
                <c:pt idx="32">
                  <c:v>Sep-21</c:v>
                </c:pt>
                <c:pt idx="33">
                  <c:v>Oct-21</c:v>
                </c:pt>
                <c:pt idx="34">
                  <c:v>Nov-21</c:v>
                </c:pt>
                <c:pt idx="35">
                  <c:v>Dec-21</c:v>
                </c:pt>
                <c:pt idx="36">
                  <c:v>Jan-22</c:v>
                </c:pt>
                <c:pt idx="37">
                  <c:v>Feb-22</c:v>
                </c:pt>
                <c:pt idx="38">
                  <c:v>Mar-22</c:v>
                </c:pt>
                <c:pt idx="39">
                  <c:v>Apr-22</c:v>
                </c:pt>
                <c:pt idx="40">
                  <c:v>May-22</c:v>
                </c:pt>
                <c:pt idx="41">
                  <c:v>Jun-22</c:v>
                </c:pt>
                <c:pt idx="42">
                  <c:v>Jul-22</c:v>
                </c:pt>
                <c:pt idx="43">
                  <c:v>Aug-22</c:v>
                </c:pt>
                <c:pt idx="44">
                  <c:v>Sep-22</c:v>
                </c:pt>
                <c:pt idx="45">
                  <c:v>Oct-22</c:v>
                </c:pt>
                <c:pt idx="46">
                  <c:v>Nov-22</c:v>
                </c:pt>
                <c:pt idx="47">
                  <c:v>Dec-22</c:v>
                </c:pt>
              </c:strCache>
            </c:strRef>
          </c:cat>
          <c:val>
            <c:numRef>
              <c:f>Sheet1!$B$2:$B$49</c:f>
              <c:numCache>
                <c:formatCode>General</c:formatCode>
                <c:ptCount val="48"/>
                <c:pt idx="0">
                  <c:v>232.46705600000001</c:v>
                </c:pt>
                <c:pt idx="1">
                  <c:v>214.92716799999999</c:v>
                </c:pt>
                <c:pt idx="2">
                  <c:v>243.62148400000001</c:v>
                </c:pt>
                <c:pt idx="3">
                  <c:v>251.19170399999999</c:v>
                </c:pt>
                <c:pt idx="4">
                  <c:v>243.75260399999999</c:v>
                </c:pt>
                <c:pt idx="5">
                  <c:v>232.67006000000001</c:v>
                </c:pt>
                <c:pt idx="6">
                  <c:v>251.98852400000001</c:v>
                </c:pt>
                <c:pt idx="7">
                  <c:v>258.50477999999998</c:v>
                </c:pt>
                <c:pt idx="8">
                  <c:v>250.98587599999999</c:v>
                </c:pt>
                <c:pt idx="9">
                  <c:v>259.72051199999999</c:v>
                </c:pt>
                <c:pt idx="10">
                  <c:v>255.75167999999999</c:v>
                </c:pt>
                <c:pt idx="11">
                  <c:v>260.61529999999999</c:v>
                </c:pt>
                <c:pt idx="12">
                  <c:v>265.94714800000003</c:v>
                </c:pt>
                <c:pt idx="13">
                  <c:v>256.36965600000002</c:v>
                </c:pt>
                <c:pt idx="14">
                  <c:v>257.51772399999999</c:v>
                </c:pt>
                <c:pt idx="15">
                  <c:v>126.29127800000001</c:v>
                </c:pt>
                <c:pt idx="16">
                  <c:v>137.73989599999999</c:v>
                </c:pt>
                <c:pt idx="17">
                  <c:v>221.93171599999999</c:v>
                </c:pt>
                <c:pt idx="18">
                  <c:v>232.05876799999999</c:v>
                </c:pt>
                <c:pt idx="19">
                  <c:v>253.54975200000001</c:v>
                </c:pt>
                <c:pt idx="20">
                  <c:v>259.94923599999998</c:v>
                </c:pt>
                <c:pt idx="21">
                  <c:v>279.18547599999999</c:v>
                </c:pt>
                <c:pt idx="22">
                  <c:v>291.85359199999999</c:v>
                </c:pt>
                <c:pt idx="23">
                  <c:v>301.86784</c:v>
                </c:pt>
                <c:pt idx="24">
                  <c:v>312.97430400000002</c:v>
                </c:pt>
                <c:pt idx="25">
                  <c:v>311.50613199999998</c:v>
                </c:pt>
                <c:pt idx="26">
                  <c:v>330.81521600000002</c:v>
                </c:pt>
                <c:pt idx="27">
                  <c:v>320.82165600000002</c:v>
                </c:pt>
                <c:pt idx="28">
                  <c:v>320.09449599999999</c:v>
                </c:pt>
                <c:pt idx="29">
                  <c:v>331.32344399999999</c:v>
                </c:pt>
                <c:pt idx="30">
                  <c:v>343.36461600000001</c:v>
                </c:pt>
                <c:pt idx="31">
                  <c:v>341.87974000000003</c:v>
                </c:pt>
                <c:pt idx="32">
                  <c:v>330.26461999999998</c:v>
                </c:pt>
                <c:pt idx="33">
                  <c:v>345.06875200000002</c:v>
                </c:pt>
                <c:pt idx="34">
                  <c:v>343.90423600000003</c:v>
                </c:pt>
                <c:pt idx="35">
                  <c:v>354.72396800000001</c:v>
                </c:pt>
                <c:pt idx="36">
                  <c:v>349.26033200000001</c:v>
                </c:pt>
                <c:pt idx="37">
                  <c:v>327.38876399999998</c:v>
                </c:pt>
                <c:pt idx="38">
                  <c:v>352.68248399999999</c:v>
                </c:pt>
                <c:pt idx="39">
                  <c:v>340.772808</c:v>
                </c:pt>
                <c:pt idx="40">
                  <c:v>363.29692399999999</c:v>
                </c:pt>
                <c:pt idx="41">
                  <c:v>352.24544800000001</c:v>
                </c:pt>
                <c:pt idx="42">
                  <c:v>364.62624</c:v>
                </c:pt>
                <c:pt idx="43">
                  <c:v>368.12391200000002</c:v>
                </c:pt>
                <c:pt idx="44">
                  <c:v>360.130562</c:v>
                </c:pt>
                <c:pt idx="45">
                  <c:v>367.33364599999999</c:v>
                </c:pt>
                <c:pt idx="46">
                  <c:v>363.472692</c:v>
                </c:pt>
                <c:pt idx="47">
                  <c:v>362.14622100000003</c:v>
                </c:pt>
              </c:numCache>
            </c:numRef>
          </c:val>
          <c:smooth val="0"/>
          <c:extLst>
            <c:ext xmlns:c16="http://schemas.microsoft.com/office/drawing/2014/chart" uri="{C3380CC4-5D6E-409C-BE32-E72D297353CC}">
              <c16:uniqueId val="{00000000-64CA-4FFA-B674-E8957F70398D}"/>
            </c:ext>
          </c:extLst>
        </c:ser>
        <c:ser>
          <c:idx val="1"/>
          <c:order val="1"/>
          <c:tx>
            <c:strRef>
              <c:f>Sheet1!$C$1</c:f>
              <c:strCache>
                <c:ptCount val="1"/>
                <c:pt idx="0">
                  <c:v>Predicted</c:v>
                </c:pt>
              </c:strCache>
            </c:strRef>
          </c:tx>
          <c:spPr>
            <a:ln>
              <a:solidFill>
                <a:schemeClr val="bg1">
                  <a:lumMod val="50000"/>
                </a:schemeClr>
              </a:solidFill>
            </a:ln>
          </c:spPr>
          <c:marker>
            <c:symbol val="none"/>
          </c:marker>
          <c:dPt>
            <c:idx val="44"/>
            <c:marker/>
            <c:bubble3D val="0"/>
            <c:extLst>
              <c:ext xmlns:c16="http://schemas.microsoft.com/office/drawing/2014/chart" uri="{C3380CC4-5D6E-409C-BE32-E72D297353CC}">
                <c16:uniqueId val="{00000000-5D63-4667-93F4-8B4CC5EBCA14}"/>
              </c:ext>
            </c:extLst>
          </c:dPt>
          <c:cat>
            <c:strRef>
              <c:f>Sheet1!$A$2:$A$49</c:f>
              <c:strCache>
                <c:ptCount val="48"/>
                <c:pt idx="0">
                  <c:v>Jan-19</c:v>
                </c:pt>
                <c:pt idx="1">
                  <c:v>Feb-19</c:v>
                </c:pt>
                <c:pt idx="2">
                  <c:v>Mar-19</c:v>
                </c:pt>
                <c:pt idx="3">
                  <c:v>Apr-19</c:v>
                </c:pt>
                <c:pt idx="4">
                  <c:v>May-19</c:v>
                </c:pt>
                <c:pt idx="5">
                  <c:v>Jun-19</c:v>
                </c:pt>
                <c:pt idx="6">
                  <c:v>Jul-19</c:v>
                </c:pt>
                <c:pt idx="7">
                  <c:v>Aug-19</c:v>
                </c:pt>
                <c:pt idx="8">
                  <c:v>Sep-19</c:v>
                </c:pt>
                <c:pt idx="9">
                  <c:v>Oct-19</c:v>
                </c:pt>
                <c:pt idx="10">
                  <c:v>Nov-19</c:v>
                </c:pt>
                <c:pt idx="11">
                  <c:v>Dec-19</c:v>
                </c:pt>
                <c:pt idx="12">
                  <c:v>Jan-20</c:v>
                </c:pt>
                <c:pt idx="13">
                  <c:v>Feb-20</c:v>
                </c:pt>
                <c:pt idx="14">
                  <c:v>Mar-20</c:v>
                </c:pt>
                <c:pt idx="15">
                  <c:v>Apr-20</c:v>
                </c:pt>
                <c:pt idx="16">
                  <c:v>May-20</c:v>
                </c:pt>
                <c:pt idx="17">
                  <c:v>Jun-20</c:v>
                </c:pt>
                <c:pt idx="18">
                  <c:v>Jul-20</c:v>
                </c:pt>
                <c:pt idx="19">
                  <c:v>Aug-20</c:v>
                </c:pt>
                <c:pt idx="20">
                  <c:v>Sep-20</c:v>
                </c:pt>
                <c:pt idx="21">
                  <c:v>Oct-20</c:v>
                </c:pt>
                <c:pt idx="22">
                  <c:v>Nov-20</c:v>
                </c:pt>
                <c:pt idx="23">
                  <c:v>Dec-20</c:v>
                </c:pt>
                <c:pt idx="24">
                  <c:v>Jan-21</c:v>
                </c:pt>
                <c:pt idx="25">
                  <c:v>Feb-21</c:v>
                </c:pt>
                <c:pt idx="26">
                  <c:v>Mar-21</c:v>
                </c:pt>
                <c:pt idx="27">
                  <c:v>Apr-21</c:v>
                </c:pt>
                <c:pt idx="28">
                  <c:v>May-21</c:v>
                </c:pt>
                <c:pt idx="29">
                  <c:v>Jun-21</c:v>
                </c:pt>
                <c:pt idx="30">
                  <c:v>Jul-21</c:v>
                </c:pt>
                <c:pt idx="31">
                  <c:v>Aug-21</c:v>
                </c:pt>
                <c:pt idx="32">
                  <c:v>Sep-21</c:v>
                </c:pt>
                <c:pt idx="33">
                  <c:v>Oct-21</c:v>
                </c:pt>
                <c:pt idx="34">
                  <c:v>Nov-21</c:v>
                </c:pt>
                <c:pt idx="35">
                  <c:v>Dec-21</c:v>
                </c:pt>
                <c:pt idx="36">
                  <c:v>Jan-22</c:v>
                </c:pt>
                <c:pt idx="37">
                  <c:v>Feb-22</c:v>
                </c:pt>
                <c:pt idx="38">
                  <c:v>Mar-22</c:v>
                </c:pt>
                <c:pt idx="39">
                  <c:v>Apr-22</c:v>
                </c:pt>
                <c:pt idx="40">
                  <c:v>May-22</c:v>
                </c:pt>
                <c:pt idx="41">
                  <c:v>Jun-22</c:v>
                </c:pt>
                <c:pt idx="42">
                  <c:v>Jul-22</c:v>
                </c:pt>
                <c:pt idx="43">
                  <c:v>Aug-22</c:v>
                </c:pt>
                <c:pt idx="44">
                  <c:v>Sep-22</c:v>
                </c:pt>
                <c:pt idx="45">
                  <c:v>Oct-22</c:v>
                </c:pt>
                <c:pt idx="46">
                  <c:v>Nov-22</c:v>
                </c:pt>
                <c:pt idx="47">
                  <c:v>Dec-22</c:v>
                </c:pt>
              </c:strCache>
            </c:strRef>
          </c:cat>
          <c:val>
            <c:numRef>
              <c:f>Sheet1!$C$2:$C$49</c:f>
              <c:numCache>
                <c:formatCode>General</c:formatCode>
                <c:ptCount val="48"/>
                <c:pt idx="0">
                  <c:v>248.72016782336482</c:v>
                </c:pt>
                <c:pt idx="1">
                  <c:v>249.34785457266872</c:v>
                </c:pt>
                <c:pt idx="2">
                  <c:v>242.98503081181082</c:v>
                </c:pt>
                <c:pt idx="3">
                  <c:v>245.27332445048472</c:v>
                </c:pt>
                <c:pt idx="4">
                  <c:v>244.56390602983362</c:v>
                </c:pt>
                <c:pt idx="5">
                  <c:v>294.14057438609098</c:v>
                </c:pt>
                <c:pt idx="6">
                  <c:v>286.11494154620641</c:v>
                </c:pt>
                <c:pt idx="7">
                  <c:v>254.50216358347976</c:v>
                </c:pt>
                <c:pt idx="8">
                  <c:v>273.98747116730618</c:v>
                </c:pt>
                <c:pt idx="9">
                  <c:v>205.67066404804913</c:v>
                </c:pt>
                <c:pt idx="10">
                  <c:v>286.055425008719</c:v>
                </c:pt>
                <c:pt idx="11">
                  <c:v>246.30819684969708</c:v>
                </c:pt>
                <c:pt idx="12">
                  <c:v>271.1531511381632</c:v>
                </c:pt>
                <c:pt idx="13">
                  <c:v>275.11281366124763</c:v>
                </c:pt>
                <c:pt idx="14">
                  <c:v>256.0999040382485</c:v>
                </c:pt>
                <c:pt idx="15">
                  <c:v>160.75690317350143</c:v>
                </c:pt>
                <c:pt idx="16">
                  <c:v>107.18130348924137</c:v>
                </c:pt>
                <c:pt idx="17">
                  <c:v>204.00812803714214</c:v>
                </c:pt>
                <c:pt idx="18">
                  <c:v>253.23788923449331</c:v>
                </c:pt>
                <c:pt idx="19">
                  <c:v>275.9044948565936</c:v>
                </c:pt>
                <c:pt idx="20">
                  <c:v>251.52218877112827</c:v>
                </c:pt>
                <c:pt idx="21">
                  <c:v>299.69019061764601</c:v>
                </c:pt>
                <c:pt idx="22">
                  <c:v>309.20198824474573</c:v>
                </c:pt>
                <c:pt idx="23">
                  <c:v>343.24916071823822</c:v>
                </c:pt>
                <c:pt idx="24">
                  <c:v>343.86269378544966</c:v>
                </c:pt>
                <c:pt idx="25">
                  <c:v>333.90185765355972</c:v>
                </c:pt>
                <c:pt idx="26">
                  <c:v>311.07049290596365</c:v>
                </c:pt>
                <c:pt idx="27">
                  <c:v>322.05714686609792</c:v>
                </c:pt>
                <c:pt idx="28">
                  <c:v>322.98747153529081</c:v>
                </c:pt>
                <c:pt idx="29">
                  <c:v>293.92951314370094</c:v>
                </c:pt>
                <c:pt idx="30">
                  <c:v>300.84993200522865</c:v>
                </c:pt>
                <c:pt idx="31">
                  <c:v>356.67328562828646</c:v>
                </c:pt>
                <c:pt idx="32">
                  <c:v>338.97525388949521</c:v>
                </c:pt>
                <c:pt idx="33">
                  <c:v>325.45682108973949</c:v>
                </c:pt>
                <c:pt idx="34">
                  <c:v>326.82371695187203</c:v>
                </c:pt>
                <c:pt idx="35">
                  <c:v>342.80087654999676</c:v>
                </c:pt>
                <c:pt idx="36">
                  <c:v>374.25397123677885</c:v>
                </c:pt>
                <c:pt idx="37">
                  <c:v>340.58622746601958</c:v>
                </c:pt>
                <c:pt idx="38">
                  <c:v>331.29709574291866</c:v>
                </c:pt>
                <c:pt idx="39">
                  <c:v>342.2758326735883</c:v>
                </c:pt>
                <c:pt idx="40">
                  <c:v>325.7925657760079</c:v>
                </c:pt>
                <c:pt idx="41">
                  <c:v>357.43988472921075</c:v>
                </c:pt>
                <c:pt idx="42">
                  <c:v>346.36544431021537</c:v>
                </c:pt>
                <c:pt idx="43">
                  <c:v>358.3689621317061</c:v>
                </c:pt>
                <c:pt idx="44">
                  <c:v>351.15625183102384</c:v>
                </c:pt>
                <c:pt idx="45">
                  <c:v>330.22701309480772</c:v>
                </c:pt>
                <c:pt idx="46">
                  <c:v>324.74428046454528</c:v>
                </c:pt>
                <c:pt idx="47">
                  <c:v>325.92733302991803</c:v>
                </c:pt>
              </c:numCache>
            </c:numRef>
          </c:val>
          <c:smooth val="0"/>
          <c:extLst>
            <c:ext xmlns:c16="http://schemas.microsoft.com/office/drawing/2014/chart" uri="{C3380CC4-5D6E-409C-BE32-E72D297353CC}">
              <c16:uniqueId val="{00000001-64CA-4FFA-B674-E8957F70398D}"/>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scaling>
        <c:delete val="0"/>
        <c:axPos val="l"/>
        <c:title>
          <c:tx>
            <c:rich>
              <a:bodyPr/>
              <a:lstStyle/>
              <a:p>
                <a:pPr>
                  <a:defRPr/>
                </a:pPr>
                <a:r>
                  <a:rPr lang="en-IN" dirty="0"/>
                  <a:t>Sales(</a:t>
                </a:r>
                <a:r>
                  <a:rPr lang="en-IN" dirty="0" err="1"/>
                  <a:t>mn</a:t>
                </a:r>
                <a:r>
                  <a:rPr lang="en-IN" dirty="0"/>
                  <a:t>)</a:t>
                </a:r>
              </a:p>
            </c:rich>
          </c:tx>
          <c:overlay val="0"/>
        </c:title>
        <c:numFmt formatCode="General" sourceLinked="1"/>
        <c:majorTickMark val="out"/>
        <c:minorTickMark val="none"/>
        <c:tickLblPos val="nextTo"/>
        <c:crossAx val="2118791784"/>
        <c:crosses val="autoZero"/>
        <c:crossBetween val="between"/>
      </c:valAx>
    </c:plotArea>
    <c:legend>
      <c:legendPos val="b"/>
      <c:overlay val="0"/>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r>
              <a:rPr lang="en-IN"/>
              <a:t>Marketing Spend (2019 - 2022</a:t>
            </a:r>
            <a:r>
              <a:rPr lang="en-IN" dirty="0"/>
              <a:t>)</a:t>
            </a:r>
          </a:p>
        </c:rich>
      </c:tx>
      <c:overlay val="0"/>
    </c:title>
    <c:autoTitleDeleted val="0"/>
    <c:plotArea>
      <c:layout/>
      <c:barChart>
        <c:barDir val="col"/>
        <c:grouping val="clustered"/>
        <c:varyColors val="1"/>
        <c:ser>
          <c:idx val="0"/>
          <c:order val="0"/>
          <c:tx>
            <c:strRef>
              <c:f>Sheet1!$B$1</c:f>
              <c:strCache>
                <c:ptCount val="1"/>
                <c:pt idx="0">
                  <c:v>Marketing Spend</c:v>
                </c:pt>
              </c:strCache>
            </c:strRef>
          </c:tx>
          <c:invertIfNegative val="1"/>
          <c:dLbls>
            <c:numFmt formatCode="#,##0" sourceLinked="0"/>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2019</c:v>
                </c:pt>
                <c:pt idx="1">
                  <c:v>2020</c:v>
                </c:pt>
                <c:pt idx="2">
                  <c:v>2021</c:v>
                </c:pt>
                <c:pt idx="3">
                  <c:v>2022</c:v>
                </c:pt>
              </c:strCache>
            </c:strRef>
          </c:cat>
          <c:val>
            <c:numRef>
              <c:f>Sheet1!$B$2:$B$5</c:f>
              <c:numCache>
                <c:formatCode>General</c:formatCode>
                <c:ptCount val="4"/>
                <c:pt idx="0">
                  <c:v>307</c:v>
                </c:pt>
                <c:pt idx="1">
                  <c:v>291.47868190000003</c:v>
                </c:pt>
                <c:pt idx="2">
                  <c:v>187.3775772576914</c:v>
                </c:pt>
                <c:pt idx="3">
                  <c:v>189.72974547000015</c:v>
                </c:pt>
              </c:numCache>
            </c:numRef>
          </c:val>
          <c:extLst>
            <c:ext xmlns:c16="http://schemas.microsoft.com/office/drawing/2014/chart" uri="{C3380CC4-5D6E-409C-BE32-E72D297353CC}">
              <c16:uniqueId val="{00000000-FC6E-44E5-899D-E4CAB10331B7}"/>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title>
          <c:tx>
            <c:rich>
              <a:bodyPr/>
              <a:lstStyle/>
              <a:p>
                <a:pPr>
                  <a:defRPr/>
                </a:pPr>
                <a:r>
                  <a:rPr lang="en-IN" dirty="0"/>
                  <a:t>Spend(</a:t>
                </a:r>
                <a:r>
                  <a:rPr lang="en-IN" dirty="0" err="1"/>
                  <a:t>mn</a:t>
                </a:r>
                <a:r>
                  <a:rPr lang="en-IN" dirty="0"/>
                  <a:t>)</a:t>
                </a:r>
              </a:p>
            </c:rich>
          </c:tx>
          <c:overlay val="0"/>
        </c:title>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909DB-9C54-E1E0-0100-A2A071EF02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761DB3-DA94-1DA7-65F6-B3836E87924D}"/>
              </a:ext>
            </a:extLst>
          </p:cNvPr>
          <p:cNvSpPr>
            <a:spLocks noGrp="1"/>
          </p:cNvSpPr>
          <p:nvPr>
            <p:ph type="title"/>
          </p:nvPr>
        </p:nvSpPr>
        <p:spPr>
          <a:xfrm>
            <a:off x="457200" y="274638"/>
            <a:ext cx="8229600" cy="726848"/>
          </a:xfrm>
        </p:spPr>
        <p:txBody>
          <a:bodyPr>
            <a:normAutofit fontScale="90000"/>
          </a:bodyPr>
          <a:lstStyle/>
          <a:p>
            <a:r>
              <a:rPr lang="en-US" b="1" u="sng"/>
              <a:t>Exploratory Data Analysis</a:t>
            </a:r>
            <a:r>
              <a:rPr lang="en-US" b="1" u="sng" dirty="0"/>
              <a:t>(EDA)</a:t>
            </a:r>
            <a:endParaRPr lang="en-IN" b="1" u="sng" dirty="0"/>
          </a:p>
        </p:txBody>
      </p:sp>
      <p:sp>
        <p:nvSpPr>
          <p:cNvPr id="4" name="Title 1">
            <a:extLst>
              <a:ext uri="{FF2B5EF4-FFF2-40B4-BE49-F238E27FC236}">
                <a16:creationId xmlns:a16="http://schemas.microsoft.com/office/drawing/2014/main" id="{D46D69A3-272B-2DBC-4470-9A40B971085B}"/>
              </a:ext>
            </a:extLst>
          </p:cNvPr>
          <p:cNvSpPr txBox="1">
            <a:spLocks/>
          </p:cNvSpPr>
          <p:nvPr/>
        </p:nvSpPr>
        <p:spPr>
          <a:xfrm>
            <a:off x="174172" y="2190523"/>
            <a:ext cx="8229600" cy="5015819"/>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342900" indent="-342900">
              <a:buFont typeface="Arial" panose="020B0604020202020204" pitchFamily="34" charset="0"/>
              <a:buChar char="•"/>
            </a:pPr>
            <a:endParaRPr lang="en-IN" sz="2400" dirty="0"/>
          </a:p>
        </p:txBody>
      </p:sp>
      <p:sp>
        <p:nvSpPr>
          <p:cNvPr id="3" name="Title 1">
            <a:extLst>
              <a:ext uri="{FF2B5EF4-FFF2-40B4-BE49-F238E27FC236}">
                <a16:creationId xmlns:a16="http://schemas.microsoft.com/office/drawing/2014/main" id="{20132C3C-2BF3-8BF8-721F-B2E09C49BEEF}"/>
              </a:ext>
            </a:extLst>
          </p:cNvPr>
          <p:cNvSpPr txBox="1">
            <a:spLocks/>
          </p:cNvSpPr>
          <p:nvPr/>
        </p:nvSpPr>
        <p:spPr>
          <a:xfrm>
            <a:off x="326572" y="1069295"/>
            <a:ext cx="8229600" cy="5015819"/>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457200" indent="-457200">
              <a:buFont typeface="Arial" panose="020B0604020202020204" pitchFamily="34" charset="0"/>
              <a:buChar char="•"/>
            </a:pPr>
            <a:r>
              <a:rPr lang="en-IN" sz="2400"/>
              <a:t>The dataset that I have got consists of 4 years monthly data of 40 variables(1 dependant value sales variable and 39 independent variables</a:t>
            </a:r>
            <a:r>
              <a:rPr lang="en-IN" sz="2400" dirty="0"/>
              <a:t>).</a:t>
            </a:r>
          </a:p>
          <a:p>
            <a:pPr marL="457200" indent="-457200">
              <a:buFont typeface="Arial" panose="020B0604020202020204" pitchFamily="34" charset="0"/>
              <a:buChar char="•"/>
            </a:pPr>
            <a:r>
              <a:rPr lang="en-IN" sz="2400"/>
              <a:t>There is no missing data present in the dataset</a:t>
            </a:r>
            <a:r>
              <a:rPr lang="en-IN" sz="2400" dirty="0"/>
              <a:t>.</a:t>
            </a:r>
          </a:p>
          <a:p>
            <a:pPr marL="457200" indent="-457200">
              <a:buFont typeface="Arial" panose="020B0604020202020204" pitchFamily="34" charset="0"/>
              <a:buChar char="•"/>
            </a:pPr>
            <a:r>
              <a:rPr lang="en-IN" sz="2400"/>
              <a:t>There are certain peaks and dips in the data. I have explained about them in the next slide</a:t>
            </a:r>
            <a:r>
              <a:rPr lang="en-IN" sz="2400" dirty="0"/>
              <a:t>.</a:t>
            </a:r>
          </a:p>
          <a:p>
            <a:pPr marL="457200" indent="-457200">
              <a:buFont typeface="Arial" panose="020B0604020202020204" pitchFamily="34" charset="0"/>
              <a:buChar char="•"/>
            </a:pPr>
            <a:r>
              <a:rPr lang="en-IN" sz="2400"/>
              <a:t>We have used a single variable from each bucket as our independent variable</a:t>
            </a:r>
            <a:r>
              <a:rPr lang="en-IN" sz="2400" dirty="0"/>
              <a:t>.</a:t>
            </a:r>
          </a:p>
          <a:p>
            <a:pPr marL="457200" indent="-457200">
              <a:buFont typeface="Arial" panose="020B0604020202020204" pitchFamily="34" charset="0"/>
              <a:buChar char="•"/>
            </a:pPr>
            <a:r>
              <a:rPr lang="en-IN" sz="2400"/>
              <a:t>We have made the correlation matrix. Then, we have chosen those independent variables which are +vely correlated with value sales. As an exception, we have chosen 2 vars which have strong –ve corr. with sales, price and competitor2</a:t>
            </a:r>
            <a:r>
              <a:rPr lang="en-IN" sz="2400" dirty="0"/>
              <a:t>_TV_GRPs.</a:t>
            </a:r>
          </a:p>
        </p:txBody>
      </p:sp>
    </p:spTree>
    <p:extLst>
      <p:ext uri="{BB962C8B-B14F-4D97-AF65-F5344CB8AC3E}">
        <p14:creationId xmlns:p14="http://schemas.microsoft.com/office/powerpoint/2010/main" val="3482449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49512-6BBD-53C9-D826-027C1CFAF9C3}"/>
              </a:ext>
            </a:extLst>
          </p:cNvPr>
          <p:cNvSpPr>
            <a:spLocks noGrp="1"/>
          </p:cNvSpPr>
          <p:nvPr>
            <p:ph type="title"/>
          </p:nvPr>
        </p:nvSpPr>
        <p:spPr>
          <a:xfrm>
            <a:off x="457200" y="274638"/>
            <a:ext cx="8229600" cy="726848"/>
          </a:xfrm>
        </p:spPr>
        <p:txBody>
          <a:bodyPr>
            <a:normAutofit fontScale="90000"/>
          </a:bodyPr>
          <a:lstStyle/>
          <a:p>
            <a:r>
              <a:rPr lang="en-US" b="1" u="sng"/>
              <a:t>Exploratory Data Analysis</a:t>
            </a:r>
            <a:r>
              <a:rPr lang="en-US" b="1" u="sng" dirty="0"/>
              <a:t>(EDA)</a:t>
            </a:r>
            <a:endParaRPr lang="en-IN" b="1" u="sng" dirty="0"/>
          </a:p>
        </p:txBody>
      </p:sp>
      <p:sp>
        <p:nvSpPr>
          <p:cNvPr id="4" name="Title 1">
            <a:extLst>
              <a:ext uri="{FF2B5EF4-FFF2-40B4-BE49-F238E27FC236}">
                <a16:creationId xmlns:a16="http://schemas.microsoft.com/office/drawing/2014/main" id="{974EE4F7-1507-CB56-2C5B-8283AB9C22AC}"/>
              </a:ext>
            </a:extLst>
          </p:cNvPr>
          <p:cNvSpPr txBox="1">
            <a:spLocks/>
          </p:cNvSpPr>
          <p:nvPr/>
        </p:nvSpPr>
        <p:spPr>
          <a:xfrm>
            <a:off x="174172" y="2190523"/>
            <a:ext cx="8229600" cy="5015819"/>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457200" indent="-457200">
              <a:buFont typeface="Arial" panose="020B0604020202020204" pitchFamily="34" charset="0"/>
              <a:buChar char="•"/>
            </a:pPr>
            <a:r>
              <a:rPr lang="en-US" sz="1800"/>
              <a:t>Value Sales and Volume Sales shows an increasing trend overall whereas avg price shows a decreasing trend</a:t>
            </a:r>
            <a:r>
              <a:rPr lang="en-US" sz="1800" dirty="0"/>
              <a:t>.</a:t>
            </a:r>
          </a:p>
          <a:p>
            <a:pPr marL="457200" indent="-457200">
              <a:buFont typeface="Arial" panose="020B0604020202020204" pitchFamily="34" charset="0"/>
              <a:buChar char="•"/>
            </a:pPr>
            <a:r>
              <a:rPr lang="en-US" sz="1800"/>
              <a:t>.We see a drastic fall in sales during April and May 2020 due-to </a:t>
            </a:r>
            <a:r>
              <a:rPr lang="en-IN" sz="1800"/>
              <a:t>COVID-19 pandemic and the subsequent lockdowns implemented Worldwide which caused shops to close down during that period. However, we see small sales during that period caused by online commerce as that was allowed during that period. Moreover, reduced consumer spending and job losses also had an impact on sales during that period. So, as to stay afloat, youtube, facebook-Instagram and whatsapp spend has been increased drastically. Competitor 2’s TV GRPs also peaked during that period as well as they are also trying to stay afloat</a:t>
            </a:r>
            <a:r>
              <a:rPr lang="en-IN" sz="1800" dirty="0"/>
              <a:t>.</a:t>
            </a:r>
          </a:p>
          <a:p>
            <a:pPr marL="457200" indent="-457200">
              <a:buFont typeface="Arial" panose="020B0604020202020204" pitchFamily="34" charset="0"/>
              <a:buChar char="•"/>
            </a:pPr>
            <a:r>
              <a:rPr lang="en-IN" sz="1800"/>
              <a:t>September to December shows increased spending on newspaper and Fb-Ig, Jio, Hotstar as it is a holiday season to attract consumers</a:t>
            </a:r>
            <a:r>
              <a:rPr lang="en-IN" sz="1800" dirty="0"/>
              <a:t>.</a:t>
            </a:r>
          </a:p>
          <a:p>
            <a:pPr marL="457200" indent="-457200">
              <a:buFont typeface="Arial" panose="020B0604020202020204" pitchFamily="34" charset="0"/>
              <a:buChar char="•"/>
            </a:pPr>
            <a:r>
              <a:rPr lang="en-IN" sz="1800" dirty="0"/>
              <a:t>Newspaper</a:t>
            </a:r>
            <a:r>
              <a:rPr lang="en-IN" sz="1800"/>
              <a:t>,TV and hotstar spends have increased drastically during June either due-to back-to-school or start of monsoon season for CPG brands</a:t>
            </a:r>
            <a:r>
              <a:rPr lang="en-IN" sz="1800" dirty="0"/>
              <a:t>.</a:t>
            </a:r>
          </a:p>
          <a:p>
            <a:pPr marL="457200" indent="-457200">
              <a:buFont typeface="Arial" panose="020B0604020202020204" pitchFamily="34" charset="0"/>
              <a:buChar char="•"/>
            </a:pPr>
            <a:r>
              <a:rPr lang="en-IN" sz="1800"/>
              <a:t>Numeric distribution also shows an increasing trend suggesting that our client’s product penetration is increasing which is causing an increasing sales trend</a:t>
            </a:r>
            <a:r>
              <a:rPr lang="en-IN" sz="1800" dirty="0"/>
              <a:t>.</a:t>
            </a:r>
          </a:p>
          <a:p>
            <a:pPr marL="457200" indent="-457200">
              <a:buFont typeface="Arial" panose="020B0604020202020204" pitchFamily="34" charset="0"/>
              <a:buChar char="•"/>
            </a:pPr>
            <a:r>
              <a:rPr lang="en-IN" sz="1800"/>
              <a:t>We are observing heightened consumer promotions being given on Jan(reduced consumer spending after Dec)and August(Preparation before holiday season) and trade promotions on Jan and September(pushing sales</a:t>
            </a:r>
            <a:r>
              <a:rPr lang="en-IN" sz="1800" dirty="0"/>
              <a:t>).</a:t>
            </a:r>
          </a:p>
          <a:p>
            <a:pPr marL="457200" indent="-457200">
              <a:buFont typeface="Arial" panose="020B0604020202020204" pitchFamily="34" charset="0"/>
              <a:buChar char="•"/>
            </a:pPr>
            <a:endParaRPr lang="en-IN" sz="1800" dirty="0"/>
          </a:p>
          <a:p>
            <a:pPr marL="457200" indent="-457200">
              <a:buFont typeface="Arial" panose="020B0604020202020204" pitchFamily="34" charset="0"/>
              <a:buChar char="•"/>
            </a:pPr>
            <a:endParaRPr lang="en-IN" sz="1800" dirty="0"/>
          </a:p>
          <a:p>
            <a:pPr marL="457200" indent="-457200">
              <a:buFont typeface="Arial" panose="020B0604020202020204" pitchFamily="34" charset="0"/>
              <a:buChar char="•"/>
            </a:pPr>
            <a:endParaRPr lang="en-IN" sz="1800" dirty="0"/>
          </a:p>
          <a:p>
            <a:pPr marL="457200" indent="-457200">
              <a:buFont typeface="Arial" panose="020B0604020202020204" pitchFamily="34" charset="0"/>
              <a:buChar char="•"/>
            </a:pPr>
            <a:endParaRPr lang="en-IN" sz="1800" dirty="0"/>
          </a:p>
          <a:p>
            <a:pPr marL="457200" indent="-457200">
              <a:buFont typeface="Arial" panose="020B0604020202020204" pitchFamily="34" charset="0"/>
              <a:buChar char="•"/>
            </a:pPr>
            <a:endParaRPr lang="en-US" sz="2000" dirty="0"/>
          </a:p>
          <a:p>
            <a:pPr marL="457200" indent="-457200">
              <a:buFont typeface="Arial" panose="020B0604020202020204" pitchFamily="34" charset="0"/>
              <a:buChar char="•"/>
            </a:pPr>
            <a:endParaRPr lang="en-US" sz="2000" dirty="0"/>
          </a:p>
          <a:p>
            <a:pPr marL="457200" indent="-457200">
              <a:buFont typeface="Arial" panose="020B0604020202020204" pitchFamily="34" charset="0"/>
              <a:buChar char="•"/>
            </a:pPr>
            <a:endParaRPr lang="en-IN" sz="2400" dirty="0"/>
          </a:p>
        </p:txBody>
      </p:sp>
    </p:spTree>
    <p:extLst>
      <p:ext uri="{BB962C8B-B14F-4D97-AF65-F5344CB8AC3E}">
        <p14:creationId xmlns:p14="http://schemas.microsoft.com/office/powerpoint/2010/main" val="12189006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63260-1F09-AAB1-9D98-D0FF86030269}"/>
              </a:ext>
            </a:extLst>
          </p:cNvPr>
          <p:cNvSpPr>
            <a:spLocks noGrp="1"/>
          </p:cNvSpPr>
          <p:nvPr>
            <p:ph type="title"/>
          </p:nvPr>
        </p:nvSpPr>
        <p:spPr/>
        <p:txBody>
          <a:bodyPr/>
          <a:lstStyle/>
          <a:p>
            <a:r>
              <a:rPr lang="en-IN" u="sng"/>
              <a:t>OLS Based MMM Model</a:t>
            </a:r>
            <a:endParaRPr lang="en-IN" u="sng" dirty="0"/>
          </a:p>
        </p:txBody>
      </p:sp>
      <p:sp>
        <p:nvSpPr>
          <p:cNvPr id="3" name="Title 1">
            <a:extLst>
              <a:ext uri="{FF2B5EF4-FFF2-40B4-BE49-F238E27FC236}">
                <a16:creationId xmlns:a16="http://schemas.microsoft.com/office/drawing/2014/main" id="{F6FF9345-4110-F63C-F909-F0FA00F36ECC}"/>
              </a:ext>
            </a:extLst>
          </p:cNvPr>
          <p:cNvSpPr txBox="1">
            <a:spLocks/>
          </p:cNvSpPr>
          <p:nvPr/>
        </p:nvSpPr>
        <p:spPr>
          <a:xfrm>
            <a:off x="174172" y="1417637"/>
            <a:ext cx="8229600" cy="5015819"/>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IN" sz="2400" err="1"/>
              <a:t>Here</a:t>
            </a:r>
            <a:r>
              <a:rPr lang="en-IN" sz="2400"/>
              <a:t>, We have used Multiple Linear Regression</a:t>
            </a:r>
            <a:r>
              <a:rPr lang="en-IN" sz="2400" dirty="0"/>
              <a:t>(</a:t>
            </a:r>
            <a:r>
              <a:rPr lang="en-IN" sz="2400"/>
              <a:t>MLR) using OLS technique to predict the Value Sales</a:t>
            </a:r>
            <a:r>
              <a:rPr lang="en-IN" sz="2400" dirty="0"/>
              <a:t>(</a:t>
            </a:r>
            <a:r>
              <a:rPr lang="en-IN" sz="2400" err="1"/>
              <a:t>mn</a:t>
            </a:r>
            <a:r>
              <a:rPr lang="en-IN" sz="2400"/>
              <a:t>) based on several marketing inputs such as </a:t>
            </a:r>
            <a:r>
              <a:rPr lang="en-IN" sz="2400">
                <a:solidFill>
                  <a:srgbClr val="424242"/>
                </a:solidFill>
                <a:latin typeface="Segoe Sans"/>
              </a:rPr>
              <a:t>T</a:t>
            </a:r>
            <a:r>
              <a:rPr lang="en-IN" sz="2400" i="0">
                <a:solidFill>
                  <a:srgbClr val="424242"/>
                </a:solidFill>
                <a:effectLst/>
                <a:latin typeface="Segoe Sans"/>
              </a:rPr>
              <a:t>v</a:t>
            </a:r>
            <a:r>
              <a:rPr lang="en-IN" sz="2400" i="0" dirty="0">
                <a:solidFill>
                  <a:srgbClr val="424242"/>
                </a:solidFill>
                <a:effectLst/>
                <a:latin typeface="Segoe Sans"/>
              </a:rPr>
              <a:t>_</a:t>
            </a:r>
            <a:r>
              <a:rPr lang="en-IN" sz="2400" i="0">
                <a:solidFill>
                  <a:srgbClr val="424242"/>
                </a:solidFill>
                <a:effectLst/>
                <a:latin typeface="Segoe Sans"/>
              </a:rPr>
              <a:t>GRPs, </a:t>
            </a:r>
            <a:r>
              <a:rPr lang="en-IN" sz="2400">
                <a:solidFill>
                  <a:srgbClr val="424242"/>
                </a:solidFill>
                <a:latin typeface="Segoe Sans"/>
              </a:rPr>
              <a:t>N</a:t>
            </a:r>
            <a:r>
              <a:rPr lang="en-IN" sz="2400" i="0">
                <a:solidFill>
                  <a:srgbClr val="424242"/>
                </a:solidFill>
                <a:effectLst/>
                <a:latin typeface="Segoe Sans"/>
              </a:rPr>
              <a:t>ewspaper</a:t>
            </a:r>
            <a:r>
              <a:rPr lang="en-IN" sz="2400" i="0" dirty="0">
                <a:solidFill>
                  <a:srgbClr val="424242"/>
                </a:solidFill>
                <a:effectLst/>
                <a:latin typeface="Segoe Sans"/>
              </a:rPr>
              <a:t>_</a:t>
            </a:r>
            <a:r>
              <a:rPr lang="en-IN" sz="2400" i="0">
                <a:solidFill>
                  <a:srgbClr val="424242"/>
                </a:solidFill>
                <a:effectLst/>
                <a:latin typeface="Segoe Sans"/>
              </a:rPr>
              <a:t>impressions, </a:t>
            </a:r>
            <a:r>
              <a:rPr lang="en-IN" sz="2400">
                <a:solidFill>
                  <a:srgbClr val="424242"/>
                </a:solidFill>
                <a:latin typeface="Segoe Sans"/>
              </a:rPr>
              <a:t>W</a:t>
            </a:r>
            <a:r>
              <a:rPr lang="en-IN" sz="2400" i="0">
                <a:solidFill>
                  <a:srgbClr val="424242"/>
                </a:solidFill>
                <a:effectLst/>
                <a:latin typeface="Segoe Sans"/>
              </a:rPr>
              <a:t>hatsapp</a:t>
            </a:r>
            <a:r>
              <a:rPr lang="en-IN" sz="2400" i="0" dirty="0">
                <a:solidFill>
                  <a:srgbClr val="424242"/>
                </a:solidFill>
                <a:effectLst/>
                <a:latin typeface="Segoe Sans"/>
              </a:rPr>
              <a:t>_</a:t>
            </a:r>
            <a:r>
              <a:rPr lang="en-IN" sz="2400" i="0">
                <a:solidFill>
                  <a:srgbClr val="424242"/>
                </a:solidFill>
                <a:effectLst/>
                <a:latin typeface="Segoe Sans"/>
              </a:rPr>
              <a:t>clicks, </a:t>
            </a:r>
            <a:r>
              <a:rPr lang="en-IN" sz="2400">
                <a:solidFill>
                  <a:srgbClr val="424242"/>
                </a:solidFill>
                <a:latin typeface="Segoe Sans"/>
              </a:rPr>
              <a:t>FB</a:t>
            </a:r>
            <a:r>
              <a:rPr lang="en-IN" sz="2400" i="0" dirty="0">
                <a:solidFill>
                  <a:srgbClr val="424242"/>
                </a:solidFill>
                <a:effectLst/>
                <a:latin typeface="Segoe Sans"/>
              </a:rPr>
              <a:t>_IG_</a:t>
            </a:r>
            <a:r>
              <a:rPr lang="en-IN" sz="2400" i="0">
                <a:solidFill>
                  <a:srgbClr val="424242"/>
                </a:solidFill>
                <a:effectLst/>
                <a:latin typeface="Segoe Sans"/>
              </a:rPr>
              <a:t>impressions, </a:t>
            </a:r>
            <a:r>
              <a:rPr lang="en-IN" sz="2400">
                <a:solidFill>
                  <a:srgbClr val="424242"/>
                </a:solidFill>
                <a:latin typeface="Segoe Sans"/>
              </a:rPr>
              <a:t>Y</a:t>
            </a:r>
            <a:r>
              <a:rPr lang="en-IN" sz="2400" i="0">
                <a:solidFill>
                  <a:srgbClr val="424242"/>
                </a:solidFill>
                <a:effectLst/>
                <a:latin typeface="Segoe Sans"/>
              </a:rPr>
              <a:t>ouTube</a:t>
            </a:r>
            <a:r>
              <a:rPr lang="en-IN" sz="2400" i="0" dirty="0">
                <a:solidFill>
                  <a:srgbClr val="424242"/>
                </a:solidFill>
                <a:effectLst/>
                <a:latin typeface="Segoe Sans"/>
              </a:rPr>
              <a:t>_</a:t>
            </a:r>
            <a:r>
              <a:rPr lang="en-IN" sz="2400" i="0">
                <a:solidFill>
                  <a:srgbClr val="424242"/>
                </a:solidFill>
                <a:effectLst/>
                <a:latin typeface="Segoe Sans"/>
              </a:rPr>
              <a:t>impressions, </a:t>
            </a:r>
            <a:r>
              <a:rPr lang="en-IN" sz="2400">
                <a:solidFill>
                  <a:srgbClr val="424242"/>
                </a:solidFill>
                <a:latin typeface="Segoe Sans"/>
              </a:rPr>
              <a:t>H</a:t>
            </a:r>
            <a:r>
              <a:rPr lang="en-IN" sz="2400" i="0">
                <a:solidFill>
                  <a:srgbClr val="424242"/>
                </a:solidFill>
                <a:effectLst/>
                <a:latin typeface="Segoe Sans"/>
              </a:rPr>
              <a:t>otstar</a:t>
            </a:r>
            <a:r>
              <a:rPr lang="en-IN" sz="2400" i="0" dirty="0">
                <a:solidFill>
                  <a:srgbClr val="424242"/>
                </a:solidFill>
                <a:effectLst/>
                <a:latin typeface="Segoe Sans"/>
              </a:rPr>
              <a:t>_</a:t>
            </a:r>
            <a:r>
              <a:rPr lang="en-IN" sz="2400" i="0">
                <a:solidFill>
                  <a:srgbClr val="424242"/>
                </a:solidFill>
                <a:effectLst/>
                <a:latin typeface="Segoe Sans"/>
              </a:rPr>
              <a:t>impressions, </a:t>
            </a:r>
            <a:r>
              <a:rPr lang="en-IN" sz="2400">
                <a:solidFill>
                  <a:srgbClr val="424242"/>
                </a:solidFill>
                <a:latin typeface="Segoe Sans"/>
              </a:rPr>
              <a:t>J</a:t>
            </a:r>
            <a:r>
              <a:rPr lang="en-IN" sz="2400" i="0">
                <a:solidFill>
                  <a:srgbClr val="424242"/>
                </a:solidFill>
                <a:effectLst/>
                <a:latin typeface="Segoe Sans"/>
              </a:rPr>
              <a:t>io_impressions and  </a:t>
            </a:r>
            <a:r>
              <a:rPr lang="en-IN" sz="2400">
                <a:solidFill>
                  <a:srgbClr val="424242"/>
                </a:solidFill>
                <a:latin typeface="Segoe Sans"/>
              </a:rPr>
              <a:t>G</a:t>
            </a:r>
            <a:r>
              <a:rPr lang="en-IN" sz="2400" i="0">
                <a:solidFill>
                  <a:srgbClr val="424242"/>
                </a:solidFill>
                <a:effectLst/>
                <a:latin typeface="Segoe Sans"/>
              </a:rPr>
              <a:t>oogle</a:t>
            </a:r>
            <a:r>
              <a:rPr lang="en-IN" sz="2400" i="0" dirty="0">
                <a:solidFill>
                  <a:srgbClr val="424242"/>
                </a:solidFill>
                <a:effectLst/>
                <a:latin typeface="Segoe Sans"/>
              </a:rPr>
              <a:t>_Display_</a:t>
            </a:r>
            <a:r>
              <a:rPr lang="en-IN" sz="2400" i="0">
                <a:solidFill>
                  <a:srgbClr val="424242"/>
                </a:solidFill>
                <a:effectLst/>
                <a:latin typeface="Segoe Sans"/>
              </a:rPr>
              <a:t>impressions</a:t>
            </a:r>
            <a:r>
              <a:rPr lang="en-IN" sz="2400">
                <a:solidFill>
                  <a:srgbClr val="424242"/>
                </a:solidFill>
                <a:latin typeface="Segoe Sans"/>
              </a:rPr>
              <a:t>. We have also used promo variables such as Consumer</a:t>
            </a:r>
            <a:r>
              <a:rPr lang="en-IN" sz="2400" i="0" dirty="0">
                <a:solidFill>
                  <a:srgbClr val="424242"/>
                </a:solidFill>
                <a:effectLst/>
                <a:latin typeface="Segoe Sans"/>
              </a:rPr>
              <a:t>_promo</a:t>
            </a:r>
            <a:r>
              <a:rPr lang="en-IN" sz="2400" i="0">
                <a:solidFill>
                  <a:srgbClr val="424242"/>
                </a:solidFill>
                <a:effectLst/>
                <a:latin typeface="Segoe Sans"/>
              </a:rPr>
              <a:t>_spends</a:t>
            </a:r>
            <a:r>
              <a:rPr lang="en-IN" sz="2400">
                <a:solidFill>
                  <a:srgbClr val="424242"/>
                </a:solidFill>
                <a:latin typeface="Segoe Sans"/>
              </a:rPr>
              <a:t> T</a:t>
            </a:r>
            <a:r>
              <a:rPr lang="en-IN" sz="2400" i="0">
                <a:solidFill>
                  <a:srgbClr val="424242"/>
                </a:solidFill>
                <a:effectLst/>
                <a:latin typeface="Segoe Sans"/>
              </a:rPr>
              <a:t>rade</a:t>
            </a:r>
            <a:r>
              <a:rPr lang="en-IN" sz="2400" i="0" dirty="0">
                <a:solidFill>
                  <a:srgbClr val="424242"/>
                </a:solidFill>
                <a:effectLst/>
                <a:latin typeface="Segoe Sans"/>
              </a:rPr>
              <a:t>_promo</a:t>
            </a:r>
            <a:r>
              <a:rPr lang="en-IN" sz="2400" i="0">
                <a:solidFill>
                  <a:srgbClr val="424242"/>
                </a:solidFill>
                <a:effectLst/>
                <a:latin typeface="Segoe Sans"/>
              </a:rPr>
              <a:t>_spends</a:t>
            </a:r>
            <a:r>
              <a:rPr lang="en-IN" sz="2400">
                <a:solidFill>
                  <a:srgbClr val="424242"/>
                </a:solidFill>
                <a:latin typeface="Segoe Sans"/>
              </a:rPr>
              <a:t> and other base variables such as</a:t>
            </a:r>
            <a:r>
              <a:rPr lang="en-IN" sz="2400" i="0">
                <a:solidFill>
                  <a:srgbClr val="424242"/>
                </a:solidFill>
                <a:effectLst/>
                <a:latin typeface="Segoe Sans"/>
              </a:rPr>
              <a:t> Price, </a:t>
            </a:r>
            <a:r>
              <a:rPr lang="en-IN" sz="2400">
                <a:solidFill>
                  <a:srgbClr val="424242"/>
                </a:solidFill>
                <a:latin typeface="Segoe Sans"/>
              </a:rPr>
              <a:t>N</a:t>
            </a:r>
            <a:r>
              <a:rPr lang="en-IN" sz="2400" i="0">
                <a:solidFill>
                  <a:srgbClr val="424242"/>
                </a:solidFill>
                <a:effectLst/>
                <a:latin typeface="Segoe Sans"/>
              </a:rPr>
              <a:t>um</a:t>
            </a:r>
            <a:r>
              <a:rPr lang="en-IN" sz="2400" i="0" dirty="0">
                <a:solidFill>
                  <a:srgbClr val="424242"/>
                </a:solidFill>
                <a:effectLst/>
                <a:latin typeface="Segoe Sans"/>
              </a:rPr>
              <a:t>_Dist_</a:t>
            </a:r>
            <a:r>
              <a:rPr lang="en-IN" sz="2400" i="0">
                <a:solidFill>
                  <a:srgbClr val="424242"/>
                </a:solidFill>
                <a:effectLst/>
                <a:latin typeface="Segoe Sans"/>
              </a:rPr>
              <a:t>max, Competition2</a:t>
            </a:r>
            <a:r>
              <a:rPr lang="en-IN" sz="2400" i="0" dirty="0">
                <a:solidFill>
                  <a:srgbClr val="424242"/>
                </a:solidFill>
                <a:effectLst/>
                <a:latin typeface="Segoe Sans"/>
              </a:rPr>
              <a:t>_TV</a:t>
            </a:r>
            <a:r>
              <a:rPr lang="en-IN" sz="2400" i="0">
                <a:solidFill>
                  <a:srgbClr val="424242"/>
                </a:solidFill>
                <a:effectLst/>
                <a:latin typeface="Segoe Sans"/>
              </a:rPr>
              <a:t>_GRPs and Seasonality. For marketing variables, we have used APL transformation</a:t>
            </a:r>
            <a:r>
              <a:rPr lang="en-IN" sz="2400" i="0" dirty="0">
                <a:solidFill>
                  <a:srgbClr val="424242"/>
                </a:solidFill>
                <a:effectLst/>
                <a:latin typeface="Segoe Sans"/>
              </a:rPr>
              <a:t>.</a:t>
            </a:r>
            <a:endParaRPr lang="en-IN" sz="2400" dirty="0"/>
          </a:p>
        </p:txBody>
      </p:sp>
    </p:spTree>
    <p:extLst>
      <p:ext uri="{BB962C8B-B14F-4D97-AF65-F5344CB8AC3E}">
        <p14:creationId xmlns:p14="http://schemas.microsoft.com/office/powerpoint/2010/main" val="3927547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200" u="sng"/>
              <a:t>Actual vs Predicted </a:t>
            </a:r>
            <a:r>
              <a:rPr lang="en-IN" sz="3200" u="sng"/>
              <a:t>Sales</a:t>
            </a:r>
            <a:r>
              <a:rPr lang="en-IN" sz="3200" u="sng" dirty="0"/>
              <a:t>(</a:t>
            </a:r>
            <a:r>
              <a:rPr lang="en-IN" sz="3200" u="sng" err="1"/>
              <a:t>mn</a:t>
            </a:r>
            <a:r>
              <a:rPr lang="en-IN" sz="3200" u="sng"/>
              <a:t>)</a:t>
            </a:r>
            <a:r>
              <a:rPr sz="3200" u="sng"/>
              <a:t> (2019 to </a:t>
            </a:r>
            <a:r>
              <a:rPr lang="en-IN" sz="3200" u="sng"/>
              <a:t>2</a:t>
            </a:r>
            <a:r>
              <a:rPr sz="3200" u="sng" dirty="0"/>
              <a:t>022)</a:t>
            </a:r>
          </a:p>
        </p:txBody>
      </p:sp>
      <p:graphicFrame>
        <p:nvGraphicFramePr>
          <p:cNvPr id="3" name="Chart 2"/>
          <p:cNvGraphicFramePr>
            <a:graphicFrameLocks noGrp="1"/>
          </p:cNvGraphicFramePr>
          <p:nvPr>
            <p:extLst>
              <p:ext uri="{D42A27DB-BD31-4B8C-83A1-F6EECF244321}">
                <p14:modId xmlns:p14="http://schemas.microsoft.com/office/powerpoint/2010/main" val="953827987"/>
              </p:ext>
            </p:extLst>
          </p:nvPr>
        </p:nvGraphicFramePr>
        <p:xfrm>
          <a:off x="555171" y="1371600"/>
          <a:ext cx="8131629" cy="4114800"/>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p:cNvSpPr txBox="1"/>
          <p:nvPr/>
        </p:nvSpPr>
        <p:spPr>
          <a:xfrm>
            <a:off x="555171" y="5475514"/>
            <a:ext cx="1725472" cy="707886"/>
          </a:xfrm>
          <a:prstGeom prst="rect">
            <a:avLst/>
          </a:prstGeom>
          <a:noFill/>
        </p:spPr>
        <p:txBody>
          <a:bodyPr wrap="none">
            <a:spAutoFit/>
          </a:bodyPr>
          <a:lstStyle/>
          <a:p>
            <a:pPr algn="l"/>
            <a:r>
              <a:rPr lang="en-IN" sz="2000" b="1">
                <a:solidFill>
                  <a:srgbClr val="000000"/>
                </a:solidFill>
              </a:rPr>
              <a:t>R-Square</a:t>
            </a:r>
            <a:r>
              <a:rPr sz="2000" b="1">
                <a:solidFill>
                  <a:srgbClr val="000000"/>
                </a:solidFill>
              </a:rPr>
              <a:t>: </a:t>
            </a:r>
            <a:r>
              <a:rPr lang="en-US" sz="2000" b="1">
                <a:solidFill>
                  <a:srgbClr val="000000"/>
                </a:solidFill>
              </a:rPr>
              <a:t>8</a:t>
            </a:r>
            <a:r>
              <a:rPr sz="2000" b="1" dirty="0">
                <a:solidFill>
                  <a:srgbClr val="000000"/>
                </a:solidFill>
              </a:rPr>
              <a:t>1%</a:t>
            </a:r>
          </a:p>
          <a:p>
            <a:pPr algn="l"/>
            <a:r>
              <a:rPr sz="2000" b="1">
                <a:solidFill>
                  <a:srgbClr val="000000"/>
                </a:solidFill>
              </a:rPr>
              <a:t>MAPE: </a:t>
            </a:r>
            <a:r>
              <a:rPr lang="en-US" sz="2000" b="1">
                <a:solidFill>
                  <a:srgbClr val="000000"/>
                </a:solidFill>
              </a:rPr>
              <a:t>7</a:t>
            </a:r>
            <a:r>
              <a:rPr sz="2000" b="1" dirty="0">
                <a:solidFill>
                  <a:srgbClr val="000000"/>
                </a:solidFill>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200" u="sng"/>
              <a:t>Overall Contributions by Category (</a:t>
            </a:r>
            <a:r>
              <a:rPr sz="3200" u="sng" dirty="0"/>
              <a:t>2019-2022)</a:t>
            </a:r>
          </a:p>
        </p:txBody>
      </p:sp>
      <p:graphicFrame>
        <p:nvGraphicFramePr>
          <p:cNvPr id="3" name="Table 2"/>
          <p:cNvGraphicFramePr>
            <a:graphicFrameLocks noGrp="1"/>
          </p:cNvGraphicFramePr>
          <p:nvPr>
            <p:extLst>
              <p:ext uri="{D42A27DB-BD31-4B8C-83A1-F6EECF244321}">
                <p14:modId xmlns:p14="http://schemas.microsoft.com/office/powerpoint/2010/main" val="4260726209"/>
              </p:ext>
            </p:extLst>
          </p:nvPr>
        </p:nvGraphicFramePr>
        <p:xfrm>
          <a:off x="457200" y="1371600"/>
          <a:ext cx="8229600" cy="182880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457200">
                <a:tc>
                  <a:txBody>
                    <a:bodyPr/>
                    <a:lstStyle/>
                    <a:p>
                      <a:r>
                        <a:t>Category</a:t>
                      </a:r>
                    </a:p>
                  </a:txBody>
                  <a:tcPr/>
                </a:tc>
                <a:tc>
                  <a:txBody>
                    <a:bodyPr/>
                    <a:lstStyle/>
                    <a:p>
                      <a:pPr algn="ctr"/>
                      <a:r>
                        <a:rPr dirty="0"/>
                        <a:t>2019</a:t>
                      </a:r>
                    </a:p>
                  </a:txBody>
                  <a:tcPr/>
                </a:tc>
                <a:tc>
                  <a:txBody>
                    <a:bodyPr/>
                    <a:lstStyle/>
                    <a:p>
                      <a:pPr algn="ctr"/>
                      <a:r>
                        <a:rPr dirty="0"/>
                        <a:t>2020</a:t>
                      </a:r>
                    </a:p>
                  </a:txBody>
                  <a:tcPr/>
                </a:tc>
                <a:tc>
                  <a:txBody>
                    <a:bodyPr/>
                    <a:lstStyle/>
                    <a:p>
                      <a:pPr algn="ctr"/>
                      <a:r>
                        <a:rPr dirty="0"/>
                        <a:t>2021</a:t>
                      </a:r>
                    </a:p>
                  </a:txBody>
                  <a:tcPr/>
                </a:tc>
                <a:tc>
                  <a:txBody>
                    <a:bodyPr/>
                    <a:lstStyle/>
                    <a:p>
                      <a:pPr algn="ctr"/>
                      <a:r>
                        <a:rPr dirty="0"/>
                        <a:t>2022</a:t>
                      </a:r>
                    </a:p>
                  </a:txBody>
                  <a:tcPr/>
                </a:tc>
                <a:extLst>
                  <a:ext uri="{0D108BD9-81ED-4DB2-BD59-A6C34878D82A}">
                    <a16:rowId xmlns:a16="http://schemas.microsoft.com/office/drawing/2014/main" val="10000"/>
                  </a:ext>
                </a:extLst>
              </a:tr>
              <a:tr h="457200">
                <a:tc>
                  <a:txBody>
                    <a:bodyPr/>
                    <a:lstStyle/>
                    <a:p>
                      <a:r>
                        <a:t>Marketing</a:t>
                      </a:r>
                    </a:p>
                  </a:txBody>
                  <a:tcPr/>
                </a:tc>
                <a:tc>
                  <a:txBody>
                    <a:bodyPr/>
                    <a:lstStyle/>
                    <a:p>
                      <a:pPr algn="ctr" fontAlgn="b"/>
                      <a:r>
                        <a:rPr lang="en-IN" sz="1500" b="0" i="0" u="none" strike="noStrike" dirty="0">
                          <a:solidFill>
                            <a:schemeClr val="tx1"/>
                          </a:solidFill>
                          <a:effectLst/>
                          <a:latin typeface="Calibri" panose="020F0502020204030204" pitchFamily="34" charset="0"/>
                        </a:rPr>
                        <a:t>13.08%</a:t>
                      </a:r>
                    </a:p>
                  </a:txBody>
                  <a:tcPr marL="6350" marR="6350" marT="6350" marB="0" anchor="ctr"/>
                </a:tc>
                <a:tc>
                  <a:txBody>
                    <a:bodyPr/>
                    <a:lstStyle/>
                    <a:p>
                      <a:pPr algn="ctr" fontAlgn="b"/>
                      <a:r>
                        <a:rPr lang="en-IN" sz="1500" b="0" i="0" u="none" strike="noStrike">
                          <a:solidFill>
                            <a:schemeClr val="tx1"/>
                          </a:solidFill>
                          <a:effectLst/>
                          <a:latin typeface="Calibri" panose="020F0502020204030204" pitchFamily="34" charset="0"/>
                        </a:rPr>
                        <a:t>13.27%</a:t>
                      </a:r>
                    </a:p>
                  </a:txBody>
                  <a:tcPr marL="6350" marR="6350" marT="6350" marB="0" anchor="ctr"/>
                </a:tc>
                <a:tc>
                  <a:txBody>
                    <a:bodyPr/>
                    <a:lstStyle/>
                    <a:p>
                      <a:pPr algn="ctr" fontAlgn="b"/>
                      <a:r>
                        <a:rPr lang="en-IN" sz="1500" b="0" i="0" u="none" strike="noStrike">
                          <a:solidFill>
                            <a:schemeClr val="tx1"/>
                          </a:solidFill>
                          <a:effectLst/>
                          <a:latin typeface="Calibri" panose="020F0502020204030204" pitchFamily="34" charset="0"/>
                        </a:rPr>
                        <a:t>8.09%</a:t>
                      </a:r>
                    </a:p>
                  </a:txBody>
                  <a:tcPr marL="6350" marR="6350" marT="6350" marB="0" anchor="ctr"/>
                </a:tc>
                <a:tc>
                  <a:txBody>
                    <a:bodyPr/>
                    <a:lstStyle/>
                    <a:p>
                      <a:pPr algn="ctr" fontAlgn="b"/>
                      <a:r>
                        <a:rPr lang="en-IN" sz="1500" b="0" i="0" u="none" strike="noStrike">
                          <a:solidFill>
                            <a:schemeClr val="tx1"/>
                          </a:solidFill>
                          <a:effectLst/>
                          <a:latin typeface="Calibri" panose="020F0502020204030204" pitchFamily="34" charset="0"/>
                        </a:rPr>
                        <a:t>8.01%</a:t>
                      </a:r>
                    </a:p>
                  </a:txBody>
                  <a:tcPr marL="6350" marR="6350" marT="6350" marB="0" anchor="ctr"/>
                </a:tc>
                <a:extLst>
                  <a:ext uri="{0D108BD9-81ED-4DB2-BD59-A6C34878D82A}">
                    <a16:rowId xmlns:a16="http://schemas.microsoft.com/office/drawing/2014/main" val="10001"/>
                  </a:ext>
                </a:extLst>
              </a:tr>
              <a:tr h="457200">
                <a:tc>
                  <a:txBody>
                    <a:bodyPr/>
                    <a:lstStyle/>
                    <a:p>
                      <a:r>
                        <a:t>Promotions</a:t>
                      </a:r>
                    </a:p>
                  </a:txBody>
                  <a:tcPr/>
                </a:tc>
                <a:tc>
                  <a:txBody>
                    <a:bodyPr/>
                    <a:lstStyle/>
                    <a:p>
                      <a:pPr algn="ctr" fontAlgn="b"/>
                      <a:r>
                        <a:rPr lang="en-IN" sz="1500" b="0" i="0" u="none" strike="noStrike">
                          <a:solidFill>
                            <a:schemeClr val="tx1"/>
                          </a:solidFill>
                          <a:effectLst/>
                          <a:latin typeface="Calibri" panose="020F0502020204030204" pitchFamily="34" charset="0"/>
                        </a:rPr>
                        <a:t>6.07%</a:t>
                      </a:r>
                    </a:p>
                  </a:txBody>
                  <a:tcPr marL="6350" marR="6350" marT="6350" marB="0" anchor="ctr"/>
                </a:tc>
                <a:tc>
                  <a:txBody>
                    <a:bodyPr/>
                    <a:lstStyle/>
                    <a:p>
                      <a:pPr algn="ctr" fontAlgn="b"/>
                      <a:r>
                        <a:rPr lang="en-IN" sz="1500" b="0" i="0" u="none" strike="noStrike">
                          <a:solidFill>
                            <a:schemeClr val="tx1"/>
                          </a:solidFill>
                          <a:effectLst/>
                          <a:latin typeface="Calibri" panose="020F0502020204030204" pitchFamily="34" charset="0"/>
                        </a:rPr>
                        <a:t>7.29%</a:t>
                      </a:r>
                    </a:p>
                  </a:txBody>
                  <a:tcPr marL="6350" marR="6350" marT="6350" marB="0" anchor="ctr"/>
                </a:tc>
                <a:tc>
                  <a:txBody>
                    <a:bodyPr/>
                    <a:lstStyle/>
                    <a:p>
                      <a:pPr algn="ctr" fontAlgn="b"/>
                      <a:r>
                        <a:rPr lang="en-IN" sz="1500" b="0" i="0" u="none" strike="noStrike">
                          <a:solidFill>
                            <a:schemeClr val="tx1"/>
                          </a:solidFill>
                          <a:effectLst/>
                          <a:latin typeface="Calibri" panose="020F0502020204030204" pitchFamily="34" charset="0"/>
                        </a:rPr>
                        <a:t>7.93%</a:t>
                      </a:r>
                    </a:p>
                  </a:txBody>
                  <a:tcPr marL="6350" marR="6350" marT="6350" marB="0" anchor="ctr"/>
                </a:tc>
                <a:tc>
                  <a:txBody>
                    <a:bodyPr/>
                    <a:lstStyle/>
                    <a:p>
                      <a:pPr algn="ctr" fontAlgn="b"/>
                      <a:r>
                        <a:rPr lang="en-IN" sz="1500" b="0" i="0" u="none" strike="noStrike">
                          <a:solidFill>
                            <a:schemeClr val="tx1"/>
                          </a:solidFill>
                          <a:effectLst/>
                          <a:latin typeface="Calibri" panose="020F0502020204030204" pitchFamily="34" charset="0"/>
                        </a:rPr>
                        <a:t>9.31%</a:t>
                      </a:r>
                    </a:p>
                  </a:txBody>
                  <a:tcPr marL="6350" marR="6350" marT="6350" marB="0" anchor="ctr"/>
                </a:tc>
                <a:extLst>
                  <a:ext uri="{0D108BD9-81ED-4DB2-BD59-A6C34878D82A}">
                    <a16:rowId xmlns:a16="http://schemas.microsoft.com/office/drawing/2014/main" val="10002"/>
                  </a:ext>
                </a:extLst>
              </a:tr>
              <a:tr h="457200">
                <a:tc>
                  <a:txBody>
                    <a:bodyPr/>
                    <a:lstStyle/>
                    <a:p>
                      <a:r>
                        <a:t>Base</a:t>
                      </a:r>
                    </a:p>
                  </a:txBody>
                  <a:tcPr/>
                </a:tc>
                <a:tc>
                  <a:txBody>
                    <a:bodyPr/>
                    <a:lstStyle/>
                    <a:p>
                      <a:pPr algn="ctr" fontAlgn="b"/>
                      <a:r>
                        <a:rPr lang="en-IN" sz="1500" b="0" i="0" u="none" strike="noStrike">
                          <a:solidFill>
                            <a:schemeClr val="tx1"/>
                          </a:solidFill>
                          <a:effectLst/>
                          <a:latin typeface="Calibri" panose="020F0502020204030204" pitchFamily="34" charset="0"/>
                        </a:rPr>
                        <a:t>80.85%</a:t>
                      </a:r>
                    </a:p>
                  </a:txBody>
                  <a:tcPr marL="6350" marR="6350" marT="6350" marB="0" anchor="ctr"/>
                </a:tc>
                <a:tc>
                  <a:txBody>
                    <a:bodyPr/>
                    <a:lstStyle/>
                    <a:p>
                      <a:pPr algn="ctr" fontAlgn="b"/>
                      <a:r>
                        <a:rPr lang="en-IN" sz="1500" b="0" i="0" u="none" strike="noStrike">
                          <a:solidFill>
                            <a:schemeClr val="tx1"/>
                          </a:solidFill>
                          <a:effectLst/>
                          <a:latin typeface="Calibri" panose="020F0502020204030204" pitchFamily="34" charset="0"/>
                        </a:rPr>
                        <a:t>79.43%</a:t>
                      </a:r>
                    </a:p>
                  </a:txBody>
                  <a:tcPr marL="6350" marR="6350" marT="6350" marB="0" anchor="ctr"/>
                </a:tc>
                <a:tc>
                  <a:txBody>
                    <a:bodyPr/>
                    <a:lstStyle/>
                    <a:p>
                      <a:pPr algn="ctr" fontAlgn="b"/>
                      <a:r>
                        <a:rPr lang="en-IN" sz="1500" b="0" i="0" u="none" strike="noStrike">
                          <a:solidFill>
                            <a:schemeClr val="tx1"/>
                          </a:solidFill>
                          <a:effectLst/>
                          <a:latin typeface="Calibri" panose="020F0502020204030204" pitchFamily="34" charset="0"/>
                        </a:rPr>
                        <a:t>83.98%</a:t>
                      </a:r>
                    </a:p>
                  </a:txBody>
                  <a:tcPr marL="6350" marR="6350" marT="6350" marB="0" anchor="ctr"/>
                </a:tc>
                <a:tc>
                  <a:txBody>
                    <a:bodyPr/>
                    <a:lstStyle/>
                    <a:p>
                      <a:pPr algn="ctr" fontAlgn="b"/>
                      <a:r>
                        <a:rPr lang="en-IN" sz="1500" b="0" i="0" u="none" strike="noStrike" dirty="0">
                          <a:solidFill>
                            <a:schemeClr val="tx1"/>
                          </a:solidFill>
                          <a:effectLst/>
                          <a:latin typeface="Calibri" panose="020F0502020204030204" pitchFamily="34" charset="0"/>
                        </a:rPr>
                        <a:t>82.68%</a:t>
                      </a:r>
                    </a:p>
                  </a:txBody>
                  <a:tcPr marL="6350" marR="6350" marT="6350" marB="0"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200" u="sng"/>
              <a:t>Detailed Breakdown </a:t>
            </a:r>
            <a:r>
              <a:rPr lang="en-IN" sz="3200" u="sng"/>
              <a:t>of Contribution </a:t>
            </a:r>
            <a:r>
              <a:rPr sz="3200" u="sng"/>
              <a:t>by Tactic (</a:t>
            </a:r>
            <a:r>
              <a:rPr sz="3200" u="sng" dirty="0"/>
              <a:t>2019-2022)</a:t>
            </a:r>
          </a:p>
        </p:txBody>
      </p:sp>
      <p:graphicFrame>
        <p:nvGraphicFramePr>
          <p:cNvPr id="3" name="Table 2"/>
          <p:cNvGraphicFramePr>
            <a:graphicFrameLocks noGrp="1"/>
          </p:cNvGraphicFramePr>
          <p:nvPr>
            <p:extLst>
              <p:ext uri="{D42A27DB-BD31-4B8C-83A1-F6EECF244321}">
                <p14:modId xmlns:p14="http://schemas.microsoft.com/office/powerpoint/2010/main" val="459532289"/>
              </p:ext>
            </p:extLst>
          </p:nvPr>
        </p:nvGraphicFramePr>
        <p:xfrm>
          <a:off x="195942" y="1417638"/>
          <a:ext cx="8773890" cy="4541038"/>
        </p:xfrm>
        <a:graphic>
          <a:graphicData uri="http://schemas.openxmlformats.org/drawingml/2006/table">
            <a:tbl>
              <a:tblPr firstRow="1" bandRow="1">
                <a:tableStyleId>{5C22544A-7EE6-4342-B048-85BDC9FD1C3A}</a:tableStyleId>
              </a:tblPr>
              <a:tblGrid>
                <a:gridCol w="1462315">
                  <a:extLst>
                    <a:ext uri="{9D8B030D-6E8A-4147-A177-3AD203B41FA5}">
                      <a16:colId xmlns:a16="http://schemas.microsoft.com/office/drawing/2014/main" val="20000"/>
                    </a:ext>
                  </a:extLst>
                </a:gridCol>
                <a:gridCol w="1462315">
                  <a:extLst>
                    <a:ext uri="{9D8B030D-6E8A-4147-A177-3AD203B41FA5}">
                      <a16:colId xmlns:a16="http://schemas.microsoft.com/office/drawing/2014/main" val="20001"/>
                    </a:ext>
                  </a:extLst>
                </a:gridCol>
                <a:gridCol w="1462315">
                  <a:extLst>
                    <a:ext uri="{9D8B030D-6E8A-4147-A177-3AD203B41FA5}">
                      <a16:colId xmlns:a16="http://schemas.microsoft.com/office/drawing/2014/main" val="20002"/>
                    </a:ext>
                  </a:extLst>
                </a:gridCol>
                <a:gridCol w="1462315">
                  <a:extLst>
                    <a:ext uri="{9D8B030D-6E8A-4147-A177-3AD203B41FA5}">
                      <a16:colId xmlns:a16="http://schemas.microsoft.com/office/drawing/2014/main" val="20003"/>
                    </a:ext>
                  </a:extLst>
                </a:gridCol>
                <a:gridCol w="1462315">
                  <a:extLst>
                    <a:ext uri="{9D8B030D-6E8A-4147-A177-3AD203B41FA5}">
                      <a16:colId xmlns:a16="http://schemas.microsoft.com/office/drawing/2014/main" val="20004"/>
                    </a:ext>
                  </a:extLst>
                </a:gridCol>
                <a:gridCol w="1462315">
                  <a:extLst>
                    <a:ext uri="{9D8B030D-6E8A-4147-A177-3AD203B41FA5}">
                      <a16:colId xmlns:a16="http://schemas.microsoft.com/office/drawing/2014/main" val="20005"/>
                    </a:ext>
                  </a:extLst>
                </a:gridCol>
              </a:tblGrid>
              <a:tr h="248911">
                <a:tc>
                  <a:txBody>
                    <a:bodyPr/>
                    <a:lstStyle/>
                    <a:p>
                      <a:r>
                        <a:rPr sz="1200"/>
                        <a:t>Type</a:t>
                      </a:r>
                    </a:p>
                  </a:txBody>
                  <a:tcPr/>
                </a:tc>
                <a:tc>
                  <a:txBody>
                    <a:bodyPr/>
                    <a:lstStyle/>
                    <a:p>
                      <a:r>
                        <a:rPr sz="1200"/>
                        <a:t>Tactics</a:t>
                      </a:r>
                    </a:p>
                  </a:txBody>
                  <a:tcPr/>
                </a:tc>
                <a:tc>
                  <a:txBody>
                    <a:bodyPr/>
                    <a:lstStyle/>
                    <a:p>
                      <a:pPr algn="ctr"/>
                      <a:r>
                        <a:rPr sz="1200" dirty="0"/>
                        <a:t>2019</a:t>
                      </a:r>
                    </a:p>
                  </a:txBody>
                  <a:tcPr/>
                </a:tc>
                <a:tc>
                  <a:txBody>
                    <a:bodyPr/>
                    <a:lstStyle/>
                    <a:p>
                      <a:pPr algn="ctr"/>
                      <a:r>
                        <a:rPr sz="1200" dirty="0"/>
                        <a:t>2020</a:t>
                      </a:r>
                    </a:p>
                  </a:txBody>
                  <a:tcPr/>
                </a:tc>
                <a:tc>
                  <a:txBody>
                    <a:bodyPr/>
                    <a:lstStyle/>
                    <a:p>
                      <a:pPr algn="ctr"/>
                      <a:r>
                        <a:rPr sz="1200" dirty="0"/>
                        <a:t>2021</a:t>
                      </a:r>
                    </a:p>
                  </a:txBody>
                  <a:tcPr/>
                </a:tc>
                <a:tc>
                  <a:txBody>
                    <a:bodyPr/>
                    <a:lstStyle/>
                    <a:p>
                      <a:pPr algn="ctr"/>
                      <a:r>
                        <a:rPr sz="1200" dirty="0"/>
                        <a:t>2022</a:t>
                      </a:r>
                    </a:p>
                  </a:txBody>
                  <a:tcPr/>
                </a:tc>
                <a:extLst>
                  <a:ext uri="{0D108BD9-81ED-4DB2-BD59-A6C34878D82A}">
                    <a16:rowId xmlns:a16="http://schemas.microsoft.com/office/drawing/2014/main" val="10000"/>
                  </a:ext>
                </a:extLst>
              </a:tr>
              <a:tr h="248911">
                <a:tc>
                  <a:txBody>
                    <a:bodyPr/>
                    <a:lstStyle/>
                    <a:p>
                      <a:r>
                        <a:rPr sz="1200"/>
                        <a:t>Marketing</a:t>
                      </a:r>
                    </a:p>
                  </a:txBody>
                  <a:tcPr/>
                </a:tc>
                <a:tc>
                  <a:txBody>
                    <a:bodyPr/>
                    <a:lstStyle/>
                    <a:p>
                      <a:r>
                        <a:rPr sz="1200" dirty="0"/>
                        <a:t>TV</a:t>
                      </a:r>
                    </a:p>
                  </a:txBody>
                  <a:tcPr/>
                </a:tc>
                <a:tc>
                  <a:txBody>
                    <a:bodyPr/>
                    <a:lstStyle/>
                    <a:p>
                      <a:pPr algn="ctr" fontAlgn="b"/>
                      <a:r>
                        <a:rPr lang="en-IN" sz="1200" b="0" i="0" u="none" strike="noStrike" dirty="0">
                          <a:solidFill>
                            <a:schemeClr val="tx1"/>
                          </a:solidFill>
                          <a:effectLst/>
                          <a:latin typeface="Calibri" panose="020F0502020204030204" pitchFamily="34" charset="0"/>
                        </a:rPr>
                        <a:t>9.54%</a:t>
                      </a:r>
                    </a:p>
                  </a:txBody>
                  <a:tcPr marL="6350" marR="6350" marT="6350" marB="0" anchor="ctr"/>
                </a:tc>
                <a:tc>
                  <a:txBody>
                    <a:bodyPr/>
                    <a:lstStyle/>
                    <a:p>
                      <a:pPr algn="ctr" fontAlgn="b"/>
                      <a:r>
                        <a:rPr lang="en-IN" sz="1200" b="0" i="0" u="none" strike="noStrike">
                          <a:solidFill>
                            <a:schemeClr val="tx1"/>
                          </a:solidFill>
                          <a:effectLst/>
                          <a:latin typeface="Calibri" panose="020F0502020204030204" pitchFamily="34" charset="0"/>
                        </a:rPr>
                        <a:t>9.62%</a:t>
                      </a:r>
                    </a:p>
                  </a:txBody>
                  <a:tcPr marL="6350" marR="6350" marT="6350" marB="0" anchor="ctr"/>
                </a:tc>
                <a:tc>
                  <a:txBody>
                    <a:bodyPr/>
                    <a:lstStyle/>
                    <a:p>
                      <a:pPr algn="ctr" fontAlgn="b"/>
                      <a:r>
                        <a:rPr lang="en-IN" sz="1200" b="0" i="0" u="none" strike="noStrike">
                          <a:solidFill>
                            <a:schemeClr val="tx1"/>
                          </a:solidFill>
                          <a:effectLst/>
                          <a:latin typeface="Calibri" panose="020F0502020204030204" pitchFamily="34" charset="0"/>
                        </a:rPr>
                        <a:t>6.91%</a:t>
                      </a:r>
                    </a:p>
                  </a:txBody>
                  <a:tcPr marL="6350" marR="6350" marT="6350" marB="0" anchor="ctr"/>
                </a:tc>
                <a:tc>
                  <a:txBody>
                    <a:bodyPr/>
                    <a:lstStyle/>
                    <a:p>
                      <a:pPr algn="ctr" fontAlgn="b"/>
                      <a:r>
                        <a:rPr lang="en-IN" sz="1200" b="0" i="0" u="none" strike="noStrike">
                          <a:solidFill>
                            <a:schemeClr val="tx1"/>
                          </a:solidFill>
                          <a:effectLst/>
                          <a:latin typeface="Calibri" panose="020F0502020204030204" pitchFamily="34" charset="0"/>
                        </a:rPr>
                        <a:t>5.90%</a:t>
                      </a:r>
                    </a:p>
                  </a:txBody>
                  <a:tcPr marL="6350" marR="6350" marT="6350" marB="0" anchor="ctr"/>
                </a:tc>
                <a:extLst>
                  <a:ext uri="{0D108BD9-81ED-4DB2-BD59-A6C34878D82A}">
                    <a16:rowId xmlns:a16="http://schemas.microsoft.com/office/drawing/2014/main" val="10001"/>
                  </a:ext>
                </a:extLst>
              </a:tr>
              <a:tr h="248911">
                <a:tc>
                  <a:txBody>
                    <a:bodyPr/>
                    <a:lstStyle/>
                    <a:p>
                      <a:r>
                        <a:rPr sz="1200"/>
                        <a:t>Marketing</a:t>
                      </a:r>
                    </a:p>
                  </a:txBody>
                  <a:tcPr/>
                </a:tc>
                <a:tc>
                  <a:txBody>
                    <a:bodyPr/>
                    <a:lstStyle/>
                    <a:p>
                      <a:r>
                        <a:rPr sz="1200" dirty="0"/>
                        <a:t>Newspaper</a:t>
                      </a:r>
                    </a:p>
                  </a:txBody>
                  <a:tcPr/>
                </a:tc>
                <a:tc>
                  <a:txBody>
                    <a:bodyPr/>
                    <a:lstStyle/>
                    <a:p>
                      <a:pPr algn="ctr" fontAlgn="b"/>
                      <a:r>
                        <a:rPr lang="en-IN" sz="1200" b="0" i="0" u="none" strike="noStrike">
                          <a:solidFill>
                            <a:schemeClr val="tx1"/>
                          </a:solidFill>
                          <a:effectLst/>
                          <a:latin typeface="Calibri" panose="020F0502020204030204" pitchFamily="34" charset="0"/>
                        </a:rPr>
                        <a:t>2.88%</a:t>
                      </a:r>
                    </a:p>
                  </a:txBody>
                  <a:tcPr marL="6350" marR="6350" marT="6350" marB="0" anchor="ctr"/>
                </a:tc>
                <a:tc>
                  <a:txBody>
                    <a:bodyPr/>
                    <a:lstStyle/>
                    <a:p>
                      <a:pPr algn="ctr" fontAlgn="b"/>
                      <a:r>
                        <a:rPr lang="en-IN" sz="1200" b="0" i="0" u="none" strike="noStrike">
                          <a:solidFill>
                            <a:schemeClr val="tx1"/>
                          </a:solidFill>
                          <a:effectLst/>
                          <a:latin typeface="Calibri" panose="020F0502020204030204" pitchFamily="34" charset="0"/>
                        </a:rPr>
                        <a:t>1.38%</a:t>
                      </a:r>
                    </a:p>
                  </a:txBody>
                  <a:tcPr marL="6350" marR="6350" marT="6350" marB="0" anchor="ctr"/>
                </a:tc>
                <a:tc>
                  <a:txBody>
                    <a:bodyPr/>
                    <a:lstStyle/>
                    <a:p>
                      <a:pPr algn="ctr" fontAlgn="b"/>
                      <a:r>
                        <a:rPr lang="en-IN" sz="1200" b="0" i="0" u="none" strike="noStrike">
                          <a:solidFill>
                            <a:schemeClr val="tx1"/>
                          </a:solidFill>
                          <a:effectLst/>
                          <a:latin typeface="Calibri" panose="020F0502020204030204" pitchFamily="34" charset="0"/>
                        </a:rPr>
                        <a:t>0.67%</a:t>
                      </a:r>
                    </a:p>
                  </a:txBody>
                  <a:tcPr marL="6350" marR="6350" marT="6350" marB="0" anchor="ctr"/>
                </a:tc>
                <a:tc>
                  <a:txBody>
                    <a:bodyPr/>
                    <a:lstStyle/>
                    <a:p>
                      <a:pPr algn="ctr" fontAlgn="b"/>
                      <a:r>
                        <a:rPr lang="en-IN" sz="1200" b="0" i="0" u="none" strike="noStrike">
                          <a:solidFill>
                            <a:schemeClr val="tx1"/>
                          </a:solidFill>
                          <a:effectLst/>
                          <a:latin typeface="Calibri" panose="020F0502020204030204" pitchFamily="34" charset="0"/>
                        </a:rPr>
                        <a:t>1.50%</a:t>
                      </a:r>
                    </a:p>
                  </a:txBody>
                  <a:tcPr marL="6350" marR="6350" marT="6350" marB="0" anchor="ctr"/>
                </a:tc>
                <a:extLst>
                  <a:ext uri="{0D108BD9-81ED-4DB2-BD59-A6C34878D82A}">
                    <a16:rowId xmlns:a16="http://schemas.microsoft.com/office/drawing/2014/main" val="10002"/>
                  </a:ext>
                </a:extLst>
              </a:tr>
              <a:tr h="248911">
                <a:tc>
                  <a:txBody>
                    <a:bodyPr/>
                    <a:lstStyle/>
                    <a:p>
                      <a:r>
                        <a:rPr sz="1200"/>
                        <a:t>Marketing</a:t>
                      </a:r>
                    </a:p>
                  </a:txBody>
                  <a:tcPr/>
                </a:tc>
                <a:tc>
                  <a:txBody>
                    <a:bodyPr/>
                    <a:lstStyle/>
                    <a:p>
                      <a:r>
                        <a:rPr sz="1200"/>
                        <a:t>Fb_Ig</a:t>
                      </a:r>
                    </a:p>
                  </a:txBody>
                  <a:tcPr/>
                </a:tc>
                <a:tc>
                  <a:txBody>
                    <a:bodyPr/>
                    <a:lstStyle/>
                    <a:p>
                      <a:pPr algn="ctr" fontAlgn="b"/>
                      <a:r>
                        <a:rPr lang="en-IN" sz="1200" b="0" i="0" u="none" strike="noStrike">
                          <a:solidFill>
                            <a:schemeClr val="tx1"/>
                          </a:solidFill>
                          <a:effectLst/>
                          <a:latin typeface="Calibri" panose="020F0502020204030204" pitchFamily="34" charset="0"/>
                        </a:rPr>
                        <a:t>0.15%</a:t>
                      </a:r>
                    </a:p>
                  </a:txBody>
                  <a:tcPr marL="6350" marR="6350" marT="6350" marB="0" anchor="ctr"/>
                </a:tc>
                <a:tc>
                  <a:txBody>
                    <a:bodyPr/>
                    <a:lstStyle/>
                    <a:p>
                      <a:pPr algn="ctr" fontAlgn="b"/>
                      <a:r>
                        <a:rPr lang="en-IN" sz="1200" b="0" i="0" u="none" strike="noStrike">
                          <a:solidFill>
                            <a:schemeClr val="tx1"/>
                          </a:solidFill>
                          <a:effectLst/>
                          <a:latin typeface="Calibri" panose="020F0502020204030204" pitchFamily="34" charset="0"/>
                        </a:rPr>
                        <a:t>0.54%</a:t>
                      </a:r>
                    </a:p>
                  </a:txBody>
                  <a:tcPr marL="6350" marR="6350" marT="6350" marB="0" anchor="ctr"/>
                </a:tc>
                <a:tc>
                  <a:txBody>
                    <a:bodyPr/>
                    <a:lstStyle/>
                    <a:p>
                      <a:pPr algn="ctr" fontAlgn="b"/>
                      <a:r>
                        <a:rPr lang="en-IN" sz="1200" b="0" i="0" u="none" strike="noStrike">
                          <a:solidFill>
                            <a:schemeClr val="tx1"/>
                          </a:solidFill>
                          <a:effectLst/>
                          <a:latin typeface="Calibri" panose="020F0502020204030204" pitchFamily="34" charset="0"/>
                        </a:rPr>
                        <a:t>0.08%</a:t>
                      </a:r>
                    </a:p>
                  </a:txBody>
                  <a:tcPr marL="6350" marR="6350" marT="6350" marB="0" anchor="ctr"/>
                </a:tc>
                <a:tc>
                  <a:txBody>
                    <a:bodyPr/>
                    <a:lstStyle/>
                    <a:p>
                      <a:pPr algn="ctr" fontAlgn="b"/>
                      <a:r>
                        <a:rPr lang="en-IN" sz="1200" b="0" i="0" u="none" strike="noStrike">
                          <a:solidFill>
                            <a:schemeClr val="tx1"/>
                          </a:solidFill>
                          <a:effectLst/>
                          <a:latin typeface="Calibri" panose="020F0502020204030204" pitchFamily="34" charset="0"/>
                        </a:rPr>
                        <a:t>0.23%</a:t>
                      </a:r>
                    </a:p>
                  </a:txBody>
                  <a:tcPr marL="6350" marR="6350" marT="6350" marB="0" anchor="ctr"/>
                </a:tc>
                <a:extLst>
                  <a:ext uri="{0D108BD9-81ED-4DB2-BD59-A6C34878D82A}">
                    <a16:rowId xmlns:a16="http://schemas.microsoft.com/office/drawing/2014/main" val="10003"/>
                  </a:ext>
                </a:extLst>
              </a:tr>
              <a:tr h="248911">
                <a:tc>
                  <a:txBody>
                    <a:bodyPr/>
                    <a:lstStyle/>
                    <a:p>
                      <a:r>
                        <a:rPr sz="1200"/>
                        <a:t>Marketing</a:t>
                      </a:r>
                    </a:p>
                  </a:txBody>
                  <a:tcPr/>
                </a:tc>
                <a:tc>
                  <a:txBody>
                    <a:bodyPr/>
                    <a:lstStyle/>
                    <a:p>
                      <a:r>
                        <a:rPr sz="1200"/>
                        <a:t>Whatsapp</a:t>
                      </a:r>
                    </a:p>
                  </a:txBody>
                  <a:tcPr/>
                </a:tc>
                <a:tc>
                  <a:txBody>
                    <a:bodyPr/>
                    <a:lstStyle/>
                    <a:p>
                      <a:pPr algn="ctr" fontAlgn="b"/>
                      <a:r>
                        <a:rPr lang="en-IN" sz="1200" b="0" i="0" u="none" strike="noStrike">
                          <a:solidFill>
                            <a:schemeClr val="tx1"/>
                          </a:solidFill>
                          <a:effectLst/>
                          <a:latin typeface="Calibri" panose="020F0502020204030204" pitchFamily="34" charset="0"/>
                        </a:rPr>
                        <a:t>0.00%</a:t>
                      </a:r>
                    </a:p>
                  </a:txBody>
                  <a:tcPr marL="6350" marR="6350" marT="6350" marB="0" anchor="ctr"/>
                </a:tc>
                <a:tc>
                  <a:txBody>
                    <a:bodyPr/>
                    <a:lstStyle/>
                    <a:p>
                      <a:pPr algn="ctr" fontAlgn="b"/>
                      <a:r>
                        <a:rPr lang="en-IN" sz="1200" b="0" i="0" u="none" strike="noStrike">
                          <a:solidFill>
                            <a:schemeClr val="tx1"/>
                          </a:solidFill>
                          <a:effectLst/>
                          <a:latin typeface="Calibri" panose="020F0502020204030204" pitchFamily="34" charset="0"/>
                        </a:rPr>
                        <a:t>0.30%</a:t>
                      </a:r>
                    </a:p>
                  </a:txBody>
                  <a:tcPr marL="6350" marR="6350" marT="6350" marB="0" anchor="ctr"/>
                </a:tc>
                <a:tc>
                  <a:txBody>
                    <a:bodyPr/>
                    <a:lstStyle/>
                    <a:p>
                      <a:pPr algn="ctr" fontAlgn="b"/>
                      <a:r>
                        <a:rPr lang="en-IN" sz="1200" b="0" i="0" u="none" strike="noStrike">
                          <a:solidFill>
                            <a:schemeClr val="tx1"/>
                          </a:solidFill>
                          <a:effectLst/>
                          <a:latin typeface="Calibri" panose="020F0502020204030204" pitchFamily="34" charset="0"/>
                        </a:rPr>
                        <a:t>0.00%</a:t>
                      </a:r>
                    </a:p>
                  </a:txBody>
                  <a:tcPr marL="6350" marR="6350" marT="6350" marB="0" anchor="ctr"/>
                </a:tc>
                <a:tc>
                  <a:txBody>
                    <a:bodyPr/>
                    <a:lstStyle/>
                    <a:p>
                      <a:pPr algn="ctr" fontAlgn="b"/>
                      <a:r>
                        <a:rPr lang="en-IN" sz="1200" b="0" i="0" u="none" strike="noStrike">
                          <a:solidFill>
                            <a:schemeClr val="tx1"/>
                          </a:solidFill>
                          <a:effectLst/>
                          <a:latin typeface="Calibri" panose="020F0502020204030204" pitchFamily="34" charset="0"/>
                        </a:rPr>
                        <a:t>0.00%</a:t>
                      </a:r>
                    </a:p>
                  </a:txBody>
                  <a:tcPr marL="6350" marR="6350" marT="6350" marB="0" anchor="ctr"/>
                </a:tc>
                <a:extLst>
                  <a:ext uri="{0D108BD9-81ED-4DB2-BD59-A6C34878D82A}">
                    <a16:rowId xmlns:a16="http://schemas.microsoft.com/office/drawing/2014/main" val="10004"/>
                  </a:ext>
                </a:extLst>
              </a:tr>
              <a:tr h="248911">
                <a:tc>
                  <a:txBody>
                    <a:bodyPr/>
                    <a:lstStyle/>
                    <a:p>
                      <a:r>
                        <a:rPr sz="1200"/>
                        <a:t>Marketing</a:t>
                      </a:r>
                    </a:p>
                  </a:txBody>
                  <a:tcPr/>
                </a:tc>
                <a:tc>
                  <a:txBody>
                    <a:bodyPr/>
                    <a:lstStyle/>
                    <a:p>
                      <a:r>
                        <a:rPr sz="1200"/>
                        <a:t>Youtube</a:t>
                      </a:r>
                    </a:p>
                  </a:txBody>
                  <a:tcPr/>
                </a:tc>
                <a:tc>
                  <a:txBody>
                    <a:bodyPr/>
                    <a:lstStyle/>
                    <a:p>
                      <a:pPr algn="ctr" fontAlgn="b"/>
                      <a:r>
                        <a:rPr lang="en-IN" sz="1200" b="0" i="0" u="none" strike="noStrike">
                          <a:solidFill>
                            <a:schemeClr val="tx1"/>
                          </a:solidFill>
                          <a:effectLst/>
                          <a:latin typeface="Calibri" panose="020F0502020204030204" pitchFamily="34" charset="0"/>
                        </a:rPr>
                        <a:t>0.37%</a:t>
                      </a:r>
                    </a:p>
                  </a:txBody>
                  <a:tcPr marL="6350" marR="6350" marT="6350" marB="0" anchor="ctr"/>
                </a:tc>
                <a:tc>
                  <a:txBody>
                    <a:bodyPr/>
                    <a:lstStyle/>
                    <a:p>
                      <a:pPr algn="ctr" fontAlgn="b"/>
                      <a:r>
                        <a:rPr lang="en-IN" sz="1200" b="0" i="0" u="none" strike="noStrike">
                          <a:solidFill>
                            <a:schemeClr val="tx1"/>
                          </a:solidFill>
                          <a:effectLst/>
                          <a:latin typeface="Calibri" panose="020F0502020204030204" pitchFamily="34" charset="0"/>
                        </a:rPr>
                        <a:t>0.81%</a:t>
                      </a:r>
                    </a:p>
                  </a:txBody>
                  <a:tcPr marL="6350" marR="6350" marT="6350" marB="0" anchor="ctr"/>
                </a:tc>
                <a:tc>
                  <a:txBody>
                    <a:bodyPr/>
                    <a:lstStyle/>
                    <a:p>
                      <a:pPr algn="ctr" fontAlgn="b"/>
                      <a:r>
                        <a:rPr lang="en-IN" sz="1200" b="0" i="0" u="none" strike="noStrike">
                          <a:solidFill>
                            <a:schemeClr val="tx1"/>
                          </a:solidFill>
                          <a:effectLst/>
                          <a:latin typeface="Calibri" panose="020F0502020204030204" pitchFamily="34" charset="0"/>
                        </a:rPr>
                        <a:t>0.17%</a:t>
                      </a:r>
                    </a:p>
                  </a:txBody>
                  <a:tcPr marL="6350" marR="6350" marT="6350" marB="0" anchor="ctr"/>
                </a:tc>
                <a:tc>
                  <a:txBody>
                    <a:bodyPr/>
                    <a:lstStyle/>
                    <a:p>
                      <a:pPr algn="ctr" fontAlgn="b"/>
                      <a:r>
                        <a:rPr lang="en-IN" sz="1200" b="0" i="0" u="none" strike="noStrike">
                          <a:solidFill>
                            <a:schemeClr val="tx1"/>
                          </a:solidFill>
                          <a:effectLst/>
                          <a:latin typeface="Calibri" panose="020F0502020204030204" pitchFamily="34" charset="0"/>
                        </a:rPr>
                        <a:t>0.27%</a:t>
                      </a:r>
                    </a:p>
                  </a:txBody>
                  <a:tcPr marL="6350" marR="6350" marT="6350" marB="0" anchor="ctr"/>
                </a:tc>
                <a:extLst>
                  <a:ext uri="{0D108BD9-81ED-4DB2-BD59-A6C34878D82A}">
                    <a16:rowId xmlns:a16="http://schemas.microsoft.com/office/drawing/2014/main" val="10005"/>
                  </a:ext>
                </a:extLst>
              </a:tr>
              <a:tr h="248911">
                <a:tc>
                  <a:txBody>
                    <a:bodyPr/>
                    <a:lstStyle/>
                    <a:p>
                      <a:r>
                        <a:rPr sz="1200"/>
                        <a:t>Marketing</a:t>
                      </a:r>
                    </a:p>
                  </a:txBody>
                  <a:tcPr/>
                </a:tc>
                <a:tc>
                  <a:txBody>
                    <a:bodyPr/>
                    <a:lstStyle/>
                    <a:p>
                      <a:r>
                        <a:rPr sz="1200"/>
                        <a:t>Hotstar</a:t>
                      </a:r>
                    </a:p>
                  </a:txBody>
                  <a:tcPr/>
                </a:tc>
                <a:tc>
                  <a:txBody>
                    <a:bodyPr/>
                    <a:lstStyle/>
                    <a:p>
                      <a:pPr algn="ctr" fontAlgn="b"/>
                      <a:r>
                        <a:rPr lang="en-IN" sz="1200" b="0" i="0" u="none" strike="noStrike">
                          <a:solidFill>
                            <a:schemeClr val="tx1"/>
                          </a:solidFill>
                          <a:effectLst/>
                          <a:latin typeface="Calibri" panose="020F0502020204030204" pitchFamily="34" charset="0"/>
                        </a:rPr>
                        <a:t>0.10%</a:t>
                      </a:r>
                    </a:p>
                  </a:txBody>
                  <a:tcPr marL="6350" marR="6350" marT="6350" marB="0" anchor="ctr"/>
                </a:tc>
                <a:tc>
                  <a:txBody>
                    <a:bodyPr/>
                    <a:lstStyle/>
                    <a:p>
                      <a:pPr algn="ctr" fontAlgn="b"/>
                      <a:r>
                        <a:rPr lang="en-IN" sz="1200" b="0" i="0" u="none" strike="noStrike">
                          <a:solidFill>
                            <a:schemeClr val="tx1"/>
                          </a:solidFill>
                          <a:effectLst/>
                          <a:latin typeface="Calibri" panose="020F0502020204030204" pitchFamily="34" charset="0"/>
                        </a:rPr>
                        <a:t>0.22%</a:t>
                      </a:r>
                    </a:p>
                  </a:txBody>
                  <a:tcPr marL="6350" marR="6350" marT="6350" marB="0" anchor="ctr"/>
                </a:tc>
                <a:tc>
                  <a:txBody>
                    <a:bodyPr/>
                    <a:lstStyle/>
                    <a:p>
                      <a:pPr algn="ctr" fontAlgn="b"/>
                      <a:r>
                        <a:rPr lang="en-IN" sz="1200" b="0" i="0" u="none" strike="noStrike">
                          <a:solidFill>
                            <a:schemeClr val="tx1"/>
                          </a:solidFill>
                          <a:effectLst/>
                          <a:latin typeface="Calibri" panose="020F0502020204030204" pitchFamily="34" charset="0"/>
                        </a:rPr>
                        <a:t>0.08%</a:t>
                      </a:r>
                    </a:p>
                  </a:txBody>
                  <a:tcPr marL="6350" marR="6350" marT="6350" marB="0" anchor="ctr"/>
                </a:tc>
                <a:tc>
                  <a:txBody>
                    <a:bodyPr/>
                    <a:lstStyle/>
                    <a:p>
                      <a:pPr algn="ctr" fontAlgn="b"/>
                      <a:r>
                        <a:rPr lang="en-IN" sz="1200" b="0" i="0" u="none" strike="noStrike">
                          <a:solidFill>
                            <a:schemeClr val="tx1"/>
                          </a:solidFill>
                          <a:effectLst/>
                          <a:latin typeface="Calibri" panose="020F0502020204030204" pitchFamily="34" charset="0"/>
                        </a:rPr>
                        <a:t>0.10%</a:t>
                      </a:r>
                    </a:p>
                  </a:txBody>
                  <a:tcPr marL="6350" marR="6350" marT="6350" marB="0" anchor="ctr"/>
                </a:tc>
                <a:extLst>
                  <a:ext uri="{0D108BD9-81ED-4DB2-BD59-A6C34878D82A}">
                    <a16:rowId xmlns:a16="http://schemas.microsoft.com/office/drawing/2014/main" val="10006"/>
                  </a:ext>
                </a:extLst>
              </a:tr>
              <a:tr h="248911">
                <a:tc>
                  <a:txBody>
                    <a:bodyPr/>
                    <a:lstStyle/>
                    <a:p>
                      <a:r>
                        <a:rPr sz="1200"/>
                        <a:t>Marketing</a:t>
                      </a:r>
                    </a:p>
                  </a:txBody>
                  <a:tcPr/>
                </a:tc>
                <a:tc>
                  <a:txBody>
                    <a:bodyPr/>
                    <a:lstStyle/>
                    <a:p>
                      <a:r>
                        <a:rPr sz="1200"/>
                        <a:t>Jio</a:t>
                      </a:r>
                    </a:p>
                  </a:txBody>
                  <a:tcPr/>
                </a:tc>
                <a:tc>
                  <a:txBody>
                    <a:bodyPr/>
                    <a:lstStyle/>
                    <a:p>
                      <a:pPr algn="ctr" fontAlgn="b"/>
                      <a:r>
                        <a:rPr lang="en-IN" sz="1200" b="0" i="0" u="none" strike="noStrike">
                          <a:solidFill>
                            <a:schemeClr val="tx1"/>
                          </a:solidFill>
                          <a:effectLst/>
                          <a:latin typeface="Calibri" panose="020F0502020204030204" pitchFamily="34" charset="0"/>
                        </a:rPr>
                        <a:t>0.02%</a:t>
                      </a:r>
                    </a:p>
                  </a:txBody>
                  <a:tcPr marL="6350" marR="6350" marT="6350" marB="0" anchor="ctr"/>
                </a:tc>
                <a:tc>
                  <a:txBody>
                    <a:bodyPr/>
                    <a:lstStyle/>
                    <a:p>
                      <a:pPr algn="ctr" fontAlgn="b"/>
                      <a:r>
                        <a:rPr lang="en-IN" sz="1200" b="0" i="0" u="none" strike="noStrike">
                          <a:solidFill>
                            <a:schemeClr val="tx1"/>
                          </a:solidFill>
                          <a:effectLst/>
                          <a:latin typeface="Calibri" panose="020F0502020204030204" pitchFamily="34" charset="0"/>
                        </a:rPr>
                        <a:t>0.41%</a:t>
                      </a:r>
                    </a:p>
                  </a:txBody>
                  <a:tcPr marL="6350" marR="6350" marT="6350" marB="0" anchor="ctr"/>
                </a:tc>
                <a:tc>
                  <a:txBody>
                    <a:bodyPr/>
                    <a:lstStyle/>
                    <a:p>
                      <a:pPr algn="ctr" fontAlgn="b"/>
                      <a:r>
                        <a:rPr lang="en-IN" sz="1200" b="0" i="0" u="none" strike="noStrike">
                          <a:solidFill>
                            <a:schemeClr val="tx1"/>
                          </a:solidFill>
                          <a:effectLst/>
                          <a:latin typeface="Calibri" panose="020F0502020204030204" pitchFamily="34" charset="0"/>
                        </a:rPr>
                        <a:t>0.16%</a:t>
                      </a:r>
                    </a:p>
                  </a:txBody>
                  <a:tcPr marL="6350" marR="6350" marT="6350" marB="0" anchor="ctr"/>
                </a:tc>
                <a:tc>
                  <a:txBody>
                    <a:bodyPr/>
                    <a:lstStyle/>
                    <a:p>
                      <a:pPr algn="ctr" fontAlgn="b"/>
                      <a:r>
                        <a:rPr lang="en-IN" sz="1200" b="0" i="0" u="none" strike="noStrike">
                          <a:solidFill>
                            <a:schemeClr val="tx1"/>
                          </a:solidFill>
                          <a:effectLst/>
                          <a:latin typeface="Calibri" panose="020F0502020204030204" pitchFamily="34" charset="0"/>
                        </a:rPr>
                        <a:t>0.01%</a:t>
                      </a:r>
                    </a:p>
                  </a:txBody>
                  <a:tcPr marL="6350" marR="6350" marT="6350" marB="0" anchor="ctr"/>
                </a:tc>
                <a:extLst>
                  <a:ext uri="{0D108BD9-81ED-4DB2-BD59-A6C34878D82A}">
                    <a16:rowId xmlns:a16="http://schemas.microsoft.com/office/drawing/2014/main" val="10007"/>
                  </a:ext>
                </a:extLst>
              </a:tr>
              <a:tr h="295773">
                <a:tc>
                  <a:txBody>
                    <a:bodyPr/>
                    <a:lstStyle/>
                    <a:p>
                      <a:r>
                        <a:rPr sz="1200" dirty="0"/>
                        <a:t>Marketing</a:t>
                      </a:r>
                    </a:p>
                  </a:txBody>
                  <a:tcPr/>
                </a:tc>
                <a:tc>
                  <a:txBody>
                    <a:bodyPr/>
                    <a:lstStyle/>
                    <a:p>
                      <a:r>
                        <a:rPr sz="1200"/>
                        <a:t>Google_Display</a:t>
                      </a:r>
                    </a:p>
                  </a:txBody>
                  <a:tcPr/>
                </a:tc>
                <a:tc>
                  <a:txBody>
                    <a:bodyPr/>
                    <a:lstStyle/>
                    <a:p>
                      <a:pPr algn="ctr" fontAlgn="b"/>
                      <a:r>
                        <a:rPr lang="en-IN" sz="1200" b="0" i="0" u="none" strike="noStrike">
                          <a:solidFill>
                            <a:schemeClr val="tx1"/>
                          </a:solidFill>
                          <a:effectLst/>
                          <a:latin typeface="Calibri" panose="020F0502020204030204" pitchFamily="34" charset="0"/>
                        </a:rPr>
                        <a:t>0.03%</a:t>
                      </a:r>
                    </a:p>
                  </a:txBody>
                  <a:tcPr marL="6350" marR="6350" marT="6350" marB="0" anchor="ctr"/>
                </a:tc>
                <a:tc>
                  <a:txBody>
                    <a:bodyPr/>
                    <a:lstStyle/>
                    <a:p>
                      <a:pPr algn="ctr" fontAlgn="b"/>
                      <a:r>
                        <a:rPr lang="en-IN" sz="1200" b="0" i="0" u="none" strike="noStrike">
                          <a:solidFill>
                            <a:schemeClr val="tx1"/>
                          </a:solidFill>
                          <a:effectLst/>
                          <a:latin typeface="Calibri" panose="020F0502020204030204" pitchFamily="34" charset="0"/>
                        </a:rPr>
                        <a:t>0.01%</a:t>
                      </a:r>
                    </a:p>
                  </a:txBody>
                  <a:tcPr marL="6350" marR="6350" marT="6350" marB="0" anchor="ctr"/>
                </a:tc>
                <a:tc>
                  <a:txBody>
                    <a:bodyPr/>
                    <a:lstStyle/>
                    <a:p>
                      <a:pPr algn="ctr" fontAlgn="b"/>
                      <a:r>
                        <a:rPr lang="en-IN" sz="1200" b="0" i="0" u="none" strike="noStrike">
                          <a:solidFill>
                            <a:schemeClr val="tx1"/>
                          </a:solidFill>
                          <a:effectLst/>
                          <a:latin typeface="Calibri" panose="020F0502020204030204" pitchFamily="34" charset="0"/>
                        </a:rPr>
                        <a:t>0.02%</a:t>
                      </a:r>
                    </a:p>
                  </a:txBody>
                  <a:tcPr marL="6350" marR="6350" marT="6350" marB="0" anchor="ctr"/>
                </a:tc>
                <a:tc>
                  <a:txBody>
                    <a:bodyPr/>
                    <a:lstStyle/>
                    <a:p>
                      <a:pPr algn="ctr" fontAlgn="b"/>
                      <a:r>
                        <a:rPr lang="en-IN" sz="1200" b="0" i="0" u="none" strike="noStrike">
                          <a:solidFill>
                            <a:schemeClr val="tx1"/>
                          </a:solidFill>
                          <a:effectLst/>
                          <a:latin typeface="Calibri" panose="020F0502020204030204" pitchFamily="34" charset="0"/>
                        </a:rPr>
                        <a:t>0.01%</a:t>
                      </a:r>
                    </a:p>
                  </a:txBody>
                  <a:tcPr marL="6350" marR="6350" marT="6350" marB="0" anchor="ctr"/>
                </a:tc>
                <a:extLst>
                  <a:ext uri="{0D108BD9-81ED-4DB2-BD59-A6C34878D82A}">
                    <a16:rowId xmlns:a16="http://schemas.microsoft.com/office/drawing/2014/main" val="10008"/>
                  </a:ext>
                </a:extLst>
              </a:tr>
              <a:tr h="317216">
                <a:tc>
                  <a:txBody>
                    <a:bodyPr/>
                    <a:lstStyle/>
                    <a:p>
                      <a:r>
                        <a:rPr sz="1200" dirty="0"/>
                        <a:t>Promotions</a:t>
                      </a:r>
                    </a:p>
                  </a:txBody>
                  <a:tcPr/>
                </a:tc>
                <a:tc>
                  <a:txBody>
                    <a:bodyPr/>
                    <a:lstStyle/>
                    <a:p>
                      <a:r>
                        <a:rPr lang="en-US" sz="1100" dirty="0" err="1"/>
                        <a:t>Consumer</a:t>
                      </a:r>
                      <a:r>
                        <a:rPr sz="1100" dirty="0" err="1"/>
                        <a:t>_promotion</a:t>
                      </a:r>
                      <a:endParaRPr sz="1100" dirty="0"/>
                    </a:p>
                  </a:txBody>
                  <a:tcPr/>
                </a:tc>
                <a:tc>
                  <a:txBody>
                    <a:bodyPr/>
                    <a:lstStyle/>
                    <a:p>
                      <a:pPr algn="ctr" fontAlgn="b"/>
                      <a:r>
                        <a:rPr lang="en-IN" sz="1200" b="0" i="0" u="none" strike="noStrike">
                          <a:solidFill>
                            <a:schemeClr val="tx1"/>
                          </a:solidFill>
                          <a:effectLst/>
                          <a:latin typeface="Calibri" panose="020F0502020204030204" pitchFamily="34" charset="0"/>
                        </a:rPr>
                        <a:t>1.12%</a:t>
                      </a:r>
                    </a:p>
                  </a:txBody>
                  <a:tcPr marL="6350" marR="6350" marT="6350" marB="0" anchor="ctr"/>
                </a:tc>
                <a:tc>
                  <a:txBody>
                    <a:bodyPr/>
                    <a:lstStyle/>
                    <a:p>
                      <a:pPr algn="ctr" fontAlgn="b"/>
                      <a:r>
                        <a:rPr lang="en-IN" sz="1200" b="0" i="0" u="none" strike="noStrike">
                          <a:solidFill>
                            <a:schemeClr val="tx1"/>
                          </a:solidFill>
                          <a:effectLst/>
                          <a:latin typeface="Calibri" panose="020F0502020204030204" pitchFamily="34" charset="0"/>
                        </a:rPr>
                        <a:t>2.58%</a:t>
                      </a:r>
                    </a:p>
                  </a:txBody>
                  <a:tcPr marL="6350" marR="6350" marT="6350" marB="0" anchor="ctr"/>
                </a:tc>
                <a:tc>
                  <a:txBody>
                    <a:bodyPr/>
                    <a:lstStyle/>
                    <a:p>
                      <a:pPr algn="ctr" fontAlgn="b"/>
                      <a:r>
                        <a:rPr lang="en-IN" sz="1200" b="0" i="0" u="none" strike="noStrike">
                          <a:solidFill>
                            <a:schemeClr val="tx1"/>
                          </a:solidFill>
                          <a:effectLst/>
                          <a:latin typeface="Calibri" panose="020F0502020204030204" pitchFamily="34" charset="0"/>
                        </a:rPr>
                        <a:t>2.54%</a:t>
                      </a:r>
                    </a:p>
                  </a:txBody>
                  <a:tcPr marL="6350" marR="6350" marT="6350" marB="0" anchor="ctr"/>
                </a:tc>
                <a:tc>
                  <a:txBody>
                    <a:bodyPr/>
                    <a:lstStyle/>
                    <a:p>
                      <a:pPr algn="ctr" fontAlgn="b"/>
                      <a:r>
                        <a:rPr lang="en-IN" sz="1200" b="0" i="0" u="none" strike="noStrike">
                          <a:solidFill>
                            <a:schemeClr val="tx1"/>
                          </a:solidFill>
                          <a:effectLst/>
                          <a:latin typeface="Calibri" panose="020F0502020204030204" pitchFamily="34" charset="0"/>
                        </a:rPr>
                        <a:t>3.72%</a:t>
                      </a:r>
                    </a:p>
                  </a:txBody>
                  <a:tcPr marL="6350" marR="6350" marT="6350" marB="0" anchor="ctr"/>
                </a:tc>
                <a:extLst>
                  <a:ext uri="{0D108BD9-81ED-4DB2-BD59-A6C34878D82A}">
                    <a16:rowId xmlns:a16="http://schemas.microsoft.com/office/drawing/2014/main" val="932610879"/>
                  </a:ext>
                </a:extLst>
              </a:tr>
              <a:tr h="317216">
                <a:tc>
                  <a:txBody>
                    <a:bodyPr/>
                    <a:lstStyle/>
                    <a:p>
                      <a:r>
                        <a:rPr sz="1200" dirty="0"/>
                        <a:t>Promotions</a:t>
                      </a:r>
                    </a:p>
                  </a:txBody>
                  <a:tcPr/>
                </a:tc>
                <a:tc>
                  <a:txBody>
                    <a:bodyPr/>
                    <a:lstStyle/>
                    <a:p>
                      <a:r>
                        <a:rPr sz="1200" dirty="0" err="1"/>
                        <a:t>Trade_promotion</a:t>
                      </a:r>
                      <a:endParaRPr sz="1200" dirty="0"/>
                    </a:p>
                  </a:txBody>
                  <a:tcPr/>
                </a:tc>
                <a:tc>
                  <a:txBody>
                    <a:bodyPr/>
                    <a:lstStyle/>
                    <a:p>
                      <a:pPr algn="ctr" fontAlgn="b"/>
                      <a:r>
                        <a:rPr lang="en-IN" sz="1200" b="0" i="0" u="none" strike="noStrike">
                          <a:solidFill>
                            <a:schemeClr val="tx1"/>
                          </a:solidFill>
                          <a:effectLst/>
                          <a:latin typeface="Calibri" panose="020F0502020204030204" pitchFamily="34" charset="0"/>
                        </a:rPr>
                        <a:t>4.95%</a:t>
                      </a:r>
                    </a:p>
                  </a:txBody>
                  <a:tcPr marL="6350" marR="6350" marT="6350" marB="0" anchor="ctr"/>
                </a:tc>
                <a:tc>
                  <a:txBody>
                    <a:bodyPr/>
                    <a:lstStyle/>
                    <a:p>
                      <a:pPr algn="ctr" fontAlgn="b"/>
                      <a:r>
                        <a:rPr lang="en-IN" sz="1200" b="0" i="0" u="none" strike="noStrike">
                          <a:solidFill>
                            <a:schemeClr val="tx1"/>
                          </a:solidFill>
                          <a:effectLst/>
                          <a:latin typeface="Calibri" panose="020F0502020204030204" pitchFamily="34" charset="0"/>
                        </a:rPr>
                        <a:t>4.72%</a:t>
                      </a:r>
                    </a:p>
                  </a:txBody>
                  <a:tcPr marL="6350" marR="6350" marT="6350" marB="0" anchor="ctr"/>
                </a:tc>
                <a:tc>
                  <a:txBody>
                    <a:bodyPr/>
                    <a:lstStyle/>
                    <a:p>
                      <a:pPr algn="ctr" fontAlgn="b"/>
                      <a:r>
                        <a:rPr lang="en-IN" sz="1200" b="0" i="0" u="none" strike="noStrike">
                          <a:solidFill>
                            <a:schemeClr val="tx1"/>
                          </a:solidFill>
                          <a:effectLst/>
                          <a:latin typeface="Calibri" panose="020F0502020204030204" pitchFamily="34" charset="0"/>
                        </a:rPr>
                        <a:t>5.38%</a:t>
                      </a:r>
                    </a:p>
                  </a:txBody>
                  <a:tcPr marL="6350" marR="6350" marT="6350" marB="0" anchor="ctr"/>
                </a:tc>
                <a:tc>
                  <a:txBody>
                    <a:bodyPr/>
                    <a:lstStyle/>
                    <a:p>
                      <a:pPr algn="ctr" fontAlgn="b"/>
                      <a:r>
                        <a:rPr lang="en-IN" sz="1200" b="0" i="0" u="none" strike="noStrike">
                          <a:solidFill>
                            <a:schemeClr val="tx1"/>
                          </a:solidFill>
                          <a:effectLst/>
                          <a:latin typeface="Calibri" panose="020F0502020204030204" pitchFamily="34" charset="0"/>
                        </a:rPr>
                        <a:t>5.58%</a:t>
                      </a:r>
                    </a:p>
                  </a:txBody>
                  <a:tcPr marL="6350" marR="6350" marT="6350" marB="0" anchor="ctr"/>
                </a:tc>
                <a:extLst>
                  <a:ext uri="{0D108BD9-81ED-4DB2-BD59-A6C34878D82A}">
                    <a16:rowId xmlns:a16="http://schemas.microsoft.com/office/drawing/2014/main" val="10010"/>
                  </a:ext>
                </a:extLst>
              </a:tr>
              <a:tr h="248911">
                <a:tc>
                  <a:txBody>
                    <a:bodyPr/>
                    <a:lstStyle/>
                    <a:p>
                      <a:r>
                        <a:rPr sz="1200" dirty="0"/>
                        <a:t>Base</a:t>
                      </a:r>
                    </a:p>
                  </a:txBody>
                  <a:tcPr/>
                </a:tc>
                <a:tc>
                  <a:txBody>
                    <a:bodyPr/>
                    <a:lstStyle/>
                    <a:p>
                      <a:r>
                        <a:rPr sz="1200"/>
                        <a:t>Price</a:t>
                      </a:r>
                    </a:p>
                  </a:txBody>
                  <a:tcPr/>
                </a:tc>
                <a:tc>
                  <a:txBody>
                    <a:bodyPr/>
                    <a:lstStyle/>
                    <a:p>
                      <a:pPr algn="ctr" fontAlgn="b"/>
                      <a:r>
                        <a:rPr lang="en-IN" sz="1200" b="0" i="0" u="none" strike="noStrike">
                          <a:solidFill>
                            <a:schemeClr val="tx1"/>
                          </a:solidFill>
                          <a:effectLst/>
                          <a:latin typeface="Calibri" panose="020F0502020204030204" pitchFamily="34" charset="0"/>
                        </a:rPr>
                        <a:t>7.46%</a:t>
                      </a:r>
                    </a:p>
                  </a:txBody>
                  <a:tcPr marL="6350" marR="6350" marT="6350" marB="0" anchor="ctr"/>
                </a:tc>
                <a:tc>
                  <a:txBody>
                    <a:bodyPr/>
                    <a:lstStyle/>
                    <a:p>
                      <a:pPr algn="ctr" fontAlgn="b"/>
                      <a:r>
                        <a:rPr lang="en-IN" sz="1200" b="0" i="0" u="none" strike="noStrike">
                          <a:solidFill>
                            <a:schemeClr val="tx1"/>
                          </a:solidFill>
                          <a:effectLst/>
                          <a:latin typeface="Calibri" panose="020F0502020204030204" pitchFamily="34" charset="0"/>
                        </a:rPr>
                        <a:t>7.77%</a:t>
                      </a:r>
                    </a:p>
                  </a:txBody>
                  <a:tcPr marL="6350" marR="6350" marT="6350" marB="0" anchor="ctr"/>
                </a:tc>
                <a:tc>
                  <a:txBody>
                    <a:bodyPr/>
                    <a:lstStyle/>
                    <a:p>
                      <a:pPr algn="ctr" fontAlgn="b"/>
                      <a:r>
                        <a:rPr lang="en-IN" sz="1200" b="0" i="0" u="none" strike="noStrike">
                          <a:solidFill>
                            <a:schemeClr val="tx1"/>
                          </a:solidFill>
                          <a:effectLst/>
                          <a:latin typeface="Calibri" panose="020F0502020204030204" pitchFamily="34" charset="0"/>
                        </a:rPr>
                        <a:t>5.36%</a:t>
                      </a:r>
                    </a:p>
                  </a:txBody>
                  <a:tcPr marL="6350" marR="6350" marT="6350" marB="0" anchor="ctr"/>
                </a:tc>
                <a:tc>
                  <a:txBody>
                    <a:bodyPr/>
                    <a:lstStyle/>
                    <a:p>
                      <a:pPr algn="ctr" fontAlgn="b"/>
                      <a:r>
                        <a:rPr lang="en-IN" sz="1200" b="0" i="0" u="none" strike="noStrike">
                          <a:solidFill>
                            <a:schemeClr val="tx1"/>
                          </a:solidFill>
                          <a:effectLst/>
                          <a:latin typeface="Calibri" panose="020F0502020204030204" pitchFamily="34" charset="0"/>
                        </a:rPr>
                        <a:t>4.89%</a:t>
                      </a:r>
                    </a:p>
                  </a:txBody>
                  <a:tcPr marL="6350" marR="6350" marT="6350" marB="0" anchor="ctr"/>
                </a:tc>
                <a:extLst>
                  <a:ext uri="{0D108BD9-81ED-4DB2-BD59-A6C34878D82A}">
                    <a16:rowId xmlns:a16="http://schemas.microsoft.com/office/drawing/2014/main" val="10011"/>
                  </a:ext>
                </a:extLst>
              </a:tr>
              <a:tr h="277627">
                <a:tc>
                  <a:txBody>
                    <a:bodyPr/>
                    <a:lstStyle/>
                    <a:p>
                      <a:r>
                        <a:rPr sz="1200"/>
                        <a:t>Base</a:t>
                      </a:r>
                    </a:p>
                  </a:txBody>
                  <a:tcPr/>
                </a:tc>
                <a:tc>
                  <a:txBody>
                    <a:bodyPr/>
                    <a:lstStyle/>
                    <a:p>
                      <a:r>
                        <a:rPr sz="1200" dirty="0"/>
                        <a:t>Num</a:t>
                      </a:r>
                      <a:r>
                        <a:rPr lang="en-IN" sz="1200" dirty="0"/>
                        <a:t>eric</a:t>
                      </a:r>
                      <a:r>
                        <a:rPr sz="1200" dirty="0"/>
                        <a:t>_</a:t>
                      </a:r>
                      <a:r>
                        <a:rPr sz="1200" dirty="0" err="1"/>
                        <a:t>Dist</a:t>
                      </a:r>
                      <a:endParaRPr sz="1200" dirty="0"/>
                    </a:p>
                  </a:txBody>
                  <a:tcPr/>
                </a:tc>
                <a:tc>
                  <a:txBody>
                    <a:bodyPr/>
                    <a:lstStyle/>
                    <a:p>
                      <a:pPr algn="ctr" fontAlgn="b"/>
                      <a:r>
                        <a:rPr lang="en-IN" sz="1200" b="0" i="0" u="none" strike="noStrike">
                          <a:solidFill>
                            <a:schemeClr val="tx1"/>
                          </a:solidFill>
                          <a:effectLst/>
                          <a:latin typeface="Calibri" panose="020F0502020204030204" pitchFamily="34" charset="0"/>
                        </a:rPr>
                        <a:t>72.70%</a:t>
                      </a:r>
                    </a:p>
                  </a:txBody>
                  <a:tcPr marL="6350" marR="6350" marT="6350" marB="0" anchor="ctr"/>
                </a:tc>
                <a:tc>
                  <a:txBody>
                    <a:bodyPr/>
                    <a:lstStyle/>
                    <a:p>
                      <a:pPr algn="ctr" fontAlgn="b"/>
                      <a:r>
                        <a:rPr lang="en-IN" sz="1200" b="0" i="0" u="none" strike="noStrike">
                          <a:solidFill>
                            <a:schemeClr val="tx1"/>
                          </a:solidFill>
                          <a:effectLst/>
                          <a:latin typeface="Calibri" panose="020F0502020204030204" pitchFamily="34" charset="0"/>
                        </a:rPr>
                        <a:t>75.22%</a:t>
                      </a:r>
                    </a:p>
                  </a:txBody>
                  <a:tcPr marL="6350" marR="6350" marT="6350" marB="0" anchor="ctr"/>
                </a:tc>
                <a:tc>
                  <a:txBody>
                    <a:bodyPr/>
                    <a:lstStyle/>
                    <a:p>
                      <a:pPr algn="ctr" fontAlgn="b"/>
                      <a:r>
                        <a:rPr lang="en-IN" sz="1200" b="0" i="0" u="none" strike="noStrike">
                          <a:solidFill>
                            <a:schemeClr val="tx1"/>
                          </a:solidFill>
                          <a:effectLst/>
                          <a:latin typeface="Calibri" panose="020F0502020204030204" pitchFamily="34" charset="0"/>
                        </a:rPr>
                        <a:t>66.57%</a:t>
                      </a:r>
                    </a:p>
                  </a:txBody>
                  <a:tcPr marL="6350" marR="6350" marT="6350" marB="0" anchor="ctr"/>
                </a:tc>
                <a:tc>
                  <a:txBody>
                    <a:bodyPr/>
                    <a:lstStyle/>
                    <a:p>
                      <a:pPr algn="ctr" fontAlgn="b"/>
                      <a:r>
                        <a:rPr lang="en-IN" sz="1200" b="0" i="0" u="none" strike="noStrike">
                          <a:solidFill>
                            <a:schemeClr val="tx1"/>
                          </a:solidFill>
                          <a:effectLst/>
                          <a:latin typeface="Calibri" panose="020F0502020204030204" pitchFamily="34" charset="0"/>
                        </a:rPr>
                        <a:t>66.48%</a:t>
                      </a:r>
                    </a:p>
                  </a:txBody>
                  <a:tcPr marL="6350" marR="6350" marT="6350" marB="0" anchor="ctr"/>
                </a:tc>
                <a:extLst>
                  <a:ext uri="{0D108BD9-81ED-4DB2-BD59-A6C34878D82A}">
                    <a16:rowId xmlns:a16="http://schemas.microsoft.com/office/drawing/2014/main" val="10012"/>
                  </a:ext>
                </a:extLst>
              </a:tr>
              <a:tr h="315686">
                <a:tc>
                  <a:txBody>
                    <a:bodyPr/>
                    <a:lstStyle/>
                    <a:p>
                      <a:r>
                        <a:rPr sz="1200"/>
                        <a:t>Base</a:t>
                      </a:r>
                    </a:p>
                  </a:txBody>
                  <a:tcPr/>
                </a:tc>
                <a:tc>
                  <a:txBody>
                    <a:bodyPr/>
                    <a:lstStyle/>
                    <a:p>
                      <a:r>
                        <a:rPr sz="1200" dirty="0"/>
                        <a:t>Comp2_Tv_GRP</a:t>
                      </a:r>
                    </a:p>
                  </a:txBody>
                  <a:tcPr/>
                </a:tc>
                <a:tc>
                  <a:txBody>
                    <a:bodyPr/>
                    <a:lstStyle/>
                    <a:p>
                      <a:pPr algn="ctr" fontAlgn="b"/>
                      <a:r>
                        <a:rPr lang="en-IN" sz="1200" b="0" i="0" u="none" strike="noStrike">
                          <a:solidFill>
                            <a:schemeClr val="tx1"/>
                          </a:solidFill>
                          <a:effectLst/>
                          <a:latin typeface="Calibri" panose="020F0502020204030204" pitchFamily="34" charset="0"/>
                        </a:rPr>
                        <a:t>-15.07%</a:t>
                      </a:r>
                    </a:p>
                  </a:txBody>
                  <a:tcPr marL="6350" marR="6350" marT="6350" marB="0" anchor="ctr"/>
                </a:tc>
                <a:tc>
                  <a:txBody>
                    <a:bodyPr/>
                    <a:lstStyle/>
                    <a:p>
                      <a:pPr algn="ctr" fontAlgn="b"/>
                      <a:r>
                        <a:rPr lang="en-IN" sz="1200" b="0" i="0" u="none" strike="noStrike">
                          <a:solidFill>
                            <a:schemeClr val="tx1"/>
                          </a:solidFill>
                          <a:effectLst/>
                          <a:latin typeface="Calibri" panose="020F0502020204030204" pitchFamily="34" charset="0"/>
                        </a:rPr>
                        <a:t>-19.69%</a:t>
                      </a:r>
                    </a:p>
                  </a:txBody>
                  <a:tcPr marL="6350" marR="6350" marT="6350" marB="0" anchor="ctr"/>
                </a:tc>
                <a:tc>
                  <a:txBody>
                    <a:bodyPr/>
                    <a:lstStyle/>
                    <a:p>
                      <a:pPr algn="ctr" fontAlgn="b"/>
                      <a:r>
                        <a:rPr lang="en-IN" sz="1200" b="0" i="0" u="none" strike="noStrike">
                          <a:solidFill>
                            <a:schemeClr val="tx1"/>
                          </a:solidFill>
                          <a:effectLst/>
                          <a:latin typeface="Calibri" panose="020F0502020204030204" pitchFamily="34" charset="0"/>
                        </a:rPr>
                        <a:t>-0.32%</a:t>
                      </a:r>
                    </a:p>
                  </a:txBody>
                  <a:tcPr marL="6350" marR="6350" marT="6350" marB="0" anchor="ctr"/>
                </a:tc>
                <a:tc>
                  <a:txBody>
                    <a:bodyPr/>
                    <a:lstStyle/>
                    <a:p>
                      <a:pPr algn="ctr" fontAlgn="b"/>
                      <a:r>
                        <a:rPr lang="en-IN" sz="1200" b="0" i="0" u="none" strike="noStrike">
                          <a:solidFill>
                            <a:schemeClr val="tx1"/>
                          </a:solidFill>
                          <a:effectLst/>
                          <a:latin typeface="Calibri" panose="020F0502020204030204" pitchFamily="34" charset="0"/>
                        </a:rPr>
                        <a:t>-0.50%</a:t>
                      </a:r>
                    </a:p>
                  </a:txBody>
                  <a:tcPr marL="6350" marR="6350" marT="6350" marB="0" anchor="ctr"/>
                </a:tc>
                <a:extLst>
                  <a:ext uri="{0D108BD9-81ED-4DB2-BD59-A6C34878D82A}">
                    <a16:rowId xmlns:a16="http://schemas.microsoft.com/office/drawing/2014/main" val="10013"/>
                  </a:ext>
                </a:extLst>
              </a:tr>
              <a:tr h="248911">
                <a:tc>
                  <a:txBody>
                    <a:bodyPr/>
                    <a:lstStyle/>
                    <a:p>
                      <a:r>
                        <a:rPr sz="1200"/>
                        <a:t>Base</a:t>
                      </a:r>
                    </a:p>
                  </a:txBody>
                  <a:tcPr/>
                </a:tc>
                <a:tc>
                  <a:txBody>
                    <a:bodyPr/>
                    <a:lstStyle/>
                    <a:p>
                      <a:r>
                        <a:rPr sz="1200"/>
                        <a:t>Seasonality</a:t>
                      </a:r>
                    </a:p>
                  </a:txBody>
                  <a:tcPr/>
                </a:tc>
                <a:tc>
                  <a:txBody>
                    <a:bodyPr/>
                    <a:lstStyle/>
                    <a:p>
                      <a:pPr algn="ctr" fontAlgn="b"/>
                      <a:r>
                        <a:rPr lang="en-IN" sz="1200" b="0" i="0" u="none" strike="noStrike">
                          <a:solidFill>
                            <a:schemeClr val="tx1"/>
                          </a:solidFill>
                          <a:effectLst/>
                          <a:latin typeface="Calibri" panose="020F0502020204030204" pitchFamily="34" charset="0"/>
                        </a:rPr>
                        <a:t>14.20%</a:t>
                      </a:r>
                    </a:p>
                  </a:txBody>
                  <a:tcPr marL="6350" marR="6350" marT="6350" marB="0" anchor="ctr"/>
                </a:tc>
                <a:tc>
                  <a:txBody>
                    <a:bodyPr/>
                    <a:lstStyle/>
                    <a:p>
                      <a:pPr algn="ctr" fontAlgn="b"/>
                      <a:r>
                        <a:rPr lang="en-IN" sz="1200" b="0" i="0" u="none" strike="noStrike">
                          <a:solidFill>
                            <a:schemeClr val="tx1"/>
                          </a:solidFill>
                          <a:effectLst/>
                          <a:latin typeface="Calibri" panose="020F0502020204030204" pitchFamily="34" charset="0"/>
                        </a:rPr>
                        <a:t>14.53%</a:t>
                      </a:r>
                    </a:p>
                  </a:txBody>
                  <a:tcPr marL="6350" marR="6350" marT="6350" marB="0" anchor="ctr"/>
                </a:tc>
                <a:tc>
                  <a:txBody>
                    <a:bodyPr/>
                    <a:lstStyle/>
                    <a:p>
                      <a:pPr algn="ctr" fontAlgn="b"/>
                      <a:r>
                        <a:rPr lang="en-IN" sz="1200" b="0" i="0" u="none" strike="noStrike">
                          <a:solidFill>
                            <a:schemeClr val="tx1"/>
                          </a:solidFill>
                          <a:effectLst/>
                          <a:latin typeface="Calibri" panose="020F0502020204030204" pitchFamily="34" charset="0"/>
                        </a:rPr>
                        <a:t>11.15%</a:t>
                      </a:r>
                    </a:p>
                  </a:txBody>
                  <a:tcPr marL="6350" marR="6350" marT="6350" marB="0" anchor="ctr"/>
                </a:tc>
                <a:tc>
                  <a:txBody>
                    <a:bodyPr/>
                    <a:lstStyle/>
                    <a:p>
                      <a:pPr algn="ctr" fontAlgn="b"/>
                      <a:r>
                        <a:rPr lang="en-IN" sz="1200" b="0" i="0" u="none" strike="noStrike">
                          <a:solidFill>
                            <a:schemeClr val="tx1"/>
                          </a:solidFill>
                          <a:effectLst/>
                          <a:latin typeface="Calibri" panose="020F0502020204030204" pitchFamily="34" charset="0"/>
                        </a:rPr>
                        <a:t>10.64%</a:t>
                      </a:r>
                    </a:p>
                  </a:txBody>
                  <a:tcPr marL="6350" marR="6350" marT="6350" marB="0" anchor="ctr"/>
                </a:tc>
                <a:extLst>
                  <a:ext uri="{0D108BD9-81ED-4DB2-BD59-A6C34878D82A}">
                    <a16:rowId xmlns:a16="http://schemas.microsoft.com/office/drawing/2014/main" val="10014"/>
                  </a:ext>
                </a:extLst>
              </a:tr>
              <a:tr h="248911">
                <a:tc>
                  <a:txBody>
                    <a:bodyPr/>
                    <a:lstStyle/>
                    <a:p>
                      <a:r>
                        <a:rPr sz="1200"/>
                        <a:t>Base</a:t>
                      </a:r>
                    </a:p>
                  </a:txBody>
                  <a:tcPr/>
                </a:tc>
                <a:tc>
                  <a:txBody>
                    <a:bodyPr/>
                    <a:lstStyle/>
                    <a:p>
                      <a:r>
                        <a:rPr sz="1200"/>
                        <a:t>Intercept</a:t>
                      </a:r>
                    </a:p>
                  </a:txBody>
                  <a:tcPr/>
                </a:tc>
                <a:tc>
                  <a:txBody>
                    <a:bodyPr/>
                    <a:lstStyle/>
                    <a:p>
                      <a:pPr algn="ctr" fontAlgn="b"/>
                      <a:r>
                        <a:rPr lang="en-IN" sz="1200" b="0" i="0" u="none" strike="noStrike">
                          <a:solidFill>
                            <a:schemeClr val="tx1"/>
                          </a:solidFill>
                          <a:effectLst/>
                          <a:latin typeface="Calibri" panose="020F0502020204030204" pitchFamily="34" charset="0"/>
                        </a:rPr>
                        <a:t>1.56%</a:t>
                      </a:r>
                    </a:p>
                  </a:txBody>
                  <a:tcPr marL="6350" marR="6350" marT="6350" marB="0" anchor="ctr"/>
                </a:tc>
                <a:tc>
                  <a:txBody>
                    <a:bodyPr/>
                    <a:lstStyle/>
                    <a:p>
                      <a:pPr algn="ctr" fontAlgn="b"/>
                      <a:r>
                        <a:rPr lang="en-IN" sz="1200" b="0" i="0" u="none" strike="noStrike">
                          <a:solidFill>
                            <a:schemeClr val="tx1"/>
                          </a:solidFill>
                          <a:effectLst/>
                          <a:latin typeface="Calibri" panose="020F0502020204030204" pitchFamily="34" charset="0"/>
                        </a:rPr>
                        <a:t>1.60%</a:t>
                      </a:r>
                    </a:p>
                  </a:txBody>
                  <a:tcPr marL="6350" marR="6350" marT="6350" marB="0" anchor="ctr"/>
                </a:tc>
                <a:tc>
                  <a:txBody>
                    <a:bodyPr/>
                    <a:lstStyle/>
                    <a:p>
                      <a:pPr algn="ctr" fontAlgn="b"/>
                      <a:r>
                        <a:rPr lang="en-IN" sz="1200" b="0" i="0" u="none" strike="noStrike">
                          <a:solidFill>
                            <a:schemeClr val="tx1"/>
                          </a:solidFill>
                          <a:effectLst/>
                          <a:latin typeface="Calibri" panose="020F0502020204030204" pitchFamily="34" charset="0"/>
                        </a:rPr>
                        <a:t>1.22%</a:t>
                      </a:r>
                    </a:p>
                  </a:txBody>
                  <a:tcPr marL="6350" marR="6350" marT="6350" marB="0" anchor="ctr"/>
                </a:tc>
                <a:tc>
                  <a:txBody>
                    <a:bodyPr/>
                    <a:lstStyle/>
                    <a:p>
                      <a:pPr algn="ctr" fontAlgn="b"/>
                      <a:r>
                        <a:rPr lang="en-IN" sz="1200" b="0" i="0" u="none" strike="noStrike" dirty="0">
                          <a:solidFill>
                            <a:schemeClr val="tx1"/>
                          </a:solidFill>
                          <a:effectLst/>
                          <a:latin typeface="Calibri" panose="020F0502020204030204" pitchFamily="34" charset="0"/>
                        </a:rPr>
                        <a:t>1.17%</a:t>
                      </a:r>
                    </a:p>
                  </a:txBody>
                  <a:tcPr marL="6350" marR="6350" marT="6350" marB="0" anchor="ctr"/>
                </a:tc>
                <a:extLst>
                  <a:ext uri="{0D108BD9-81ED-4DB2-BD59-A6C34878D82A}">
                    <a16:rowId xmlns:a16="http://schemas.microsoft.com/office/drawing/2014/main" val="1001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8" y="87086"/>
            <a:ext cx="8229600" cy="574448"/>
          </a:xfrm>
        </p:spPr>
        <p:txBody>
          <a:bodyPr>
            <a:normAutofit fontScale="90000"/>
          </a:bodyPr>
          <a:lstStyle/>
          <a:p>
            <a:r>
              <a:rPr lang="en-IN" u="sng" dirty="0"/>
              <a:t>ROAS Analysis (2019–2022)</a:t>
            </a:r>
            <a:endParaRPr u="sng" dirty="0"/>
          </a:p>
        </p:txBody>
      </p:sp>
      <p:graphicFrame>
        <p:nvGraphicFramePr>
          <p:cNvPr id="4" name="Table 3"/>
          <p:cNvGraphicFramePr>
            <a:graphicFrameLocks noGrp="1"/>
          </p:cNvGraphicFramePr>
          <p:nvPr>
            <p:extLst>
              <p:ext uri="{D42A27DB-BD31-4B8C-83A1-F6EECF244321}">
                <p14:modId xmlns:p14="http://schemas.microsoft.com/office/powerpoint/2010/main" val="2523880109"/>
              </p:ext>
            </p:extLst>
          </p:nvPr>
        </p:nvGraphicFramePr>
        <p:xfrm>
          <a:off x="457198" y="3331029"/>
          <a:ext cx="8556174" cy="3019260"/>
        </p:xfrm>
        <a:graphic>
          <a:graphicData uri="http://schemas.openxmlformats.org/drawingml/2006/table">
            <a:tbl>
              <a:tblPr firstRow="1" bandRow="1">
                <a:tableStyleId>{5C22544A-7EE6-4342-B048-85BDC9FD1C3A}</a:tableStyleId>
              </a:tblPr>
              <a:tblGrid>
                <a:gridCol w="1426029">
                  <a:extLst>
                    <a:ext uri="{9D8B030D-6E8A-4147-A177-3AD203B41FA5}">
                      <a16:colId xmlns:a16="http://schemas.microsoft.com/office/drawing/2014/main" val="20000"/>
                    </a:ext>
                  </a:extLst>
                </a:gridCol>
                <a:gridCol w="1426029">
                  <a:extLst>
                    <a:ext uri="{9D8B030D-6E8A-4147-A177-3AD203B41FA5}">
                      <a16:colId xmlns:a16="http://schemas.microsoft.com/office/drawing/2014/main" val="20001"/>
                    </a:ext>
                  </a:extLst>
                </a:gridCol>
                <a:gridCol w="1426029">
                  <a:extLst>
                    <a:ext uri="{9D8B030D-6E8A-4147-A177-3AD203B41FA5}">
                      <a16:colId xmlns:a16="http://schemas.microsoft.com/office/drawing/2014/main" val="20002"/>
                    </a:ext>
                  </a:extLst>
                </a:gridCol>
                <a:gridCol w="1426029">
                  <a:extLst>
                    <a:ext uri="{9D8B030D-6E8A-4147-A177-3AD203B41FA5}">
                      <a16:colId xmlns:a16="http://schemas.microsoft.com/office/drawing/2014/main" val="20003"/>
                    </a:ext>
                  </a:extLst>
                </a:gridCol>
                <a:gridCol w="1426029">
                  <a:extLst>
                    <a:ext uri="{9D8B030D-6E8A-4147-A177-3AD203B41FA5}">
                      <a16:colId xmlns:a16="http://schemas.microsoft.com/office/drawing/2014/main" val="20004"/>
                    </a:ext>
                  </a:extLst>
                </a:gridCol>
                <a:gridCol w="1426029">
                  <a:extLst>
                    <a:ext uri="{9D8B030D-6E8A-4147-A177-3AD203B41FA5}">
                      <a16:colId xmlns:a16="http://schemas.microsoft.com/office/drawing/2014/main" val="20005"/>
                    </a:ext>
                  </a:extLst>
                </a:gridCol>
              </a:tblGrid>
              <a:tr h="528410">
                <a:tc>
                  <a:txBody>
                    <a:bodyPr/>
                    <a:lstStyle/>
                    <a:p>
                      <a:r>
                        <a:rPr sz="1800" dirty="0"/>
                        <a:t>Type</a:t>
                      </a:r>
                    </a:p>
                  </a:txBody>
                  <a:tcPr/>
                </a:tc>
                <a:tc>
                  <a:txBody>
                    <a:bodyPr/>
                    <a:lstStyle/>
                    <a:p>
                      <a:r>
                        <a:rPr sz="1800" dirty="0"/>
                        <a:t>Tactics</a:t>
                      </a:r>
                    </a:p>
                  </a:txBody>
                  <a:tcPr/>
                </a:tc>
                <a:tc>
                  <a:txBody>
                    <a:bodyPr/>
                    <a:lstStyle/>
                    <a:p>
                      <a:r>
                        <a:rPr sz="1800" dirty="0"/>
                        <a:t>2019</a:t>
                      </a:r>
                    </a:p>
                  </a:txBody>
                  <a:tcPr/>
                </a:tc>
                <a:tc>
                  <a:txBody>
                    <a:bodyPr/>
                    <a:lstStyle/>
                    <a:p>
                      <a:r>
                        <a:rPr sz="1800" dirty="0"/>
                        <a:t>2020</a:t>
                      </a:r>
                    </a:p>
                  </a:txBody>
                  <a:tcPr/>
                </a:tc>
                <a:tc>
                  <a:txBody>
                    <a:bodyPr/>
                    <a:lstStyle/>
                    <a:p>
                      <a:r>
                        <a:rPr sz="1800" dirty="0"/>
                        <a:t>2021</a:t>
                      </a:r>
                    </a:p>
                  </a:txBody>
                  <a:tcPr/>
                </a:tc>
                <a:tc>
                  <a:txBody>
                    <a:bodyPr/>
                    <a:lstStyle/>
                    <a:p>
                      <a:r>
                        <a:rPr sz="1800" dirty="0"/>
                        <a:t>2022</a:t>
                      </a:r>
                    </a:p>
                  </a:txBody>
                  <a:tcPr/>
                </a:tc>
                <a:extLst>
                  <a:ext uri="{0D108BD9-81ED-4DB2-BD59-A6C34878D82A}">
                    <a16:rowId xmlns:a16="http://schemas.microsoft.com/office/drawing/2014/main" val="10000"/>
                  </a:ext>
                </a:extLst>
              </a:tr>
              <a:tr h="302821">
                <a:tc>
                  <a:txBody>
                    <a:bodyPr/>
                    <a:lstStyle/>
                    <a:p>
                      <a:r>
                        <a:rPr sz="1400" dirty="0"/>
                        <a:t>Marketing</a:t>
                      </a:r>
                    </a:p>
                  </a:txBody>
                  <a:tcPr/>
                </a:tc>
                <a:tc>
                  <a:txBody>
                    <a:bodyPr/>
                    <a:lstStyle/>
                    <a:p>
                      <a:r>
                        <a:rPr sz="1400" dirty="0"/>
                        <a:t>TV</a:t>
                      </a:r>
                    </a:p>
                  </a:txBody>
                  <a:tcPr/>
                </a:tc>
                <a:tc>
                  <a:txBody>
                    <a:bodyPr/>
                    <a:lstStyle/>
                    <a:p>
                      <a:pPr algn="l" fontAlgn="b"/>
                      <a:r>
                        <a:rPr lang="en-IN" sz="1400" b="0" i="0" u="none" strike="noStrike" dirty="0">
                          <a:solidFill>
                            <a:srgbClr val="000000"/>
                          </a:solidFill>
                          <a:effectLst/>
                          <a:latin typeface="Calibri" panose="020F0502020204030204" pitchFamily="34" charset="0"/>
                        </a:rPr>
                        <a:t>                      1.20 </a:t>
                      </a:r>
                    </a:p>
                  </a:txBody>
                  <a:tcPr marL="6350" marR="6350" marT="6350" marB="0" anchor="ctr"/>
                </a:tc>
                <a:tc>
                  <a:txBody>
                    <a:bodyPr/>
                    <a:lstStyle/>
                    <a:p>
                      <a:pPr algn="l" fontAlgn="b"/>
                      <a:r>
                        <a:rPr lang="en-IN" sz="1400" b="0" i="0" u="none" strike="noStrike" dirty="0">
                          <a:solidFill>
                            <a:srgbClr val="000000"/>
                          </a:solidFill>
                          <a:effectLst/>
                          <a:latin typeface="Calibri" panose="020F0502020204030204" pitchFamily="34" charset="0"/>
                        </a:rPr>
                        <a:t>                      1.41 </a:t>
                      </a:r>
                    </a:p>
                  </a:txBody>
                  <a:tcPr marL="6350" marR="6350" marT="6350" marB="0" anchor="ctr"/>
                </a:tc>
                <a:tc>
                  <a:txBody>
                    <a:bodyPr/>
                    <a:lstStyle/>
                    <a:p>
                      <a:pPr algn="l" fontAlgn="b"/>
                      <a:r>
                        <a:rPr lang="en-IN" sz="1400" b="0" i="0" u="none" strike="noStrike" dirty="0">
                          <a:solidFill>
                            <a:srgbClr val="000000"/>
                          </a:solidFill>
                          <a:effectLst/>
                          <a:latin typeface="Calibri" panose="020F0502020204030204" pitchFamily="34" charset="0"/>
                        </a:rPr>
                        <a:t>                      1.48 </a:t>
                      </a:r>
                    </a:p>
                  </a:txBody>
                  <a:tcPr marL="6350" marR="6350" marT="6350" marB="0" anchor="ctr"/>
                </a:tc>
                <a:tc>
                  <a:txBody>
                    <a:bodyPr/>
                    <a:lstStyle/>
                    <a:p>
                      <a:pPr algn="l" fontAlgn="b"/>
                      <a:r>
                        <a:rPr lang="en-IN" sz="1400" b="0" i="0" u="none" strike="noStrike" dirty="0">
                          <a:solidFill>
                            <a:srgbClr val="000000"/>
                          </a:solidFill>
                          <a:effectLst/>
                          <a:latin typeface="Calibri" panose="020F0502020204030204" pitchFamily="34" charset="0"/>
                        </a:rPr>
                        <a:t>                      1.60 </a:t>
                      </a:r>
                    </a:p>
                  </a:txBody>
                  <a:tcPr marL="6350" marR="6350" marT="6350" marB="0" anchor="ctr"/>
                </a:tc>
                <a:extLst>
                  <a:ext uri="{0D108BD9-81ED-4DB2-BD59-A6C34878D82A}">
                    <a16:rowId xmlns:a16="http://schemas.microsoft.com/office/drawing/2014/main" val="10001"/>
                  </a:ext>
                </a:extLst>
              </a:tr>
              <a:tr h="302821">
                <a:tc>
                  <a:txBody>
                    <a:bodyPr/>
                    <a:lstStyle/>
                    <a:p>
                      <a:r>
                        <a:rPr sz="1400"/>
                        <a:t>Marketing</a:t>
                      </a:r>
                    </a:p>
                  </a:txBody>
                  <a:tcPr/>
                </a:tc>
                <a:tc>
                  <a:txBody>
                    <a:bodyPr/>
                    <a:lstStyle/>
                    <a:p>
                      <a:r>
                        <a:rPr sz="1400" dirty="0"/>
                        <a:t>Newspaper</a:t>
                      </a:r>
                    </a:p>
                  </a:txBody>
                  <a:tcPr/>
                </a:tc>
                <a:tc>
                  <a:txBody>
                    <a:bodyPr/>
                    <a:lstStyle/>
                    <a:p>
                      <a:pPr algn="l" fontAlgn="b"/>
                      <a:r>
                        <a:rPr lang="en-IN" sz="1400" b="0" i="0" u="none" strike="noStrike" dirty="0">
                          <a:solidFill>
                            <a:srgbClr val="000000"/>
                          </a:solidFill>
                          <a:effectLst/>
                          <a:latin typeface="Calibri" panose="020F0502020204030204" pitchFamily="34" charset="0"/>
                        </a:rPr>
                        <a:t>                      2.17 </a:t>
                      </a:r>
                    </a:p>
                  </a:txBody>
                  <a:tcPr marL="6350" marR="6350" marT="6350" marB="0" anchor="ctr"/>
                </a:tc>
                <a:tc>
                  <a:txBody>
                    <a:bodyPr/>
                    <a:lstStyle/>
                    <a:p>
                      <a:pPr algn="l" fontAlgn="b"/>
                      <a:r>
                        <a:rPr lang="en-IN" sz="1400" b="0" i="0" u="none" strike="noStrike" dirty="0">
                          <a:solidFill>
                            <a:srgbClr val="000000"/>
                          </a:solidFill>
                          <a:effectLst/>
                          <a:latin typeface="Calibri" panose="020F0502020204030204" pitchFamily="34" charset="0"/>
                        </a:rPr>
                        <a:t>                      1.68 </a:t>
                      </a:r>
                    </a:p>
                  </a:txBody>
                  <a:tcPr marL="6350" marR="6350" marT="6350" marB="0" anchor="ctr"/>
                </a:tc>
                <a:tc>
                  <a:txBody>
                    <a:bodyPr/>
                    <a:lstStyle/>
                    <a:p>
                      <a:pPr algn="l" fontAlgn="b"/>
                      <a:r>
                        <a:rPr lang="en-IN" sz="1400" b="0" i="0" u="none" strike="noStrike">
                          <a:solidFill>
                            <a:srgbClr val="000000"/>
                          </a:solidFill>
                          <a:effectLst/>
                          <a:latin typeface="Calibri" panose="020F0502020204030204" pitchFamily="34" charset="0"/>
                        </a:rPr>
                        <a:t>  </a:t>
                      </a:r>
                      <a:endParaRPr lang="en-IN" sz="14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l" fontAlgn="b"/>
                      <a:r>
                        <a:rPr lang="en-IN" sz="1400" b="0" i="0" u="none" strike="noStrike" dirty="0">
                          <a:solidFill>
                            <a:srgbClr val="000000"/>
                          </a:solidFill>
                          <a:effectLst/>
                          <a:latin typeface="Calibri" panose="020F0502020204030204" pitchFamily="34" charset="0"/>
                        </a:rPr>
                        <a:t>                      3.51 </a:t>
                      </a:r>
                    </a:p>
                  </a:txBody>
                  <a:tcPr marL="6350" marR="6350" marT="6350" marB="0" anchor="ctr"/>
                </a:tc>
                <a:extLst>
                  <a:ext uri="{0D108BD9-81ED-4DB2-BD59-A6C34878D82A}">
                    <a16:rowId xmlns:a16="http://schemas.microsoft.com/office/drawing/2014/main" val="10002"/>
                  </a:ext>
                </a:extLst>
              </a:tr>
              <a:tr h="291935">
                <a:tc>
                  <a:txBody>
                    <a:bodyPr/>
                    <a:lstStyle/>
                    <a:p>
                      <a:r>
                        <a:rPr sz="1400"/>
                        <a:t>Marketing</a:t>
                      </a:r>
                    </a:p>
                  </a:txBody>
                  <a:tcPr/>
                </a:tc>
                <a:tc>
                  <a:txBody>
                    <a:bodyPr/>
                    <a:lstStyle/>
                    <a:p>
                      <a:r>
                        <a:rPr sz="1400"/>
                        <a:t>Fb_Ig</a:t>
                      </a:r>
                    </a:p>
                  </a:txBody>
                  <a:tcPr/>
                </a:tc>
                <a:tc>
                  <a:txBody>
                    <a:bodyPr/>
                    <a:lstStyle/>
                    <a:p>
                      <a:pPr algn="l" fontAlgn="b"/>
                      <a:r>
                        <a:rPr lang="en-IN" sz="1400" b="0" i="0" u="none" strike="noStrike" dirty="0">
                          <a:solidFill>
                            <a:srgbClr val="000000"/>
                          </a:solidFill>
                          <a:effectLst/>
                          <a:latin typeface="Calibri" panose="020F0502020204030204" pitchFamily="34" charset="0"/>
                        </a:rPr>
                        <a:t>                      2.04 </a:t>
                      </a:r>
                    </a:p>
                  </a:txBody>
                  <a:tcPr marL="6350" marR="6350" marT="6350" marB="0" anchor="ctr"/>
                </a:tc>
                <a:tc>
                  <a:txBody>
                    <a:bodyPr/>
                    <a:lstStyle/>
                    <a:p>
                      <a:pPr algn="l" fontAlgn="b"/>
                      <a:r>
                        <a:rPr lang="en-IN" sz="1400" b="0" i="0" u="none" strike="noStrike" dirty="0">
                          <a:solidFill>
                            <a:srgbClr val="000000"/>
                          </a:solidFill>
                          <a:effectLst/>
                          <a:latin typeface="Calibri" panose="020F0502020204030204" pitchFamily="34" charset="0"/>
                        </a:rPr>
                        <a:t>                      1.49 </a:t>
                      </a:r>
                    </a:p>
                  </a:txBody>
                  <a:tcPr marL="6350" marR="6350" marT="6350" marB="0" anchor="ctr"/>
                </a:tc>
                <a:tc>
                  <a:txBody>
                    <a:bodyPr/>
                    <a:lstStyle/>
                    <a:p>
                      <a:pPr algn="l" fontAlgn="b"/>
                      <a:r>
                        <a:rPr lang="en-IN" sz="1400" b="0" i="0" u="none" strike="noStrike" dirty="0">
                          <a:solidFill>
                            <a:srgbClr val="000000"/>
                          </a:solidFill>
                          <a:effectLst/>
                          <a:latin typeface="Calibri" panose="020F0502020204030204" pitchFamily="34" charset="0"/>
                        </a:rPr>
                        <a:t>                 120.15 </a:t>
                      </a:r>
                    </a:p>
                  </a:txBody>
                  <a:tcPr marL="6350" marR="6350" marT="6350" marB="0" anchor="ctr"/>
                </a:tc>
                <a:tc>
                  <a:txBody>
                    <a:bodyPr/>
                    <a:lstStyle/>
                    <a:p>
                      <a:pPr algn="l" fontAlgn="b"/>
                      <a:r>
                        <a:rPr lang="en-IN" sz="1400" b="0" i="0" u="none" strike="noStrike" dirty="0">
                          <a:solidFill>
                            <a:srgbClr val="000000"/>
                          </a:solidFill>
                          <a:effectLst/>
                          <a:latin typeface="Calibri" panose="020F0502020204030204" pitchFamily="34" charset="0"/>
                        </a:rPr>
                        <a:t>                      1.07 </a:t>
                      </a:r>
                    </a:p>
                  </a:txBody>
                  <a:tcPr marL="6350" marR="6350" marT="6350" marB="0" anchor="ctr"/>
                </a:tc>
                <a:extLst>
                  <a:ext uri="{0D108BD9-81ED-4DB2-BD59-A6C34878D82A}">
                    <a16:rowId xmlns:a16="http://schemas.microsoft.com/office/drawing/2014/main" val="10003"/>
                  </a:ext>
                </a:extLst>
              </a:tr>
              <a:tr h="335478">
                <a:tc>
                  <a:txBody>
                    <a:bodyPr/>
                    <a:lstStyle/>
                    <a:p>
                      <a:r>
                        <a:rPr sz="1400" dirty="0"/>
                        <a:t>Marketing</a:t>
                      </a:r>
                    </a:p>
                  </a:txBody>
                  <a:tcPr/>
                </a:tc>
                <a:tc>
                  <a:txBody>
                    <a:bodyPr/>
                    <a:lstStyle/>
                    <a:p>
                      <a:r>
                        <a:rPr sz="1400"/>
                        <a:t>Whatsapp</a:t>
                      </a:r>
                    </a:p>
                  </a:txBody>
                  <a:tcPr/>
                </a:tc>
                <a:tc>
                  <a:txBody>
                    <a:bodyPr/>
                    <a:lstStyle/>
                    <a:p>
                      <a:pPr algn="l" fontAlgn="b"/>
                      <a:r>
                        <a:rPr lang="en-IN" sz="1400" b="0" i="0" u="none" strike="noStrike">
                          <a:solidFill>
                            <a:srgbClr val="000000"/>
                          </a:solidFill>
                          <a:effectLst/>
                          <a:latin typeface="Calibri" panose="020F0502020204030204" pitchFamily="34" charset="0"/>
                        </a:rPr>
                        <a:t>  </a:t>
                      </a:r>
                      <a:endParaRPr lang="en-IN" sz="14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l" fontAlgn="b"/>
                      <a:r>
                        <a:rPr lang="en-IN" sz="1400" b="0" i="0" u="none" strike="noStrike" dirty="0">
                          <a:solidFill>
                            <a:srgbClr val="000000"/>
                          </a:solidFill>
                          <a:effectLst/>
                          <a:latin typeface="Calibri" panose="020F0502020204030204" pitchFamily="34" charset="0"/>
                        </a:rPr>
                        <a:t>                      6.81 </a:t>
                      </a:r>
                    </a:p>
                  </a:txBody>
                  <a:tcPr marL="6350" marR="6350" marT="6350" marB="0" anchor="ctr"/>
                </a:tc>
                <a:tc>
                  <a:txBody>
                    <a:bodyPr/>
                    <a:lstStyle/>
                    <a:p>
                      <a:pPr algn="l" fontAlgn="b"/>
                      <a:r>
                        <a:rPr lang="en-IN" sz="1400" b="0" i="0" u="none" strike="noStrike">
                          <a:solidFill>
                            <a:srgbClr val="000000"/>
                          </a:solidFill>
                          <a:effectLst/>
                          <a:latin typeface="Calibri" panose="020F0502020204030204" pitchFamily="34" charset="0"/>
                        </a:rPr>
                        <a:t>  </a:t>
                      </a:r>
                      <a:endParaRPr lang="en-IN" sz="14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l" fontAlgn="b"/>
                      <a:r>
                        <a:rPr lang="en-IN" sz="1400" b="0" i="0" u="none" strike="noStrike">
                          <a:solidFill>
                            <a:srgbClr val="000000"/>
                          </a:solidFill>
                          <a:effectLst/>
                          <a:latin typeface="Calibri" panose="020F0502020204030204" pitchFamily="34" charset="0"/>
                        </a:rPr>
                        <a:t>  </a:t>
                      </a:r>
                      <a:endParaRPr lang="en-IN" sz="14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0004"/>
                  </a:ext>
                </a:extLst>
              </a:tr>
              <a:tr h="304800">
                <a:tc>
                  <a:txBody>
                    <a:bodyPr/>
                    <a:lstStyle/>
                    <a:p>
                      <a:r>
                        <a:rPr sz="1400"/>
                        <a:t>Marketing</a:t>
                      </a:r>
                    </a:p>
                  </a:txBody>
                  <a:tcPr/>
                </a:tc>
                <a:tc>
                  <a:txBody>
                    <a:bodyPr/>
                    <a:lstStyle/>
                    <a:p>
                      <a:r>
                        <a:rPr sz="1400"/>
                        <a:t>Youtube</a:t>
                      </a:r>
                    </a:p>
                  </a:txBody>
                  <a:tcPr/>
                </a:tc>
                <a:tc>
                  <a:txBody>
                    <a:bodyPr/>
                    <a:lstStyle/>
                    <a:p>
                      <a:pPr algn="l" fontAlgn="b"/>
                      <a:r>
                        <a:rPr lang="en-IN" sz="1400" b="0" i="0" u="none" strike="noStrike" dirty="0">
                          <a:solidFill>
                            <a:srgbClr val="000000"/>
                          </a:solidFill>
                          <a:effectLst/>
                          <a:latin typeface="Calibri" panose="020F0502020204030204" pitchFamily="34" charset="0"/>
                        </a:rPr>
                        <a:t>                      0.70 </a:t>
                      </a:r>
                    </a:p>
                  </a:txBody>
                  <a:tcPr marL="6350" marR="6350" marT="6350" marB="0" anchor="ctr"/>
                </a:tc>
                <a:tc>
                  <a:txBody>
                    <a:bodyPr/>
                    <a:lstStyle/>
                    <a:p>
                      <a:pPr algn="l" fontAlgn="b"/>
                      <a:r>
                        <a:rPr lang="en-IN" sz="1400" b="0" i="0" u="none" strike="noStrike" dirty="0">
                          <a:solidFill>
                            <a:srgbClr val="000000"/>
                          </a:solidFill>
                          <a:effectLst/>
                          <a:latin typeface="Calibri" panose="020F0502020204030204" pitchFamily="34" charset="0"/>
                        </a:rPr>
                        <a:t>                      0.64 </a:t>
                      </a:r>
                    </a:p>
                  </a:txBody>
                  <a:tcPr marL="6350" marR="6350" marT="6350" marB="0" anchor="ctr"/>
                </a:tc>
                <a:tc>
                  <a:txBody>
                    <a:bodyPr/>
                    <a:lstStyle/>
                    <a:p>
                      <a:pPr algn="l" fontAlgn="b"/>
                      <a:r>
                        <a:rPr lang="en-IN" sz="1400" b="0" i="0" u="none" strike="noStrike" dirty="0">
                          <a:solidFill>
                            <a:srgbClr val="000000"/>
                          </a:solidFill>
                          <a:effectLst/>
                          <a:latin typeface="Calibri" panose="020F0502020204030204" pitchFamily="34" charset="0"/>
                        </a:rPr>
                        <a:t>                      1.66 </a:t>
                      </a:r>
                    </a:p>
                  </a:txBody>
                  <a:tcPr marL="6350" marR="6350" marT="6350" marB="0" anchor="ctr"/>
                </a:tc>
                <a:tc>
                  <a:txBody>
                    <a:bodyPr/>
                    <a:lstStyle/>
                    <a:p>
                      <a:pPr algn="l" fontAlgn="b"/>
                      <a:r>
                        <a:rPr lang="en-IN" sz="1400" b="0" i="0" u="none" strike="noStrike" dirty="0">
                          <a:solidFill>
                            <a:srgbClr val="000000"/>
                          </a:solidFill>
                          <a:effectLst/>
                          <a:latin typeface="Calibri" panose="020F0502020204030204" pitchFamily="34" charset="0"/>
                        </a:rPr>
                        <a:t>                      1.07 </a:t>
                      </a:r>
                    </a:p>
                  </a:txBody>
                  <a:tcPr marL="6350" marR="6350" marT="6350" marB="0" anchor="ctr"/>
                </a:tc>
                <a:extLst>
                  <a:ext uri="{0D108BD9-81ED-4DB2-BD59-A6C34878D82A}">
                    <a16:rowId xmlns:a16="http://schemas.microsoft.com/office/drawing/2014/main" val="10005"/>
                  </a:ext>
                </a:extLst>
              </a:tr>
              <a:tr h="293915">
                <a:tc>
                  <a:txBody>
                    <a:bodyPr/>
                    <a:lstStyle/>
                    <a:p>
                      <a:r>
                        <a:rPr sz="1400"/>
                        <a:t>Marketing</a:t>
                      </a:r>
                    </a:p>
                  </a:txBody>
                  <a:tcPr/>
                </a:tc>
                <a:tc>
                  <a:txBody>
                    <a:bodyPr/>
                    <a:lstStyle/>
                    <a:p>
                      <a:r>
                        <a:rPr sz="1400"/>
                        <a:t>Hotstar</a:t>
                      </a:r>
                    </a:p>
                  </a:txBody>
                  <a:tcPr/>
                </a:tc>
                <a:tc>
                  <a:txBody>
                    <a:bodyPr/>
                    <a:lstStyle/>
                    <a:p>
                      <a:pPr algn="l" fontAlgn="b"/>
                      <a:r>
                        <a:rPr lang="en-IN" sz="1400" b="0" i="0" u="none" strike="noStrike" dirty="0">
                          <a:solidFill>
                            <a:srgbClr val="000000"/>
                          </a:solidFill>
                          <a:effectLst/>
                          <a:latin typeface="Calibri" panose="020F0502020204030204" pitchFamily="34" charset="0"/>
                        </a:rPr>
                        <a:t>                      7.70 </a:t>
                      </a:r>
                    </a:p>
                  </a:txBody>
                  <a:tcPr marL="6350" marR="6350" marT="6350" marB="0" anchor="ctr"/>
                </a:tc>
                <a:tc>
                  <a:txBody>
                    <a:bodyPr/>
                    <a:lstStyle/>
                    <a:p>
                      <a:pPr algn="l" fontAlgn="b"/>
                      <a:r>
                        <a:rPr lang="en-IN" sz="1400" b="0" i="0" u="none" strike="noStrike" dirty="0">
                          <a:solidFill>
                            <a:srgbClr val="000000"/>
                          </a:solidFill>
                          <a:effectLst/>
                          <a:latin typeface="Calibri" panose="020F0502020204030204" pitchFamily="34" charset="0"/>
                        </a:rPr>
                        <a:t>                      1.10 </a:t>
                      </a:r>
                    </a:p>
                  </a:txBody>
                  <a:tcPr marL="6350" marR="6350" marT="6350" marB="0" anchor="ctr"/>
                </a:tc>
                <a:tc>
                  <a:txBody>
                    <a:bodyPr/>
                    <a:lstStyle/>
                    <a:p>
                      <a:pPr algn="l" fontAlgn="b"/>
                      <a:r>
                        <a:rPr lang="en-IN" sz="1400" b="0" i="0" u="none" strike="noStrike">
                          <a:solidFill>
                            <a:srgbClr val="000000"/>
                          </a:solidFill>
                          <a:effectLst/>
                          <a:latin typeface="Calibri" panose="020F0502020204030204" pitchFamily="34" charset="0"/>
                        </a:rPr>
                        <a:t>  </a:t>
                      </a:r>
                      <a:endParaRPr lang="en-IN" sz="14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l" fontAlgn="b"/>
                      <a:r>
                        <a:rPr lang="en-IN" sz="1400" b="0" i="0" u="none" strike="noStrike" dirty="0">
                          <a:solidFill>
                            <a:srgbClr val="000000"/>
                          </a:solidFill>
                          <a:effectLst/>
                          <a:latin typeface="Calibri" panose="020F0502020204030204" pitchFamily="34" charset="0"/>
                        </a:rPr>
                        <a:t>                      3.24 </a:t>
                      </a:r>
                    </a:p>
                  </a:txBody>
                  <a:tcPr marL="6350" marR="6350" marT="6350" marB="0" anchor="ctr"/>
                </a:tc>
                <a:extLst>
                  <a:ext uri="{0D108BD9-81ED-4DB2-BD59-A6C34878D82A}">
                    <a16:rowId xmlns:a16="http://schemas.microsoft.com/office/drawing/2014/main" val="10006"/>
                  </a:ext>
                </a:extLst>
              </a:tr>
              <a:tr h="283029">
                <a:tc>
                  <a:txBody>
                    <a:bodyPr/>
                    <a:lstStyle/>
                    <a:p>
                      <a:r>
                        <a:rPr sz="1400"/>
                        <a:t>Marketing</a:t>
                      </a:r>
                    </a:p>
                  </a:txBody>
                  <a:tcPr/>
                </a:tc>
                <a:tc>
                  <a:txBody>
                    <a:bodyPr/>
                    <a:lstStyle/>
                    <a:p>
                      <a:r>
                        <a:rPr sz="1400"/>
                        <a:t>Jio</a:t>
                      </a:r>
                    </a:p>
                  </a:txBody>
                  <a:tcPr/>
                </a:tc>
                <a:tc>
                  <a:txBody>
                    <a:bodyPr/>
                    <a:lstStyle/>
                    <a:p>
                      <a:pPr algn="l" fontAlgn="b"/>
                      <a:r>
                        <a:rPr lang="en-IN" sz="1400" b="0" i="0" u="none" strike="noStrike" dirty="0">
                          <a:solidFill>
                            <a:srgbClr val="000000"/>
                          </a:solidFill>
                          <a:effectLst/>
                          <a:latin typeface="Calibri" panose="020F0502020204030204" pitchFamily="34" charset="0"/>
                        </a:rPr>
                        <a:t>                      0.56 </a:t>
                      </a:r>
                    </a:p>
                  </a:txBody>
                  <a:tcPr marL="6350" marR="6350" marT="6350" marB="0" anchor="ctr"/>
                </a:tc>
                <a:tc>
                  <a:txBody>
                    <a:bodyPr/>
                    <a:lstStyle/>
                    <a:p>
                      <a:pPr algn="l" fontAlgn="b"/>
                      <a:r>
                        <a:rPr lang="en-IN" sz="1400" b="0" i="0" u="none" strike="noStrike" dirty="0">
                          <a:solidFill>
                            <a:srgbClr val="000000"/>
                          </a:solidFill>
                          <a:effectLst/>
                          <a:latin typeface="Calibri" panose="020F0502020204030204" pitchFamily="34" charset="0"/>
                        </a:rPr>
                        <a:t>                      2.16 </a:t>
                      </a:r>
                    </a:p>
                  </a:txBody>
                  <a:tcPr marL="6350" marR="6350" marT="6350" marB="0" anchor="ctr"/>
                </a:tc>
                <a:tc>
                  <a:txBody>
                    <a:bodyPr/>
                    <a:lstStyle/>
                    <a:p>
                      <a:pPr algn="l" fontAlgn="b"/>
                      <a:r>
                        <a:rPr lang="en-IN" sz="1400" b="0" i="0" u="none" strike="noStrike">
                          <a:solidFill>
                            <a:srgbClr val="000000"/>
                          </a:solidFill>
                          <a:effectLst/>
                          <a:latin typeface="Calibri" panose="020F0502020204030204" pitchFamily="34" charset="0"/>
                        </a:rPr>
                        <a:t>  </a:t>
                      </a:r>
                      <a:endParaRPr lang="en-IN" sz="14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l" fontAlgn="b"/>
                      <a:r>
                        <a:rPr lang="en-IN" sz="1400" b="0" i="0" u="none" strike="noStrike">
                          <a:solidFill>
                            <a:srgbClr val="000000"/>
                          </a:solidFill>
                          <a:effectLst/>
                          <a:latin typeface="Calibri" panose="020F0502020204030204" pitchFamily="34" charset="0"/>
                        </a:rPr>
                        <a:t>  </a:t>
                      </a:r>
                      <a:endParaRPr lang="en-IN" sz="14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0007"/>
                  </a:ext>
                </a:extLst>
              </a:tr>
              <a:tr h="326572">
                <a:tc>
                  <a:txBody>
                    <a:bodyPr/>
                    <a:lstStyle/>
                    <a:p>
                      <a:r>
                        <a:rPr sz="1400"/>
                        <a:t>Marketing</a:t>
                      </a:r>
                    </a:p>
                  </a:txBody>
                  <a:tcPr/>
                </a:tc>
                <a:tc>
                  <a:txBody>
                    <a:bodyPr/>
                    <a:lstStyle/>
                    <a:p>
                      <a:r>
                        <a:rPr sz="1400" dirty="0" err="1"/>
                        <a:t>Google_Display</a:t>
                      </a:r>
                      <a:endParaRPr sz="1400" dirty="0"/>
                    </a:p>
                  </a:txBody>
                  <a:tcPr/>
                </a:tc>
                <a:tc>
                  <a:txBody>
                    <a:bodyPr/>
                    <a:lstStyle/>
                    <a:p>
                      <a:pPr algn="l" fontAlgn="b"/>
                      <a:r>
                        <a:rPr lang="en-IN" sz="1400" b="0" i="0" u="none" strike="noStrike" dirty="0">
                          <a:solidFill>
                            <a:srgbClr val="000000"/>
                          </a:solidFill>
                          <a:effectLst/>
                          <a:latin typeface="Calibri" panose="020F0502020204030204" pitchFamily="34" charset="0"/>
                        </a:rPr>
                        <a:t>                      2.39 </a:t>
                      </a:r>
                    </a:p>
                  </a:txBody>
                  <a:tcPr marL="6350" marR="6350" marT="6350" marB="0" anchor="ctr"/>
                </a:tc>
                <a:tc>
                  <a:txBody>
                    <a:bodyPr/>
                    <a:lstStyle/>
                    <a:p>
                      <a:pPr algn="l" fontAlgn="b"/>
                      <a:r>
                        <a:rPr lang="en-IN" sz="1400" b="0" i="0" u="none" strike="noStrike">
                          <a:solidFill>
                            <a:srgbClr val="000000"/>
                          </a:solidFill>
                          <a:effectLst/>
                          <a:latin typeface="Calibri" panose="020F0502020204030204" pitchFamily="34" charset="0"/>
                        </a:rPr>
                        <a:t>  </a:t>
                      </a:r>
                      <a:endParaRPr lang="en-IN" sz="14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l" fontAlgn="b"/>
                      <a:r>
                        <a:rPr lang="en-IN" sz="1400" b="0" i="0" u="none" strike="noStrike" dirty="0">
                          <a:solidFill>
                            <a:srgbClr val="000000"/>
                          </a:solidFill>
                          <a:effectLst/>
                          <a:latin typeface="Calibri" panose="020F0502020204030204" pitchFamily="34" charset="0"/>
                        </a:rPr>
                        <a:t>                      4.61 </a:t>
                      </a:r>
                    </a:p>
                  </a:txBody>
                  <a:tcPr marL="6350" marR="6350" marT="6350" marB="0" anchor="ctr"/>
                </a:tc>
                <a:tc>
                  <a:txBody>
                    <a:bodyPr/>
                    <a:lstStyle/>
                    <a:p>
                      <a:pPr algn="l" fontAlgn="b"/>
                      <a:r>
                        <a:rPr lang="en-IN" sz="1400" b="0" i="0" u="none" strike="noStrike">
                          <a:solidFill>
                            <a:srgbClr val="000000"/>
                          </a:solidFill>
                          <a:effectLst/>
                          <a:latin typeface="Calibri" panose="020F0502020204030204" pitchFamily="34" charset="0"/>
                        </a:rPr>
                        <a:t>  </a:t>
                      </a:r>
                      <a:endParaRPr lang="en-IN" sz="14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0008"/>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56359013"/>
              </p:ext>
            </p:extLst>
          </p:nvPr>
        </p:nvGraphicFramePr>
        <p:xfrm>
          <a:off x="457199" y="2471057"/>
          <a:ext cx="8556175" cy="783772"/>
        </p:xfrm>
        <a:graphic>
          <a:graphicData uri="http://schemas.openxmlformats.org/drawingml/2006/table">
            <a:tbl>
              <a:tblPr firstRow="1" bandRow="1">
                <a:tableStyleId>{5C22544A-7EE6-4342-B048-85BDC9FD1C3A}</a:tableStyleId>
              </a:tblPr>
              <a:tblGrid>
                <a:gridCol w="1711235">
                  <a:extLst>
                    <a:ext uri="{9D8B030D-6E8A-4147-A177-3AD203B41FA5}">
                      <a16:colId xmlns:a16="http://schemas.microsoft.com/office/drawing/2014/main" val="20000"/>
                    </a:ext>
                  </a:extLst>
                </a:gridCol>
                <a:gridCol w="1711235">
                  <a:extLst>
                    <a:ext uri="{9D8B030D-6E8A-4147-A177-3AD203B41FA5}">
                      <a16:colId xmlns:a16="http://schemas.microsoft.com/office/drawing/2014/main" val="20001"/>
                    </a:ext>
                  </a:extLst>
                </a:gridCol>
                <a:gridCol w="1711235">
                  <a:extLst>
                    <a:ext uri="{9D8B030D-6E8A-4147-A177-3AD203B41FA5}">
                      <a16:colId xmlns:a16="http://schemas.microsoft.com/office/drawing/2014/main" val="20002"/>
                    </a:ext>
                  </a:extLst>
                </a:gridCol>
                <a:gridCol w="1711235">
                  <a:extLst>
                    <a:ext uri="{9D8B030D-6E8A-4147-A177-3AD203B41FA5}">
                      <a16:colId xmlns:a16="http://schemas.microsoft.com/office/drawing/2014/main" val="20003"/>
                    </a:ext>
                  </a:extLst>
                </a:gridCol>
                <a:gridCol w="1711235">
                  <a:extLst>
                    <a:ext uri="{9D8B030D-6E8A-4147-A177-3AD203B41FA5}">
                      <a16:colId xmlns:a16="http://schemas.microsoft.com/office/drawing/2014/main" val="20004"/>
                    </a:ext>
                  </a:extLst>
                </a:gridCol>
              </a:tblGrid>
              <a:tr h="374339">
                <a:tc>
                  <a:txBody>
                    <a:bodyPr/>
                    <a:lstStyle/>
                    <a:p>
                      <a:r>
                        <a:rPr lang="en-IN" dirty="0"/>
                        <a:t>Category</a:t>
                      </a:r>
                    </a:p>
                  </a:txBody>
                  <a:tcPr/>
                </a:tc>
                <a:tc>
                  <a:txBody>
                    <a:bodyPr/>
                    <a:lstStyle/>
                    <a:p>
                      <a:r>
                        <a:rPr lang="en-IN"/>
                        <a:t>2019</a:t>
                      </a:r>
                    </a:p>
                  </a:txBody>
                  <a:tcPr/>
                </a:tc>
                <a:tc>
                  <a:txBody>
                    <a:bodyPr/>
                    <a:lstStyle/>
                    <a:p>
                      <a:r>
                        <a:rPr lang="en-IN"/>
                        <a:t>2020</a:t>
                      </a:r>
                    </a:p>
                  </a:txBody>
                  <a:tcPr/>
                </a:tc>
                <a:tc>
                  <a:txBody>
                    <a:bodyPr/>
                    <a:lstStyle/>
                    <a:p>
                      <a:r>
                        <a:rPr lang="en-IN"/>
                        <a:t>2021</a:t>
                      </a:r>
                    </a:p>
                  </a:txBody>
                  <a:tcPr/>
                </a:tc>
                <a:tc>
                  <a:txBody>
                    <a:bodyPr/>
                    <a:lstStyle/>
                    <a:p>
                      <a:r>
                        <a:rPr lang="en-IN"/>
                        <a:t>2022</a:t>
                      </a:r>
                    </a:p>
                  </a:txBody>
                  <a:tcPr/>
                </a:tc>
                <a:extLst>
                  <a:ext uri="{0D108BD9-81ED-4DB2-BD59-A6C34878D82A}">
                    <a16:rowId xmlns:a16="http://schemas.microsoft.com/office/drawing/2014/main" val="10000"/>
                  </a:ext>
                </a:extLst>
              </a:tr>
              <a:tr h="409433">
                <a:tc>
                  <a:txBody>
                    <a:bodyPr/>
                    <a:lstStyle/>
                    <a:p>
                      <a:r>
                        <a:rPr lang="en-IN"/>
                        <a:t>Marketing</a:t>
                      </a:r>
                    </a:p>
                  </a:txBody>
                  <a:tcPr/>
                </a:tc>
                <a:tc>
                  <a:txBody>
                    <a:bodyPr/>
                    <a:lstStyle/>
                    <a:p>
                      <a:pPr algn="ctr" fontAlgn="b"/>
                      <a:r>
                        <a:rPr lang="en-IN" sz="1400" b="0" i="0" u="none" strike="noStrike" dirty="0">
                          <a:solidFill>
                            <a:srgbClr val="000000"/>
                          </a:solidFill>
                          <a:effectLst/>
                          <a:latin typeface="Calibri" panose="020F0502020204030204" pitchFamily="34" charset="0"/>
                        </a:rPr>
                        <a:t>1.32</a:t>
                      </a:r>
                    </a:p>
                  </a:txBody>
                  <a:tcPr marL="6350" marR="6350" marT="6350" marB="0" anchor="ctr"/>
                </a:tc>
                <a:tc>
                  <a:txBody>
                    <a:bodyPr/>
                    <a:lstStyle/>
                    <a:p>
                      <a:pPr algn="ctr" fontAlgn="b"/>
                      <a:r>
                        <a:rPr lang="en-IN" sz="1400" b="0" i="0" u="none" strike="noStrike" dirty="0">
                          <a:solidFill>
                            <a:srgbClr val="000000"/>
                          </a:solidFill>
                          <a:effectLst/>
                          <a:latin typeface="Calibri" panose="020F0502020204030204" pitchFamily="34" charset="0"/>
                        </a:rPr>
                        <a:t>1.37</a:t>
                      </a:r>
                    </a:p>
                  </a:txBody>
                  <a:tcPr marL="6350" marR="6350" marT="6350" marB="0" anchor="ctr"/>
                </a:tc>
                <a:tc>
                  <a:txBody>
                    <a:bodyPr/>
                    <a:lstStyle/>
                    <a:p>
                      <a:pPr algn="ctr" fontAlgn="b"/>
                      <a:r>
                        <a:rPr lang="en-IN" sz="1400" b="0" i="0" u="none" strike="noStrike" dirty="0">
                          <a:solidFill>
                            <a:srgbClr val="000000"/>
                          </a:solidFill>
                          <a:effectLst/>
                          <a:latin typeface="Calibri" panose="020F0502020204030204" pitchFamily="34" charset="0"/>
                        </a:rPr>
                        <a:t>1.69</a:t>
                      </a:r>
                    </a:p>
                  </a:txBody>
                  <a:tcPr marL="6350" marR="6350" marT="6350" marB="0" anchor="ctr"/>
                </a:tc>
                <a:tc>
                  <a:txBody>
                    <a:bodyPr/>
                    <a:lstStyle/>
                    <a:p>
                      <a:pPr algn="ctr" fontAlgn="b"/>
                      <a:r>
                        <a:rPr lang="en-IN" sz="1400" b="0" i="0" u="none" strike="noStrike" dirty="0">
                          <a:solidFill>
                            <a:srgbClr val="000000"/>
                          </a:solidFill>
                          <a:effectLst/>
                          <a:latin typeface="Calibri" panose="020F0502020204030204" pitchFamily="34" charset="0"/>
                        </a:rPr>
                        <a:t>1.74</a:t>
                      </a:r>
                    </a:p>
                  </a:txBody>
                  <a:tcPr marL="6350" marR="6350" marT="6350" marB="0" anchor="ctr"/>
                </a:tc>
                <a:extLst>
                  <a:ext uri="{0D108BD9-81ED-4DB2-BD59-A6C34878D82A}">
                    <a16:rowId xmlns:a16="http://schemas.microsoft.com/office/drawing/2014/main" val="10001"/>
                  </a:ext>
                </a:extLst>
              </a:tr>
            </a:tbl>
          </a:graphicData>
        </a:graphic>
      </p:graphicFrame>
      <p:graphicFrame>
        <p:nvGraphicFramePr>
          <p:cNvPr id="3" name="Chart 2"/>
          <p:cNvGraphicFramePr>
            <a:graphicFrameLocks noGrp="1"/>
          </p:cNvGraphicFramePr>
          <p:nvPr>
            <p:extLst>
              <p:ext uri="{D42A27DB-BD31-4B8C-83A1-F6EECF244321}">
                <p14:modId xmlns:p14="http://schemas.microsoft.com/office/powerpoint/2010/main" val="3336243104"/>
              </p:ext>
            </p:extLst>
          </p:nvPr>
        </p:nvGraphicFramePr>
        <p:xfrm>
          <a:off x="990601" y="661534"/>
          <a:ext cx="6553200" cy="1933462"/>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64028"/>
            <a:ext cx="8229600" cy="753609"/>
          </a:xfrm>
        </p:spPr>
        <p:txBody>
          <a:bodyPr>
            <a:normAutofit fontScale="90000"/>
          </a:bodyPr>
          <a:lstStyle/>
          <a:p>
            <a:r>
              <a:rPr lang="en-IN" sz="1800" u="sng" dirty="0"/>
              <a:t>For a Fixed Budget Scenario and change in budget allowed is +/-25% of current budget for each individual tactic, if we allocate spend as stated below, then we can get a 1.58% increase in marketing sales in 2023 based on these Marketing Tactics</a:t>
            </a:r>
            <a:endParaRPr sz="1800" u="sng" dirty="0"/>
          </a:p>
        </p:txBody>
      </p:sp>
      <p:graphicFrame>
        <p:nvGraphicFramePr>
          <p:cNvPr id="3" name="Table 2"/>
          <p:cNvGraphicFramePr>
            <a:graphicFrameLocks noGrp="1"/>
          </p:cNvGraphicFramePr>
          <p:nvPr>
            <p:extLst>
              <p:ext uri="{D42A27DB-BD31-4B8C-83A1-F6EECF244321}">
                <p14:modId xmlns:p14="http://schemas.microsoft.com/office/powerpoint/2010/main" val="942360309"/>
              </p:ext>
            </p:extLst>
          </p:nvPr>
        </p:nvGraphicFramePr>
        <p:xfrm>
          <a:off x="141514" y="1371600"/>
          <a:ext cx="8871856" cy="3259183"/>
        </p:xfrm>
        <a:graphic>
          <a:graphicData uri="http://schemas.openxmlformats.org/drawingml/2006/table">
            <a:tbl>
              <a:tblPr firstRow="1" bandRow="1">
                <a:tableStyleId>{5C22544A-7EE6-4342-B048-85BDC9FD1C3A}</a:tableStyleId>
              </a:tblPr>
              <a:tblGrid>
                <a:gridCol w="1267408">
                  <a:extLst>
                    <a:ext uri="{9D8B030D-6E8A-4147-A177-3AD203B41FA5}">
                      <a16:colId xmlns:a16="http://schemas.microsoft.com/office/drawing/2014/main" val="20000"/>
                    </a:ext>
                  </a:extLst>
                </a:gridCol>
                <a:gridCol w="1267408">
                  <a:extLst>
                    <a:ext uri="{9D8B030D-6E8A-4147-A177-3AD203B41FA5}">
                      <a16:colId xmlns:a16="http://schemas.microsoft.com/office/drawing/2014/main" val="20001"/>
                    </a:ext>
                  </a:extLst>
                </a:gridCol>
                <a:gridCol w="1267408">
                  <a:extLst>
                    <a:ext uri="{9D8B030D-6E8A-4147-A177-3AD203B41FA5}">
                      <a16:colId xmlns:a16="http://schemas.microsoft.com/office/drawing/2014/main" val="20002"/>
                    </a:ext>
                  </a:extLst>
                </a:gridCol>
                <a:gridCol w="1267408">
                  <a:extLst>
                    <a:ext uri="{9D8B030D-6E8A-4147-A177-3AD203B41FA5}">
                      <a16:colId xmlns:a16="http://schemas.microsoft.com/office/drawing/2014/main" val="20003"/>
                    </a:ext>
                  </a:extLst>
                </a:gridCol>
                <a:gridCol w="1267408">
                  <a:extLst>
                    <a:ext uri="{9D8B030D-6E8A-4147-A177-3AD203B41FA5}">
                      <a16:colId xmlns:a16="http://schemas.microsoft.com/office/drawing/2014/main" val="20004"/>
                    </a:ext>
                  </a:extLst>
                </a:gridCol>
                <a:gridCol w="1267408">
                  <a:extLst>
                    <a:ext uri="{9D8B030D-6E8A-4147-A177-3AD203B41FA5}">
                      <a16:colId xmlns:a16="http://schemas.microsoft.com/office/drawing/2014/main" val="20005"/>
                    </a:ext>
                  </a:extLst>
                </a:gridCol>
                <a:gridCol w="1267408">
                  <a:extLst>
                    <a:ext uri="{9D8B030D-6E8A-4147-A177-3AD203B41FA5}">
                      <a16:colId xmlns:a16="http://schemas.microsoft.com/office/drawing/2014/main" val="20006"/>
                    </a:ext>
                  </a:extLst>
                </a:gridCol>
              </a:tblGrid>
              <a:tr h="580084">
                <a:tc>
                  <a:txBody>
                    <a:bodyPr/>
                    <a:lstStyle/>
                    <a:p>
                      <a:r>
                        <a:rPr dirty="0"/>
                        <a:t>Tactic</a:t>
                      </a:r>
                    </a:p>
                  </a:txBody>
                  <a:tcPr/>
                </a:tc>
                <a:tc>
                  <a:txBody>
                    <a:bodyPr/>
                    <a:lstStyle/>
                    <a:p>
                      <a:r>
                        <a:t>Current Spend</a:t>
                      </a:r>
                      <a:endParaRPr dirty="0"/>
                    </a:p>
                  </a:txBody>
                  <a:tcPr/>
                </a:tc>
                <a:tc>
                  <a:txBody>
                    <a:bodyPr/>
                    <a:lstStyle/>
                    <a:p>
                      <a:r>
                        <a:t>Optimum Spend</a:t>
                      </a:r>
                      <a:endParaRPr dirty="0"/>
                    </a:p>
                  </a:txBody>
                  <a:tcPr/>
                </a:tc>
                <a:tc>
                  <a:txBody>
                    <a:bodyPr/>
                    <a:lstStyle/>
                    <a:p>
                      <a:r>
                        <a:t>% Ch</a:t>
                      </a:r>
                      <a:r>
                        <a:rPr lang="en-IN" dirty="0"/>
                        <a:t>an</a:t>
                      </a:r>
                      <a:r>
                        <a:t>g</a:t>
                      </a:r>
                      <a:r>
                        <a:rPr lang="en-IN"/>
                        <a:t>e</a:t>
                      </a:r>
                      <a:r>
                        <a:t> Spend</a:t>
                      </a:r>
                      <a:endParaRPr dirty="0"/>
                    </a:p>
                  </a:txBody>
                  <a:tcPr/>
                </a:tc>
                <a:tc>
                  <a:txBody>
                    <a:bodyPr/>
                    <a:lstStyle/>
                    <a:p>
                      <a:r>
                        <a:t>Current Sales</a:t>
                      </a:r>
                      <a:endParaRPr dirty="0"/>
                    </a:p>
                  </a:txBody>
                  <a:tcPr/>
                </a:tc>
                <a:tc>
                  <a:txBody>
                    <a:bodyPr/>
                    <a:lstStyle/>
                    <a:p>
                      <a:r>
                        <a:t>Optimum Sales</a:t>
                      </a:r>
                      <a:endParaRPr dirty="0"/>
                    </a:p>
                  </a:txBody>
                  <a:tcPr/>
                </a:tc>
                <a:tc>
                  <a:txBody>
                    <a:bodyPr/>
                    <a:lstStyle/>
                    <a:p>
                      <a:r>
                        <a:t>% Ch</a:t>
                      </a:r>
                      <a:r>
                        <a:rPr lang="en-IN" dirty="0"/>
                        <a:t>an</a:t>
                      </a:r>
                      <a:r>
                        <a:t>g</a:t>
                      </a:r>
                      <a:r>
                        <a:rPr lang="en-IN"/>
                        <a:t>e</a:t>
                      </a:r>
                      <a:r>
                        <a:t> Sales</a:t>
                      </a:r>
                      <a:endParaRPr dirty="0"/>
                    </a:p>
                  </a:txBody>
                  <a:tcPr/>
                </a:tc>
                <a:extLst>
                  <a:ext uri="{0D108BD9-81ED-4DB2-BD59-A6C34878D82A}">
                    <a16:rowId xmlns:a16="http://schemas.microsoft.com/office/drawing/2014/main" val="10000"/>
                  </a:ext>
                </a:extLst>
              </a:tr>
              <a:tr h="345288">
                <a:tc>
                  <a:txBody>
                    <a:bodyPr/>
                    <a:lstStyle/>
                    <a:p>
                      <a:r>
                        <a:rPr lang="en-IN" dirty="0"/>
                        <a:t>TV</a:t>
                      </a:r>
                      <a:endParaRPr dirty="0"/>
                    </a:p>
                  </a:txBody>
                  <a:tcPr/>
                </a:tc>
                <a:tc>
                  <a:txBody>
                    <a:bodyPr/>
                    <a:lstStyle/>
                    <a:p>
                      <a:pPr algn="ctr" fontAlgn="b"/>
                      <a:r>
                        <a:rPr lang="en-IN" sz="1400" b="0" i="0" u="none" strike="noStrike" dirty="0">
                          <a:solidFill>
                            <a:srgbClr val="000000"/>
                          </a:solidFill>
                          <a:effectLst/>
                          <a:latin typeface="Courier New" panose="02070309020205020404" pitchFamily="49" charset="0"/>
                        </a:rPr>
                        <a:t>        151.89 </a:t>
                      </a:r>
                    </a:p>
                  </a:txBody>
                  <a:tcPr marL="0" marR="0" marT="0" marB="0" anchor="ctr"/>
                </a:tc>
                <a:tc>
                  <a:txBody>
                    <a:bodyPr/>
                    <a:lstStyle/>
                    <a:p>
                      <a:pPr algn="ctr" fontAlgn="b"/>
                      <a:r>
                        <a:rPr lang="en-IN" sz="1400" b="0" i="0" u="none" strike="noStrike" dirty="0">
                          <a:solidFill>
                            <a:srgbClr val="000000"/>
                          </a:solidFill>
                          <a:effectLst/>
                          <a:latin typeface="Courier New" panose="02070309020205020404" pitchFamily="49" charset="0"/>
                        </a:rPr>
                        <a:t>         151.49 </a:t>
                      </a:r>
                    </a:p>
                  </a:txBody>
                  <a:tcPr marL="0" marR="0" marT="0" marB="0" anchor="ctr"/>
                </a:tc>
                <a:tc>
                  <a:txBody>
                    <a:bodyPr/>
                    <a:lstStyle/>
                    <a:p>
                      <a:pPr algn="ctr" fontAlgn="b"/>
                      <a:r>
                        <a:rPr lang="en-IN" sz="1400" b="0" i="0" u="none" strike="noStrike" dirty="0">
                          <a:solidFill>
                            <a:schemeClr val="tx1">
                              <a:lumMod val="95000"/>
                              <a:lumOff val="5000"/>
                            </a:schemeClr>
                          </a:solidFill>
                          <a:effectLst/>
                          <a:latin typeface="Courier New" panose="02070309020205020404" pitchFamily="49" charset="0"/>
                        </a:rPr>
                        <a:t>(0.3%)</a:t>
                      </a:r>
                    </a:p>
                  </a:txBody>
                  <a:tcPr marL="0" marR="0" marT="0" marB="0" anchor="ctr"/>
                </a:tc>
                <a:tc>
                  <a:txBody>
                    <a:bodyPr/>
                    <a:lstStyle/>
                    <a:p>
                      <a:pPr algn="ctr" fontAlgn="b"/>
                      <a:r>
                        <a:rPr lang="en-IN" sz="1400" b="0" i="0" u="none" strike="noStrike" dirty="0">
                          <a:solidFill>
                            <a:srgbClr val="000000"/>
                          </a:solidFill>
                          <a:effectLst/>
                          <a:latin typeface="Courier New" panose="02070309020205020404" pitchFamily="49" charset="0"/>
                        </a:rPr>
                        <a:t>242.3</a:t>
                      </a:r>
                    </a:p>
                  </a:txBody>
                  <a:tcPr marL="0" marR="0" marT="0" marB="0" anchor="ctr"/>
                </a:tc>
                <a:tc>
                  <a:txBody>
                    <a:bodyPr/>
                    <a:lstStyle/>
                    <a:p>
                      <a:pPr algn="ctr" fontAlgn="b"/>
                      <a:r>
                        <a:rPr lang="en-IN" sz="1400" b="0" i="0" u="none" strike="noStrike" dirty="0">
                          <a:solidFill>
                            <a:srgbClr val="000000"/>
                          </a:solidFill>
                          <a:effectLst/>
                          <a:latin typeface="Courier New" panose="02070309020205020404" pitchFamily="49" charset="0"/>
                        </a:rPr>
                        <a:t>242.0</a:t>
                      </a:r>
                    </a:p>
                  </a:txBody>
                  <a:tcPr marL="0" marR="0" marT="0" marB="0" anchor="ctr"/>
                </a:tc>
                <a:tc>
                  <a:txBody>
                    <a:bodyPr/>
                    <a:lstStyle/>
                    <a:p>
                      <a:pPr algn="ctr" fontAlgn="b"/>
                      <a:r>
                        <a:rPr lang="en-IN" sz="1400" b="0" i="0" u="none" strike="noStrike" dirty="0">
                          <a:solidFill>
                            <a:srgbClr val="FF0000"/>
                          </a:solidFill>
                          <a:effectLst/>
                          <a:latin typeface="Courier New" panose="02070309020205020404" pitchFamily="49" charset="0"/>
                        </a:rPr>
                        <a:t>(0.1%)</a:t>
                      </a:r>
                    </a:p>
                  </a:txBody>
                  <a:tcPr marL="0" marR="0" marT="0" marB="0" anchor="ctr"/>
                </a:tc>
                <a:extLst>
                  <a:ext uri="{0D108BD9-81ED-4DB2-BD59-A6C34878D82A}">
                    <a16:rowId xmlns:a16="http://schemas.microsoft.com/office/drawing/2014/main" val="10001"/>
                  </a:ext>
                </a:extLst>
              </a:tr>
              <a:tr h="354874">
                <a:tc>
                  <a:txBody>
                    <a:bodyPr/>
                    <a:lstStyle/>
                    <a:p>
                      <a:r>
                        <a:rPr lang="en-IN" dirty="0"/>
                        <a:t>N</a:t>
                      </a:r>
                      <a:r>
                        <a:rPr dirty="0" err="1"/>
                        <a:t>ewspap</a:t>
                      </a:r>
                      <a:r>
                        <a:rPr lang="en-IN" dirty="0"/>
                        <a:t>e</a:t>
                      </a:r>
                      <a:r>
                        <a:rPr dirty="0"/>
                        <a:t>r</a:t>
                      </a:r>
                    </a:p>
                  </a:txBody>
                  <a:tcPr/>
                </a:tc>
                <a:tc>
                  <a:txBody>
                    <a:bodyPr/>
                    <a:lstStyle/>
                    <a:p>
                      <a:pPr algn="ctr" fontAlgn="b"/>
                      <a:r>
                        <a:rPr lang="en-IN" sz="1400" b="0" i="0" u="none" strike="noStrike" dirty="0">
                          <a:solidFill>
                            <a:srgbClr val="000000"/>
                          </a:solidFill>
                          <a:effectLst/>
                          <a:latin typeface="Courier New" panose="02070309020205020404" pitchFamily="49" charset="0"/>
                        </a:rPr>
                        <a:t>         17.49 </a:t>
                      </a:r>
                    </a:p>
                  </a:txBody>
                  <a:tcPr marL="0" marR="0" marT="0" marB="0" anchor="ctr"/>
                </a:tc>
                <a:tc>
                  <a:txBody>
                    <a:bodyPr/>
                    <a:lstStyle/>
                    <a:p>
                      <a:pPr algn="ctr" fontAlgn="b"/>
                      <a:r>
                        <a:rPr lang="en-IN" sz="1400" b="0" i="0" u="none" strike="noStrike" dirty="0">
                          <a:solidFill>
                            <a:srgbClr val="000000"/>
                          </a:solidFill>
                          <a:effectLst/>
                          <a:latin typeface="Courier New" panose="02070309020205020404" pitchFamily="49" charset="0"/>
                        </a:rPr>
                        <a:t>          21.86 </a:t>
                      </a:r>
                    </a:p>
                  </a:txBody>
                  <a:tcPr marL="0" marR="0" marT="0" marB="0" anchor="ctr"/>
                </a:tc>
                <a:tc>
                  <a:txBody>
                    <a:bodyPr/>
                    <a:lstStyle/>
                    <a:p>
                      <a:pPr algn="ctr" fontAlgn="b"/>
                      <a:r>
                        <a:rPr lang="en-IN" sz="1400" b="0" i="0" u="none" strike="noStrike">
                          <a:solidFill>
                            <a:schemeClr val="tx1">
                              <a:lumMod val="95000"/>
                              <a:lumOff val="5000"/>
                            </a:schemeClr>
                          </a:solidFill>
                          <a:effectLst/>
                          <a:latin typeface="Courier New" panose="02070309020205020404" pitchFamily="49" charset="0"/>
                        </a:rPr>
                        <a:t>25.0%</a:t>
                      </a:r>
                    </a:p>
                  </a:txBody>
                  <a:tcPr marL="0" marR="0" marT="0" marB="0" anchor="ctr"/>
                </a:tc>
                <a:tc>
                  <a:txBody>
                    <a:bodyPr/>
                    <a:lstStyle/>
                    <a:p>
                      <a:pPr algn="ctr" fontAlgn="b"/>
                      <a:r>
                        <a:rPr lang="en-IN" sz="1400" b="0" i="0" u="none" strike="noStrike" dirty="0">
                          <a:solidFill>
                            <a:srgbClr val="000000"/>
                          </a:solidFill>
                          <a:effectLst/>
                          <a:latin typeface="Courier New" panose="02070309020205020404" pitchFamily="49" charset="0"/>
                        </a:rPr>
                        <a:t>61.5</a:t>
                      </a:r>
                    </a:p>
                  </a:txBody>
                  <a:tcPr marL="0" marR="0" marT="0" marB="0" anchor="ctr"/>
                </a:tc>
                <a:tc>
                  <a:txBody>
                    <a:bodyPr/>
                    <a:lstStyle/>
                    <a:p>
                      <a:pPr algn="ctr" fontAlgn="b"/>
                      <a:r>
                        <a:rPr lang="en-IN" sz="1400" b="0" i="0" u="none" strike="noStrike" dirty="0">
                          <a:solidFill>
                            <a:srgbClr val="000000"/>
                          </a:solidFill>
                          <a:effectLst/>
                          <a:latin typeface="Courier New" panose="02070309020205020404" pitchFamily="49" charset="0"/>
                        </a:rPr>
                        <a:t>68.9</a:t>
                      </a:r>
                    </a:p>
                  </a:txBody>
                  <a:tcPr marL="0" marR="0" marT="0" marB="0" anchor="ctr"/>
                </a:tc>
                <a:tc>
                  <a:txBody>
                    <a:bodyPr/>
                    <a:lstStyle/>
                    <a:p>
                      <a:pPr algn="ctr" fontAlgn="b"/>
                      <a:r>
                        <a:rPr lang="en-IN" sz="1400" b="0" i="0" u="none" strike="noStrike">
                          <a:solidFill>
                            <a:srgbClr val="000000"/>
                          </a:solidFill>
                          <a:effectLst/>
                          <a:latin typeface="Courier New" panose="02070309020205020404" pitchFamily="49" charset="0"/>
                        </a:rPr>
                        <a:t>12.1%</a:t>
                      </a:r>
                    </a:p>
                  </a:txBody>
                  <a:tcPr marL="0" marR="0" marT="0" marB="0" anchor="ctr"/>
                </a:tc>
                <a:extLst>
                  <a:ext uri="{0D108BD9-81ED-4DB2-BD59-A6C34878D82A}">
                    <a16:rowId xmlns:a16="http://schemas.microsoft.com/office/drawing/2014/main" val="10002"/>
                  </a:ext>
                </a:extLst>
              </a:tr>
              <a:tr h="457200">
                <a:tc>
                  <a:txBody>
                    <a:bodyPr/>
                    <a:lstStyle/>
                    <a:p>
                      <a:r>
                        <a:rPr lang="en-IN"/>
                        <a:t>F</a:t>
                      </a:r>
                      <a:r>
                        <a:t>b</a:t>
                      </a:r>
                      <a:r>
                        <a:rPr lang="en-IN"/>
                        <a:t> &amp; I</a:t>
                      </a:r>
                      <a:r>
                        <a:rPr dirty="0"/>
                        <a:t>g</a:t>
                      </a:r>
                    </a:p>
                  </a:txBody>
                  <a:tcPr/>
                </a:tc>
                <a:tc>
                  <a:txBody>
                    <a:bodyPr/>
                    <a:lstStyle/>
                    <a:p>
                      <a:pPr algn="ctr" fontAlgn="b"/>
                      <a:r>
                        <a:rPr lang="en-IN" sz="1400" b="0" i="0" u="none" strike="noStrike" dirty="0">
                          <a:solidFill>
                            <a:srgbClr val="000000"/>
                          </a:solidFill>
                          <a:effectLst/>
                          <a:latin typeface="Courier New" panose="02070309020205020404" pitchFamily="49" charset="0"/>
                        </a:rPr>
                        <a:t>          8.69 </a:t>
                      </a:r>
                    </a:p>
                  </a:txBody>
                  <a:tcPr marL="0" marR="0" marT="0" marB="0" anchor="ctr"/>
                </a:tc>
                <a:tc>
                  <a:txBody>
                    <a:bodyPr/>
                    <a:lstStyle/>
                    <a:p>
                      <a:pPr algn="ctr" fontAlgn="b"/>
                      <a:r>
                        <a:rPr lang="en-IN" sz="1400" b="0" i="0" u="none" strike="noStrike" dirty="0">
                          <a:solidFill>
                            <a:srgbClr val="000000"/>
                          </a:solidFill>
                          <a:effectLst/>
                          <a:latin typeface="Courier New" panose="02070309020205020404" pitchFamily="49" charset="0"/>
                        </a:rPr>
                        <a:t>           6.52 </a:t>
                      </a:r>
                    </a:p>
                  </a:txBody>
                  <a:tcPr marL="0" marR="0" marT="0" marB="0" anchor="ctr"/>
                </a:tc>
                <a:tc>
                  <a:txBody>
                    <a:bodyPr/>
                    <a:lstStyle/>
                    <a:p>
                      <a:pPr algn="ctr" fontAlgn="b"/>
                      <a:r>
                        <a:rPr lang="en-IN" sz="1400" b="0" i="0" u="none" strike="noStrike" dirty="0">
                          <a:solidFill>
                            <a:schemeClr val="tx1">
                              <a:lumMod val="95000"/>
                              <a:lumOff val="5000"/>
                            </a:schemeClr>
                          </a:solidFill>
                          <a:effectLst/>
                          <a:latin typeface="Courier New" panose="02070309020205020404" pitchFamily="49" charset="0"/>
                        </a:rPr>
                        <a:t>(25.0%)</a:t>
                      </a:r>
                    </a:p>
                  </a:txBody>
                  <a:tcPr marL="0" marR="0" marT="0" marB="0" anchor="ctr"/>
                </a:tc>
                <a:tc>
                  <a:txBody>
                    <a:bodyPr/>
                    <a:lstStyle/>
                    <a:p>
                      <a:pPr algn="ctr" fontAlgn="b"/>
                      <a:r>
                        <a:rPr lang="en-IN" sz="1400" b="0" i="0" u="none" strike="noStrike" dirty="0">
                          <a:solidFill>
                            <a:srgbClr val="000000"/>
                          </a:solidFill>
                          <a:effectLst/>
                          <a:latin typeface="Courier New" panose="02070309020205020404" pitchFamily="49" charset="0"/>
                        </a:rPr>
                        <a:t>9.3</a:t>
                      </a:r>
                    </a:p>
                  </a:txBody>
                  <a:tcPr marL="0" marR="0" marT="0" marB="0" anchor="ctr"/>
                </a:tc>
                <a:tc>
                  <a:txBody>
                    <a:bodyPr/>
                    <a:lstStyle/>
                    <a:p>
                      <a:pPr algn="ctr" fontAlgn="b"/>
                      <a:r>
                        <a:rPr lang="en-IN" sz="1400" b="0" i="0" u="none" strike="noStrike" dirty="0">
                          <a:solidFill>
                            <a:srgbClr val="000000"/>
                          </a:solidFill>
                          <a:effectLst/>
                          <a:latin typeface="Courier New" panose="02070309020205020404" pitchFamily="49" charset="0"/>
                        </a:rPr>
                        <a:t>8.3</a:t>
                      </a:r>
                    </a:p>
                  </a:txBody>
                  <a:tcPr marL="0" marR="0" marT="0" marB="0" anchor="ctr"/>
                </a:tc>
                <a:tc>
                  <a:txBody>
                    <a:bodyPr/>
                    <a:lstStyle/>
                    <a:p>
                      <a:pPr algn="ctr" fontAlgn="b"/>
                      <a:r>
                        <a:rPr lang="en-IN" sz="1400" b="0" i="0" u="none" strike="noStrike" dirty="0">
                          <a:solidFill>
                            <a:srgbClr val="FF0000"/>
                          </a:solidFill>
                          <a:effectLst/>
                          <a:latin typeface="Courier New" panose="02070309020205020404" pitchFamily="49" charset="0"/>
                        </a:rPr>
                        <a:t>(11.0%)</a:t>
                      </a:r>
                    </a:p>
                  </a:txBody>
                  <a:tcPr marL="0" marR="0" marT="0" marB="0" anchor="ctr"/>
                </a:tc>
                <a:extLst>
                  <a:ext uri="{0D108BD9-81ED-4DB2-BD59-A6C34878D82A}">
                    <a16:rowId xmlns:a16="http://schemas.microsoft.com/office/drawing/2014/main" val="10003"/>
                  </a:ext>
                </a:extLst>
              </a:tr>
              <a:tr h="381000">
                <a:tc>
                  <a:txBody>
                    <a:bodyPr/>
                    <a:lstStyle/>
                    <a:p>
                      <a:r>
                        <a:rPr lang="en-IN" dirty="0"/>
                        <a:t>Y</a:t>
                      </a:r>
                      <a:r>
                        <a:rPr dirty="0" err="1"/>
                        <a:t>ou</a:t>
                      </a:r>
                      <a:r>
                        <a:rPr lang="en-IN" dirty="0"/>
                        <a:t>T</a:t>
                      </a:r>
                      <a:r>
                        <a:rPr dirty="0"/>
                        <a:t>ube</a:t>
                      </a:r>
                    </a:p>
                  </a:txBody>
                  <a:tcPr/>
                </a:tc>
                <a:tc>
                  <a:txBody>
                    <a:bodyPr/>
                    <a:lstStyle/>
                    <a:p>
                      <a:pPr algn="ctr" fontAlgn="b"/>
                      <a:r>
                        <a:rPr lang="en-IN" sz="1400" b="0" i="0" u="none" strike="noStrike" dirty="0">
                          <a:solidFill>
                            <a:srgbClr val="000000"/>
                          </a:solidFill>
                          <a:effectLst/>
                          <a:latin typeface="Courier New" panose="02070309020205020404" pitchFamily="49" charset="0"/>
                        </a:rPr>
                        <a:t>         10.42 </a:t>
                      </a:r>
                    </a:p>
                  </a:txBody>
                  <a:tcPr marL="0" marR="0" marT="0" marB="0" anchor="ctr"/>
                </a:tc>
                <a:tc>
                  <a:txBody>
                    <a:bodyPr/>
                    <a:lstStyle/>
                    <a:p>
                      <a:pPr algn="ctr" fontAlgn="b"/>
                      <a:r>
                        <a:rPr lang="en-IN" sz="1400" b="0" i="0" u="none" strike="noStrike" dirty="0">
                          <a:solidFill>
                            <a:srgbClr val="000000"/>
                          </a:solidFill>
                          <a:effectLst/>
                          <a:latin typeface="Courier New" panose="02070309020205020404" pitchFamily="49" charset="0"/>
                        </a:rPr>
                        <a:t>           8.31 </a:t>
                      </a:r>
                    </a:p>
                  </a:txBody>
                  <a:tcPr marL="0" marR="0" marT="0" marB="0" anchor="ctr"/>
                </a:tc>
                <a:tc>
                  <a:txBody>
                    <a:bodyPr/>
                    <a:lstStyle/>
                    <a:p>
                      <a:pPr algn="ctr" fontAlgn="b"/>
                      <a:r>
                        <a:rPr lang="en-IN" sz="1400" b="0" i="0" u="none" strike="noStrike" dirty="0">
                          <a:solidFill>
                            <a:schemeClr val="tx1">
                              <a:lumMod val="95000"/>
                              <a:lumOff val="5000"/>
                            </a:schemeClr>
                          </a:solidFill>
                          <a:effectLst/>
                          <a:latin typeface="Courier New" panose="02070309020205020404" pitchFamily="49" charset="0"/>
                        </a:rPr>
                        <a:t>(20.2%)</a:t>
                      </a:r>
                    </a:p>
                  </a:txBody>
                  <a:tcPr marL="0" marR="0" marT="0" marB="0" anchor="ctr"/>
                </a:tc>
                <a:tc>
                  <a:txBody>
                    <a:bodyPr/>
                    <a:lstStyle/>
                    <a:p>
                      <a:pPr algn="ctr" fontAlgn="b"/>
                      <a:r>
                        <a:rPr lang="en-IN" sz="1400" b="0" i="0" u="none" strike="noStrike" dirty="0">
                          <a:solidFill>
                            <a:srgbClr val="000000"/>
                          </a:solidFill>
                          <a:effectLst/>
                          <a:latin typeface="Courier New" panose="02070309020205020404" pitchFamily="49" charset="0"/>
                        </a:rPr>
                        <a:t>11.2</a:t>
                      </a:r>
                    </a:p>
                  </a:txBody>
                  <a:tcPr marL="0" marR="0" marT="0" marB="0" anchor="ctr"/>
                </a:tc>
                <a:tc>
                  <a:txBody>
                    <a:bodyPr/>
                    <a:lstStyle/>
                    <a:p>
                      <a:pPr algn="ctr" fontAlgn="b"/>
                      <a:r>
                        <a:rPr lang="en-IN" sz="1400" b="0" i="0" u="none" strike="noStrike" dirty="0">
                          <a:solidFill>
                            <a:srgbClr val="000000"/>
                          </a:solidFill>
                          <a:effectLst/>
                          <a:latin typeface="Courier New" panose="02070309020205020404" pitchFamily="49" charset="0"/>
                        </a:rPr>
                        <a:t>9.9</a:t>
                      </a:r>
                    </a:p>
                  </a:txBody>
                  <a:tcPr marL="0" marR="0" marT="0" marB="0" anchor="ctr"/>
                </a:tc>
                <a:tc>
                  <a:txBody>
                    <a:bodyPr/>
                    <a:lstStyle/>
                    <a:p>
                      <a:pPr algn="ctr" fontAlgn="b"/>
                      <a:r>
                        <a:rPr lang="en-IN" sz="1400" b="0" i="0" u="none" strike="noStrike" dirty="0">
                          <a:solidFill>
                            <a:srgbClr val="FF0000"/>
                          </a:solidFill>
                          <a:effectLst/>
                          <a:latin typeface="Courier New" panose="02070309020205020404" pitchFamily="49" charset="0"/>
                        </a:rPr>
                        <a:t>(11.4%)</a:t>
                      </a:r>
                    </a:p>
                  </a:txBody>
                  <a:tcPr marL="0" marR="0" marT="0" marB="0" anchor="ctr"/>
                </a:tc>
                <a:extLst>
                  <a:ext uri="{0D108BD9-81ED-4DB2-BD59-A6C34878D82A}">
                    <a16:rowId xmlns:a16="http://schemas.microsoft.com/office/drawing/2014/main" val="10004"/>
                  </a:ext>
                </a:extLst>
              </a:tr>
              <a:tr h="446314">
                <a:tc>
                  <a:txBody>
                    <a:bodyPr/>
                    <a:lstStyle/>
                    <a:p>
                      <a:r>
                        <a:rPr lang="en-IN" dirty="0"/>
                        <a:t>H</a:t>
                      </a:r>
                      <a:r>
                        <a:rPr dirty="0" err="1"/>
                        <a:t>otstar</a:t>
                      </a:r>
                      <a:endParaRPr dirty="0"/>
                    </a:p>
                  </a:txBody>
                  <a:tcPr/>
                </a:tc>
                <a:tc>
                  <a:txBody>
                    <a:bodyPr/>
                    <a:lstStyle/>
                    <a:p>
                      <a:pPr algn="ctr" fontAlgn="b"/>
                      <a:r>
                        <a:rPr lang="en-IN" sz="1400" b="0" i="0" u="none" strike="noStrike" dirty="0">
                          <a:solidFill>
                            <a:srgbClr val="000000"/>
                          </a:solidFill>
                          <a:effectLst/>
                          <a:latin typeface="Courier New" panose="02070309020205020404" pitchFamily="49" charset="0"/>
                        </a:rPr>
                        <a:t>          1.24 </a:t>
                      </a:r>
                    </a:p>
                  </a:txBody>
                  <a:tcPr marL="0" marR="0" marT="0" marB="0" anchor="ctr"/>
                </a:tc>
                <a:tc>
                  <a:txBody>
                    <a:bodyPr/>
                    <a:lstStyle/>
                    <a:p>
                      <a:pPr algn="ctr" fontAlgn="b"/>
                      <a:r>
                        <a:rPr lang="en-IN" sz="1400" b="0" i="0" u="none" strike="noStrike" dirty="0">
                          <a:solidFill>
                            <a:srgbClr val="000000"/>
                          </a:solidFill>
                          <a:effectLst/>
                          <a:latin typeface="Courier New" panose="02070309020205020404" pitchFamily="49" charset="0"/>
                        </a:rPr>
                        <a:t>           1.55 </a:t>
                      </a:r>
                    </a:p>
                  </a:txBody>
                  <a:tcPr marL="0" marR="0" marT="0" marB="0" anchor="ctr"/>
                </a:tc>
                <a:tc>
                  <a:txBody>
                    <a:bodyPr/>
                    <a:lstStyle/>
                    <a:p>
                      <a:pPr algn="ctr" fontAlgn="b"/>
                      <a:r>
                        <a:rPr lang="en-IN" sz="1400" b="0" i="0" u="none" strike="noStrike">
                          <a:solidFill>
                            <a:srgbClr val="000000"/>
                          </a:solidFill>
                          <a:effectLst/>
                          <a:latin typeface="Courier New" panose="02070309020205020404" pitchFamily="49" charset="0"/>
                        </a:rPr>
                        <a:t>25.0%</a:t>
                      </a:r>
                    </a:p>
                  </a:txBody>
                  <a:tcPr marL="0" marR="0" marT="0" marB="0" anchor="ctr"/>
                </a:tc>
                <a:tc>
                  <a:txBody>
                    <a:bodyPr/>
                    <a:lstStyle/>
                    <a:p>
                      <a:pPr algn="ctr" fontAlgn="b"/>
                      <a:r>
                        <a:rPr lang="en-IN" sz="1400" b="0" i="0" u="none" strike="noStrike" dirty="0">
                          <a:solidFill>
                            <a:srgbClr val="000000"/>
                          </a:solidFill>
                          <a:effectLst/>
                          <a:latin typeface="Courier New" panose="02070309020205020404" pitchFamily="49" charset="0"/>
                        </a:rPr>
                        <a:t>4.0</a:t>
                      </a:r>
                    </a:p>
                  </a:txBody>
                  <a:tcPr marL="0" marR="0" marT="0" marB="0" anchor="ctr"/>
                </a:tc>
                <a:tc>
                  <a:txBody>
                    <a:bodyPr/>
                    <a:lstStyle/>
                    <a:p>
                      <a:pPr algn="ctr" fontAlgn="b"/>
                      <a:r>
                        <a:rPr lang="en-IN" sz="1400" b="0" i="0" u="none" strike="noStrike" dirty="0">
                          <a:solidFill>
                            <a:srgbClr val="000000"/>
                          </a:solidFill>
                          <a:effectLst/>
                          <a:latin typeface="Courier New" panose="02070309020205020404" pitchFamily="49" charset="0"/>
                        </a:rPr>
                        <a:t>4.4</a:t>
                      </a:r>
                    </a:p>
                  </a:txBody>
                  <a:tcPr marL="0" marR="0" marT="0" marB="0" anchor="ctr"/>
                </a:tc>
                <a:tc>
                  <a:txBody>
                    <a:bodyPr/>
                    <a:lstStyle/>
                    <a:p>
                      <a:pPr algn="ctr" fontAlgn="b"/>
                      <a:r>
                        <a:rPr lang="en-IN" sz="1400" b="0" i="0" u="none" strike="noStrike">
                          <a:solidFill>
                            <a:srgbClr val="000000"/>
                          </a:solidFill>
                          <a:effectLst/>
                          <a:latin typeface="Courier New" panose="02070309020205020404" pitchFamily="49" charset="0"/>
                        </a:rPr>
                        <a:t>8.4%</a:t>
                      </a:r>
                    </a:p>
                  </a:txBody>
                  <a:tcPr marL="0" marR="0" marT="0" marB="0" anchor="ctr"/>
                </a:tc>
                <a:extLst>
                  <a:ext uri="{0D108BD9-81ED-4DB2-BD59-A6C34878D82A}">
                    <a16:rowId xmlns:a16="http://schemas.microsoft.com/office/drawing/2014/main" val="10005"/>
                  </a:ext>
                </a:extLst>
              </a:tr>
              <a:tr h="435429">
                <a:tc>
                  <a:txBody>
                    <a:bodyPr/>
                    <a:lstStyle/>
                    <a:p>
                      <a:r>
                        <a:rPr dirty="0"/>
                        <a:t>Total</a:t>
                      </a:r>
                    </a:p>
                  </a:txBody>
                  <a:tcPr/>
                </a:tc>
                <a:tc>
                  <a:txBody>
                    <a:bodyPr/>
                    <a:lstStyle/>
                    <a:p>
                      <a:pPr algn="ctr" fontAlgn="b"/>
                      <a:r>
                        <a:rPr lang="en-IN" sz="1400" b="0" i="0" u="none" strike="noStrike" dirty="0">
                          <a:solidFill>
                            <a:srgbClr val="000000"/>
                          </a:solidFill>
                          <a:effectLst/>
                          <a:latin typeface="Courier New" panose="02070309020205020404" pitchFamily="49" charset="0"/>
                        </a:rPr>
                        <a:t>        189.73 </a:t>
                      </a:r>
                    </a:p>
                  </a:txBody>
                  <a:tcPr marL="0" marR="0" marT="0" marB="0" anchor="ctr"/>
                </a:tc>
                <a:tc>
                  <a:txBody>
                    <a:bodyPr/>
                    <a:lstStyle/>
                    <a:p>
                      <a:pPr algn="ctr" fontAlgn="b"/>
                      <a:r>
                        <a:rPr lang="en-IN" sz="1400" b="0" i="0" u="none" strike="noStrike" dirty="0">
                          <a:solidFill>
                            <a:srgbClr val="000000"/>
                          </a:solidFill>
                          <a:effectLst/>
                          <a:latin typeface="Courier New" panose="02070309020205020404" pitchFamily="49" charset="0"/>
                        </a:rPr>
                        <a:t>         189.73 </a:t>
                      </a:r>
                    </a:p>
                  </a:txBody>
                  <a:tcPr marL="0" marR="0" marT="0" marB="0" anchor="ctr"/>
                </a:tc>
                <a:tc>
                  <a:txBody>
                    <a:bodyPr/>
                    <a:lstStyle/>
                    <a:p>
                      <a:pPr algn="ctr" fontAlgn="b"/>
                      <a:r>
                        <a:rPr lang="en-IN" sz="1400" b="0" i="0" u="none" strike="noStrike" dirty="0">
                          <a:solidFill>
                            <a:srgbClr val="000000"/>
                          </a:solidFill>
                          <a:effectLst/>
                          <a:latin typeface="Courier New" panose="02070309020205020404" pitchFamily="49" charset="0"/>
                        </a:rPr>
                        <a:t>0.0%</a:t>
                      </a:r>
                    </a:p>
                  </a:txBody>
                  <a:tcPr marL="0" marR="0" marT="0" marB="0" anchor="ctr"/>
                </a:tc>
                <a:tc>
                  <a:txBody>
                    <a:bodyPr/>
                    <a:lstStyle/>
                    <a:p>
                      <a:pPr algn="ctr" fontAlgn="b"/>
                      <a:r>
                        <a:rPr lang="en-IN" sz="1400" b="0" i="0" u="none" strike="noStrike" dirty="0">
                          <a:solidFill>
                            <a:srgbClr val="000000"/>
                          </a:solidFill>
                          <a:effectLst/>
                          <a:latin typeface="Courier New" panose="02070309020205020404" pitchFamily="49" charset="0"/>
                        </a:rPr>
                        <a:t>        328.28 </a:t>
                      </a:r>
                    </a:p>
                  </a:txBody>
                  <a:tcPr marL="0" marR="0" marT="0" marB="0" anchor="ctr"/>
                </a:tc>
                <a:tc>
                  <a:txBody>
                    <a:bodyPr/>
                    <a:lstStyle/>
                    <a:p>
                      <a:pPr algn="ctr" fontAlgn="b"/>
                      <a:r>
                        <a:rPr lang="en-IN" sz="1400" b="0" i="0" u="none" strike="noStrike" dirty="0">
                          <a:solidFill>
                            <a:srgbClr val="000000"/>
                          </a:solidFill>
                          <a:effectLst/>
                          <a:latin typeface="Courier New" panose="02070309020205020404" pitchFamily="49" charset="0"/>
                        </a:rPr>
                        <a:t>         333.47 </a:t>
                      </a:r>
                    </a:p>
                  </a:txBody>
                  <a:tcPr marL="0" marR="0" marT="0" marB="0" anchor="ctr"/>
                </a:tc>
                <a:tc>
                  <a:txBody>
                    <a:bodyPr/>
                    <a:lstStyle/>
                    <a:p>
                      <a:pPr algn="ctr" fontAlgn="b"/>
                      <a:r>
                        <a:rPr lang="en-IN" sz="1400" b="0" i="0" u="none" strike="noStrike" dirty="0">
                          <a:solidFill>
                            <a:srgbClr val="000000"/>
                          </a:solidFill>
                          <a:effectLst/>
                          <a:latin typeface="Courier New" panose="02070309020205020404" pitchFamily="49" charset="0"/>
                        </a:rPr>
                        <a:t>1.6%</a:t>
                      </a:r>
                    </a:p>
                  </a:txBody>
                  <a:tcPr marL="0" marR="0" marT="0" marB="0" anchor="ctr"/>
                </a:tc>
                <a:extLst>
                  <a:ext uri="{0D108BD9-81ED-4DB2-BD59-A6C34878D82A}">
                    <a16:rowId xmlns:a16="http://schemas.microsoft.com/office/drawing/2014/main" val="3618223220"/>
                  </a:ext>
                </a:extLst>
              </a:tr>
            </a:tbl>
          </a:graphicData>
        </a:graphic>
      </p:graphicFrame>
      <p:sp>
        <p:nvSpPr>
          <p:cNvPr id="4" name="Title 1">
            <a:extLst>
              <a:ext uri="{FF2B5EF4-FFF2-40B4-BE49-F238E27FC236}">
                <a16:creationId xmlns:a16="http://schemas.microsoft.com/office/drawing/2014/main" id="{4C63BF02-9E17-64DA-BC49-47674850C596}"/>
              </a:ext>
            </a:extLst>
          </p:cNvPr>
          <p:cNvSpPr txBox="1">
            <a:spLocks/>
          </p:cNvSpPr>
          <p:nvPr/>
        </p:nvSpPr>
        <p:spPr>
          <a:xfrm>
            <a:off x="370112" y="73704"/>
            <a:ext cx="8229600" cy="753609"/>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4000" b="1" u="sng"/>
              <a:t>Budget Allocation</a:t>
            </a:r>
            <a:endParaRPr lang="en-US" sz="4000" b="1" u="sng"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275</TotalTime>
  <Words>997</Words>
  <Application>Microsoft Office PowerPoint</Application>
  <PresentationFormat>On-screen Show (4:3)</PresentationFormat>
  <Paragraphs>260</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Courier New</vt:lpstr>
      <vt:lpstr>Segoe Sans</vt:lpstr>
      <vt:lpstr>Office Theme</vt:lpstr>
      <vt:lpstr>Exploratory Data Analysis(EDA)</vt:lpstr>
      <vt:lpstr>Exploratory Data Analysis(EDA)</vt:lpstr>
      <vt:lpstr>OLS Based MMM Model</vt:lpstr>
      <vt:lpstr>Actual vs Predicted Sales(mn) (2019 to 2022)</vt:lpstr>
      <vt:lpstr>Overall Contributions by Category (2019-2022)</vt:lpstr>
      <vt:lpstr>Detailed Breakdown of Contribution by Tactic (2019-2022)</vt:lpstr>
      <vt:lpstr>ROAS Analysis (2019–2022)</vt:lpstr>
      <vt:lpstr>For a Fixed Budget Scenario and change in budget allowed is +/-25% of current budget for each individual tactic, if we allocate spend as stated below, then we can get a 1.58% increase in marketing sales in 2023 based on these Marketing Tactics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Pritam Saha</cp:lastModifiedBy>
  <cp:revision>51</cp:revision>
  <dcterms:created xsi:type="dcterms:W3CDTF">2013-01-27T09:14:16Z</dcterms:created>
  <dcterms:modified xsi:type="dcterms:W3CDTF">2025-07-27T17:31:59Z</dcterms:modified>
  <cp:category/>
</cp:coreProperties>
</file>